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5" r:id="rId22"/>
    <p:sldId id="276" r:id="rId23"/>
  </p:sldIdLst>
  <p:sldSz cx="10704513" cy="601662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4"/>
  </p:normalViewPr>
  <p:slideViewPr>
    <p:cSldViewPr snapToGrid="0">
      <p:cViewPr>
        <p:scale>
          <a:sx n="125" d="100"/>
          <a:sy n="125" d="100"/>
        </p:scale>
        <p:origin x="52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414C2-090C-AE49-87BE-B43217D818A2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69913" y="1336675"/>
            <a:ext cx="641985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26343-F098-5B4D-99A6-A8DD4AD5FE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3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26343-F098-5B4D-99A6-A8DD4AD5FE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3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26343-F098-5B4D-99A6-A8DD4AD5FE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81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26343-F098-5B4D-99A6-A8DD4AD5FE0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25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960" y="261720"/>
            <a:ext cx="963324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60" y="1535400"/>
            <a:ext cx="9633240" cy="380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960" y="261720"/>
            <a:ext cx="963324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60" y="1535400"/>
            <a:ext cx="9633240" cy="380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34960" y="261720"/>
            <a:ext cx="963324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34960" y="1535400"/>
            <a:ext cx="9633240" cy="380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2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34960" y="261720"/>
            <a:ext cx="963324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34960" y="1535400"/>
            <a:ext cx="9633240" cy="380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2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34960" y="261720"/>
            <a:ext cx="9633240" cy="109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34960" y="1535400"/>
            <a:ext cx="9633240" cy="380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8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12.png"/><Relationship Id="rId2" Type="http://schemas.openxmlformats.org/officeDocument/2006/relationships/image" Target="../media/image7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8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12.png"/><Relationship Id="rId5" Type="http://schemas.openxmlformats.org/officeDocument/2006/relationships/image" Target="../media/image45.png"/><Relationship Id="rId10" Type="http://schemas.openxmlformats.org/officeDocument/2006/relationships/image" Target="../media/image49.png"/><Relationship Id="rId4" Type="http://schemas.openxmlformats.org/officeDocument/2006/relationships/image" Target="../media/image44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8.png"/><Relationship Id="rId7" Type="http://schemas.openxmlformats.org/officeDocument/2006/relationships/image" Target="../media/image5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11" Type="http://schemas.openxmlformats.org/officeDocument/2006/relationships/image" Target="../media/image57.jpeg"/><Relationship Id="rId5" Type="http://schemas.openxmlformats.org/officeDocument/2006/relationships/image" Target="../media/image51.png"/><Relationship Id="rId10" Type="http://schemas.openxmlformats.org/officeDocument/2006/relationships/image" Target="../media/image56.jpe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8.png"/><Relationship Id="rId7" Type="http://schemas.openxmlformats.org/officeDocument/2006/relationships/image" Target="../media/image6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62.png"/><Relationship Id="rId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31.png"/><Relationship Id="rId10" Type="http://schemas.openxmlformats.org/officeDocument/2006/relationships/image" Target="../media/image68.png"/><Relationship Id="rId4" Type="http://schemas.openxmlformats.org/officeDocument/2006/relationships/image" Target="../media/image47.png"/><Relationship Id="rId9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jpeg"/><Relationship Id="rId5" Type="http://schemas.openxmlformats.org/officeDocument/2006/relationships/image" Target="../media/image73.jpeg"/><Relationship Id="rId4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8.png"/><Relationship Id="rId7" Type="http://schemas.openxmlformats.org/officeDocument/2006/relationships/image" Target="../media/image78.png"/><Relationship Id="rId12" Type="http://schemas.openxmlformats.org/officeDocument/2006/relationships/image" Target="../media/image8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sv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9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89.jpeg"/><Relationship Id="rId5" Type="http://schemas.openxmlformats.org/officeDocument/2006/relationships/image" Target="../media/image15.png"/><Relationship Id="rId10" Type="http://schemas.openxmlformats.org/officeDocument/2006/relationships/image" Target="../media/image88.jpeg"/><Relationship Id="rId4" Type="http://schemas.openxmlformats.org/officeDocument/2006/relationships/image" Target="../media/image84.png"/><Relationship Id="rId9" Type="http://schemas.openxmlformats.org/officeDocument/2006/relationships/image" Target="../media/image8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59.png"/><Relationship Id="rId18" Type="http://schemas.openxmlformats.org/officeDocument/2006/relationships/image" Target="../media/image104.png"/><Relationship Id="rId3" Type="http://schemas.openxmlformats.org/officeDocument/2006/relationships/image" Target="../media/image8.png"/><Relationship Id="rId21" Type="http://schemas.openxmlformats.org/officeDocument/2006/relationships/image" Target="../media/image107.png"/><Relationship Id="rId7" Type="http://schemas.openxmlformats.org/officeDocument/2006/relationships/image" Target="../media/image19.png"/><Relationship Id="rId12" Type="http://schemas.openxmlformats.org/officeDocument/2006/relationships/image" Target="../media/image99.png"/><Relationship Id="rId17" Type="http://schemas.openxmlformats.org/officeDocument/2006/relationships/image" Target="../media/image103.png"/><Relationship Id="rId2" Type="http://schemas.openxmlformats.org/officeDocument/2006/relationships/image" Target="../media/image92.png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png"/><Relationship Id="rId11" Type="http://schemas.openxmlformats.org/officeDocument/2006/relationships/image" Target="../media/image98.png"/><Relationship Id="rId5" Type="http://schemas.openxmlformats.org/officeDocument/2006/relationships/image" Target="../media/image93.png"/><Relationship Id="rId15" Type="http://schemas.openxmlformats.org/officeDocument/2006/relationships/image" Target="../media/image101.png"/><Relationship Id="rId10" Type="http://schemas.openxmlformats.org/officeDocument/2006/relationships/image" Target="../media/image97.png"/><Relationship Id="rId19" Type="http://schemas.openxmlformats.org/officeDocument/2006/relationships/image" Target="../media/image105.png"/><Relationship Id="rId4" Type="http://schemas.openxmlformats.org/officeDocument/2006/relationships/image" Target="../media/image84.png"/><Relationship Id="rId9" Type="http://schemas.openxmlformats.org/officeDocument/2006/relationships/image" Target="../media/image96.png"/><Relationship Id="rId1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jpeg"/><Relationship Id="rId3" Type="http://schemas.openxmlformats.org/officeDocument/2006/relationships/image" Target="../media/image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3" Type="http://schemas.openxmlformats.org/officeDocument/2006/relationships/image" Target="../media/image8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9.png"/><Relationship Id="rId15" Type="http://schemas.openxmlformats.org/officeDocument/2006/relationships/image" Target="../media/image135.png"/><Relationship Id="rId10" Type="http://schemas.openxmlformats.org/officeDocument/2006/relationships/image" Target="../media/image126.png"/><Relationship Id="rId4" Type="http://schemas.openxmlformats.org/officeDocument/2006/relationships/image" Target="../media/image121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png"/><Relationship Id="rId11" Type="http://schemas.openxmlformats.org/officeDocument/2006/relationships/image" Target="../media/image140.jpeg"/><Relationship Id="rId5" Type="http://schemas.openxmlformats.org/officeDocument/2006/relationships/image" Target="../media/image133.png"/><Relationship Id="rId10" Type="http://schemas.openxmlformats.org/officeDocument/2006/relationships/image" Target="../media/image139.jpeg"/><Relationship Id="rId4" Type="http://schemas.openxmlformats.org/officeDocument/2006/relationships/image" Target="../media/image8.png"/><Relationship Id="rId9" Type="http://schemas.openxmlformats.org/officeDocument/2006/relationships/image" Target="../media/image1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6.png"/><Relationship Id="rId18" Type="http://schemas.openxmlformats.org/officeDocument/2006/relationships/image" Target="../media/image150.png"/><Relationship Id="rId3" Type="http://schemas.openxmlformats.org/officeDocument/2006/relationships/image" Target="../media/image132.png"/><Relationship Id="rId7" Type="http://schemas.openxmlformats.org/officeDocument/2006/relationships/image" Target="../media/image142.png"/><Relationship Id="rId12" Type="http://schemas.openxmlformats.org/officeDocument/2006/relationships/image" Target="../media/image145.png"/><Relationship Id="rId17" Type="http://schemas.openxmlformats.org/officeDocument/2006/relationships/image" Target="../media/image149.png"/><Relationship Id="rId2" Type="http://schemas.openxmlformats.org/officeDocument/2006/relationships/image" Target="../media/image131.png"/><Relationship Id="rId16" Type="http://schemas.openxmlformats.org/officeDocument/2006/relationships/image" Target="../media/image1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1.png"/><Relationship Id="rId11" Type="http://schemas.openxmlformats.org/officeDocument/2006/relationships/image" Target="../media/image12.png"/><Relationship Id="rId5" Type="http://schemas.openxmlformats.org/officeDocument/2006/relationships/image" Target="../media/image49.png"/><Relationship Id="rId15" Type="http://schemas.openxmlformats.org/officeDocument/2006/relationships/image" Target="../media/image51.png"/><Relationship Id="rId10" Type="http://schemas.openxmlformats.org/officeDocument/2006/relationships/image" Target="../media/image144.png"/><Relationship Id="rId19" Type="http://schemas.openxmlformats.org/officeDocument/2006/relationships/image" Target="../media/image151.png"/><Relationship Id="rId4" Type="http://schemas.openxmlformats.org/officeDocument/2006/relationships/image" Target="../media/image8.png"/><Relationship Id="rId9" Type="http://schemas.openxmlformats.org/officeDocument/2006/relationships/image" Target="../media/image143.png"/><Relationship Id="rId14" Type="http://schemas.openxmlformats.org/officeDocument/2006/relationships/image" Target="../media/image1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8.png"/><Relationship Id="rId7" Type="http://schemas.openxmlformats.org/officeDocument/2006/relationships/image" Target="../media/image156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7.png"/><Relationship Id="rId18" Type="http://schemas.openxmlformats.org/officeDocument/2006/relationships/image" Target="../media/image172.png"/><Relationship Id="rId3" Type="http://schemas.openxmlformats.org/officeDocument/2006/relationships/image" Target="../media/image131.png"/><Relationship Id="rId21" Type="http://schemas.openxmlformats.org/officeDocument/2006/relationships/image" Target="../media/image175.png"/><Relationship Id="rId7" Type="http://schemas.openxmlformats.org/officeDocument/2006/relationships/image" Target="../media/image138.png"/><Relationship Id="rId12" Type="http://schemas.openxmlformats.org/officeDocument/2006/relationships/image" Target="../media/image166.png"/><Relationship Id="rId17" Type="http://schemas.openxmlformats.org/officeDocument/2006/relationships/image" Target="../media/image171.png"/><Relationship Id="rId25" Type="http://schemas.openxmlformats.org/officeDocument/2006/relationships/image" Target="../media/image179.jpeg"/><Relationship Id="rId2" Type="http://schemas.openxmlformats.org/officeDocument/2006/relationships/image" Target="../media/image161.png"/><Relationship Id="rId16" Type="http://schemas.openxmlformats.org/officeDocument/2006/relationships/image" Target="../media/image170.png"/><Relationship Id="rId20" Type="http://schemas.openxmlformats.org/officeDocument/2006/relationships/image" Target="../media/image1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2.png"/><Relationship Id="rId11" Type="http://schemas.openxmlformats.org/officeDocument/2006/relationships/image" Target="../media/image165.png"/><Relationship Id="rId24" Type="http://schemas.openxmlformats.org/officeDocument/2006/relationships/image" Target="../media/image178.png"/><Relationship Id="rId5" Type="http://schemas.openxmlformats.org/officeDocument/2006/relationships/image" Target="../media/image8.png"/><Relationship Id="rId15" Type="http://schemas.openxmlformats.org/officeDocument/2006/relationships/image" Target="../media/image169.png"/><Relationship Id="rId23" Type="http://schemas.openxmlformats.org/officeDocument/2006/relationships/image" Target="../media/image177.png"/><Relationship Id="rId10" Type="http://schemas.openxmlformats.org/officeDocument/2006/relationships/image" Target="../media/image39.png"/><Relationship Id="rId19" Type="http://schemas.openxmlformats.org/officeDocument/2006/relationships/image" Target="../media/image173.png"/><Relationship Id="rId4" Type="http://schemas.openxmlformats.org/officeDocument/2006/relationships/image" Target="../media/image132.png"/><Relationship Id="rId9" Type="http://schemas.openxmlformats.org/officeDocument/2006/relationships/image" Target="../media/image164.png"/><Relationship Id="rId14" Type="http://schemas.openxmlformats.org/officeDocument/2006/relationships/image" Target="../media/image168.png"/><Relationship Id="rId22" Type="http://schemas.openxmlformats.org/officeDocument/2006/relationships/image" Target="../media/image17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1.jpeg"/><Relationship Id="rId4" Type="http://schemas.openxmlformats.org/officeDocument/2006/relationships/image" Target="../media/image180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88.png"/><Relationship Id="rId3" Type="http://schemas.openxmlformats.org/officeDocument/2006/relationships/image" Target="../media/image8.png"/><Relationship Id="rId7" Type="http://schemas.openxmlformats.org/officeDocument/2006/relationships/image" Target="../media/image25.png"/><Relationship Id="rId12" Type="http://schemas.openxmlformats.org/officeDocument/2006/relationships/image" Target="../media/image187.png"/><Relationship Id="rId2" Type="http://schemas.openxmlformats.org/officeDocument/2006/relationships/image" Target="../media/image108.png"/><Relationship Id="rId16" Type="http://schemas.openxmlformats.org/officeDocument/2006/relationships/image" Target="../media/image19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4.png"/><Relationship Id="rId11" Type="http://schemas.openxmlformats.org/officeDocument/2006/relationships/image" Target="../media/image186.png"/><Relationship Id="rId5" Type="http://schemas.openxmlformats.org/officeDocument/2006/relationships/image" Target="../media/image183.png"/><Relationship Id="rId15" Type="http://schemas.openxmlformats.org/officeDocument/2006/relationships/image" Target="../media/image190.png"/><Relationship Id="rId10" Type="http://schemas.openxmlformats.org/officeDocument/2006/relationships/image" Target="../media/image12.png"/><Relationship Id="rId4" Type="http://schemas.openxmlformats.org/officeDocument/2006/relationships/image" Target="../media/image182.png"/><Relationship Id="rId9" Type="http://schemas.openxmlformats.org/officeDocument/2006/relationships/image" Target="../media/image185.png"/><Relationship Id="rId14" Type="http://schemas.openxmlformats.org/officeDocument/2006/relationships/image" Target="../media/image18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8.png"/><Relationship Id="rId7" Type="http://schemas.openxmlformats.org/officeDocument/2006/relationships/image" Target="../media/image196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/>
          <p:nvPr/>
        </p:nvPicPr>
        <p:blipFill>
          <a:blip r:embed="rId3"/>
          <a:stretch/>
        </p:blipFill>
        <p:spPr>
          <a:xfrm>
            <a:off x="-20301" y="-10714"/>
            <a:ext cx="10745114" cy="603805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Freeform 10"/>
          <p:cNvSpPr/>
          <p:nvPr/>
        </p:nvSpPr>
        <p:spPr>
          <a:xfrm>
            <a:off x="621580" y="3628636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FCD3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376" y="1320462"/>
            <a:ext cx="5984010" cy="4862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60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Physics-Informed Machine Learning</a:t>
            </a:r>
            <a:endParaRPr lang="en-US" sz="316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4"/>
          <a:stretch/>
        </p:blipFill>
        <p:spPr>
          <a:xfrm>
            <a:off x="582430" y="2506230"/>
            <a:ext cx="6963998" cy="29750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5"/>
          <p:cNvPicPr/>
          <p:nvPr/>
        </p:nvPicPr>
        <p:blipFill>
          <a:blip r:embed="rId5"/>
          <a:stretch/>
        </p:blipFill>
        <p:spPr>
          <a:xfrm>
            <a:off x="8802490" y="637920"/>
            <a:ext cx="1253160" cy="125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6"/>
          <p:cNvPicPr/>
          <p:nvPr/>
        </p:nvPicPr>
        <p:blipFill>
          <a:blip r:embed="rId6"/>
          <a:stretch/>
        </p:blipFill>
        <p:spPr>
          <a:xfrm>
            <a:off x="8189640" y="1504080"/>
            <a:ext cx="668160" cy="66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17"/>
          <p:cNvPicPr/>
          <p:nvPr/>
        </p:nvPicPr>
        <p:blipFill>
          <a:blip r:embed="rId7"/>
          <a:stretch/>
        </p:blipFill>
        <p:spPr>
          <a:xfrm>
            <a:off x="1671480" y="5181120"/>
            <a:ext cx="1671120" cy="167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Freeform 18"/>
          <p:cNvSpPr/>
          <p:nvPr/>
        </p:nvSpPr>
        <p:spPr>
          <a:xfrm>
            <a:off x="6685200" y="2590560"/>
            <a:ext cx="3342960" cy="3342960"/>
          </a:xfrm>
          <a:custGeom>
            <a:avLst/>
            <a:gdLst/>
            <a:ahLst/>
            <a:cxnLst/>
            <a:rect l="0" t="0" r="r" b="b"/>
            <a:pathLst>
              <a:path w="9286" h="9286">
                <a:moveTo>
                  <a:pt x="0" y="4642"/>
                </a:moveTo>
                <a:cubicBezTo>
                  <a:pt x="0" y="4490"/>
                  <a:pt x="7" y="4338"/>
                  <a:pt x="22" y="4187"/>
                </a:cubicBezTo>
                <a:cubicBezTo>
                  <a:pt x="37" y="4036"/>
                  <a:pt x="59" y="3886"/>
                  <a:pt x="89" y="3736"/>
                </a:cubicBezTo>
                <a:cubicBezTo>
                  <a:pt x="119" y="3587"/>
                  <a:pt x="156" y="3440"/>
                  <a:pt x="200" y="3294"/>
                </a:cubicBezTo>
                <a:cubicBezTo>
                  <a:pt x="244" y="3149"/>
                  <a:pt x="295" y="3006"/>
                  <a:pt x="353" y="2866"/>
                </a:cubicBezTo>
                <a:cubicBezTo>
                  <a:pt x="412" y="2725"/>
                  <a:pt x="476" y="2588"/>
                  <a:pt x="548" y="2454"/>
                </a:cubicBezTo>
                <a:cubicBezTo>
                  <a:pt x="620" y="2320"/>
                  <a:pt x="698" y="2189"/>
                  <a:pt x="782" y="2063"/>
                </a:cubicBezTo>
                <a:cubicBezTo>
                  <a:pt x="867" y="1936"/>
                  <a:pt x="957" y="1814"/>
                  <a:pt x="1054" y="1697"/>
                </a:cubicBezTo>
                <a:cubicBezTo>
                  <a:pt x="1150" y="1579"/>
                  <a:pt x="1252" y="1467"/>
                  <a:pt x="1360" y="1359"/>
                </a:cubicBezTo>
                <a:cubicBezTo>
                  <a:pt x="1467" y="1252"/>
                  <a:pt x="1580" y="1150"/>
                  <a:pt x="1697" y="1053"/>
                </a:cubicBezTo>
                <a:cubicBezTo>
                  <a:pt x="1815" y="957"/>
                  <a:pt x="1937" y="866"/>
                  <a:pt x="2063" y="782"/>
                </a:cubicBezTo>
                <a:cubicBezTo>
                  <a:pt x="2190" y="697"/>
                  <a:pt x="2320" y="619"/>
                  <a:pt x="2454" y="548"/>
                </a:cubicBezTo>
                <a:cubicBezTo>
                  <a:pt x="2588" y="476"/>
                  <a:pt x="2725" y="411"/>
                  <a:pt x="2866" y="353"/>
                </a:cubicBezTo>
                <a:cubicBezTo>
                  <a:pt x="3006" y="295"/>
                  <a:pt x="3149" y="244"/>
                  <a:pt x="3295" y="199"/>
                </a:cubicBezTo>
                <a:cubicBezTo>
                  <a:pt x="3440" y="155"/>
                  <a:pt x="3588" y="118"/>
                  <a:pt x="3737" y="89"/>
                </a:cubicBezTo>
                <a:cubicBezTo>
                  <a:pt x="3886" y="59"/>
                  <a:pt x="4036" y="37"/>
                  <a:pt x="4187" y="22"/>
                </a:cubicBezTo>
                <a:cubicBezTo>
                  <a:pt x="4339" y="7"/>
                  <a:pt x="4490" y="0"/>
                  <a:pt x="4642" y="0"/>
                </a:cubicBezTo>
                <a:lnTo>
                  <a:pt x="4644" y="0"/>
                </a:lnTo>
                <a:cubicBezTo>
                  <a:pt x="4796" y="0"/>
                  <a:pt x="4947" y="7"/>
                  <a:pt x="5099" y="22"/>
                </a:cubicBezTo>
                <a:cubicBezTo>
                  <a:pt x="5250" y="37"/>
                  <a:pt x="5400" y="59"/>
                  <a:pt x="5549" y="89"/>
                </a:cubicBezTo>
                <a:cubicBezTo>
                  <a:pt x="5698" y="118"/>
                  <a:pt x="5846" y="155"/>
                  <a:pt x="5991" y="199"/>
                </a:cubicBezTo>
                <a:cubicBezTo>
                  <a:pt x="6137" y="244"/>
                  <a:pt x="6280" y="295"/>
                  <a:pt x="6420" y="353"/>
                </a:cubicBezTo>
                <a:cubicBezTo>
                  <a:pt x="6561" y="411"/>
                  <a:pt x="6698" y="476"/>
                  <a:pt x="6832" y="548"/>
                </a:cubicBezTo>
                <a:cubicBezTo>
                  <a:pt x="6966" y="619"/>
                  <a:pt x="7096" y="697"/>
                  <a:pt x="7223" y="782"/>
                </a:cubicBezTo>
                <a:cubicBezTo>
                  <a:pt x="7349" y="866"/>
                  <a:pt x="7471" y="957"/>
                  <a:pt x="7589" y="1053"/>
                </a:cubicBezTo>
                <a:cubicBezTo>
                  <a:pt x="7706" y="1150"/>
                  <a:pt x="7819" y="1252"/>
                  <a:pt x="7926" y="1359"/>
                </a:cubicBezTo>
                <a:cubicBezTo>
                  <a:pt x="8034" y="1467"/>
                  <a:pt x="8136" y="1579"/>
                  <a:pt x="8232" y="1697"/>
                </a:cubicBezTo>
                <a:cubicBezTo>
                  <a:pt x="8329" y="1814"/>
                  <a:pt x="8419" y="1936"/>
                  <a:pt x="8504" y="2063"/>
                </a:cubicBezTo>
                <a:cubicBezTo>
                  <a:pt x="8588" y="2189"/>
                  <a:pt x="8666" y="2320"/>
                  <a:pt x="8738" y="2454"/>
                </a:cubicBezTo>
                <a:cubicBezTo>
                  <a:pt x="8810" y="2588"/>
                  <a:pt x="8875" y="2725"/>
                  <a:pt x="8933" y="2866"/>
                </a:cubicBezTo>
                <a:cubicBezTo>
                  <a:pt x="8991" y="3006"/>
                  <a:pt x="9042" y="3149"/>
                  <a:pt x="9086" y="3294"/>
                </a:cubicBezTo>
                <a:cubicBezTo>
                  <a:pt x="9130" y="3440"/>
                  <a:pt x="9167" y="3587"/>
                  <a:pt x="9197" y="3736"/>
                </a:cubicBezTo>
                <a:cubicBezTo>
                  <a:pt x="9227" y="3886"/>
                  <a:pt x="9249" y="4036"/>
                  <a:pt x="9264" y="4187"/>
                </a:cubicBezTo>
                <a:cubicBezTo>
                  <a:pt x="9279" y="4338"/>
                  <a:pt x="9286" y="4490"/>
                  <a:pt x="9286" y="4642"/>
                </a:cubicBezTo>
                <a:cubicBezTo>
                  <a:pt x="9286" y="4794"/>
                  <a:pt x="9279" y="4946"/>
                  <a:pt x="9264" y="5097"/>
                </a:cubicBezTo>
                <a:cubicBezTo>
                  <a:pt x="9249" y="5249"/>
                  <a:pt x="9227" y="5399"/>
                  <a:pt x="9197" y="5548"/>
                </a:cubicBezTo>
                <a:cubicBezTo>
                  <a:pt x="9167" y="5697"/>
                  <a:pt x="9130" y="5844"/>
                  <a:pt x="9086" y="5990"/>
                </a:cubicBezTo>
                <a:cubicBezTo>
                  <a:pt x="9042" y="6135"/>
                  <a:pt x="8991" y="6278"/>
                  <a:pt x="8933" y="6419"/>
                </a:cubicBezTo>
                <a:cubicBezTo>
                  <a:pt x="8875" y="6559"/>
                  <a:pt x="8810" y="6697"/>
                  <a:pt x="8738" y="6832"/>
                </a:cubicBezTo>
                <a:cubicBezTo>
                  <a:pt x="8666" y="6966"/>
                  <a:pt x="8588" y="7096"/>
                  <a:pt x="8504" y="7222"/>
                </a:cubicBezTo>
                <a:cubicBezTo>
                  <a:pt x="8419" y="7349"/>
                  <a:pt x="8329" y="7471"/>
                  <a:pt x="8232" y="7588"/>
                </a:cubicBezTo>
                <a:cubicBezTo>
                  <a:pt x="8136" y="7706"/>
                  <a:pt x="8034" y="7818"/>
                  <a:pt x="7926" y="7926"/>
                </a:cubicBezTo>
                <a:cubicBezTo>
                  <a:pt x="7819" y="8033"/>
                  <a:pt x="7706" y="8135"/>
                  <a:pt x="7589" y="8232"/>
                </a:cubicBezTo>
                <a:cubicBezTo>
                  <a:pt x="7471" y="8328"/>
                  <a:pt x="7349" y="8419"/>
                  <a:pt x="7223" y="8503"/>
                </a:cubicBezTo>
                <a:cubicBezTo>
                  <a:pt x="7096" y="8588"/>
                  <a:pt x="6966" y="8666"/>
                  <a:pt x="6832" y="8738"/>
                </a:cubicBezTo>
                <a:cubicBezTo>
                  <a:pt x="6698" y="8809"/>
                  <a:pt x="6561" y="8874"/>
                  <a:pt x="6420" y="8932"/>
                </a:cubicBezTo>
                <a:cubicBezTo>
                  <a:pt x="6280" y="8991"/>
                  <a:pt x="6137" y="9042"/>
                  <a:pt x="5991" y="9086"/>
                </a:cubicBezTo>
                <a:cubicBezTo>
                  <a:pt x="5846" y="9130"/>
                  <a:pt x="5698" y="9167"/>
                  <a:pt x="5549" y="9197"/>
                </a:cubicBezTo>
                <a:cubicBezTo>
                  <a:pt x="5400" y="9226"/>
                  <a:pt x="5250" y="9249"/>
                  <a:pt x="5099" y="9263"/>
                </a:cubicBezTo>
                <a:cubicBezTo>
                  <a:pt x="4947" y="9278"/>
                  <a:pt x="4796" y="9286"/>
                  <a:pt x="4644" y="9286"/>
                </a:cubicBezTo>
                <a:cubicBezTo>
                  <a:pt x="4491" y="9286"/>
                  <a:pt x="4339" y="9278"/>
                  <a:pt x="4187" y="9263"/>
                </a:cubicBezTo>
                <a:cubicBezTo>
                  <a:pt x="4036" y="9249"/>
                  <a:pt x="3886" y="9226"/>
                  <a:pt x="3737" y="9197"/>
                </a:cubicBezTo>
                <a:cubicBezTo>
                  <a:pt x="3588" y="9167"/>
                  <a:pt x="3440" y="9130"/>
                  <a:pt x="3295" y="9086"/>
                </a:cubicBezTo>
                <a:cubicBezTo>
                  <a:pt x="3149" y="9042"/>
                  <a:pt x="3006" y="8991"/>
                  <a:pt x="2866" y="8932"/>
                </a:cubicBezTo>
                <a:cubicBezTo>
                  <a:pt x="2725" y="8874"/>
                  <a:pt x="2588" y="8809"/>
                  <a:pt x="2454" y="8738"/>
                </a:cubicBezTo>
                <a:cubicBezTo>
                  <a:pt x="2320" y="8666"/>
                  <a:pt x="2190" y="8588"/>
                  <a:pt x="2063" y="8503"/>
                </a:cubicBezTo>
                <a:cubicBezTo>
                  <a:pt x="1937" y="8419"/>
                  <a:pt x="1815" y="8328"/>
                  <a:pt x="1697" y="8232"/>
                </a:cubicBezTo>
                <a:cubicBezTo>
                  <a:pt x="1580" y="8135"/>
                  <a:pt x="1467" y="8033"/>
                  <a:pt x="1360" y="7926"/>
                </a:cubicBezTo>
                <a:cubicBezTo>
                  <a:pt x="1252" y="7818"/>
                  <a:pt x="1150" y="7706"/>
                  <a:pt x="1054" y="7588"/>
                </a:cubicBezTo>
                <a:cubicBezTo>
                  <a:pt x="957" y="7471"/>
                  <a:pt x="867" y="7349"/>
                  <a:pt x="782" y="7222"/>
                </a:cubicBezTo>
                <a:cubicBezTo>
                  <a:pt x="698" y="7096"/>
                  <a:pt x="620" y="6966"/>
                  <a:pt x="548" y="6832"/>
                </a:cubicBezTo>
                <a:cubicBezTo>
                  <a:pt x="476" y="6697"/>
                  <a:pt x="412" y="6559"/>
                  <a:pt x="353" y="6419"/>
                </a:cubicBezTo>
                <a:cubicBezTo>
                  <a:pt x="295" y="6278"/>
                  <a:pt x="244" y="6135"/>
                  <a:pt x="200" y="5990"/>
                </a:cubicBezTo>
                <a:cubicBezTo>
                  <a:pt x="156" y="5844"/>
                  <a:pt x="119" y="5697"/>
                  <a:pt x="89" y="5548"/>
                </a:cubicBezTo>
                <a:cubicBezTo>
                  <a:pt x="59" y="5399"/>
                  <a:pt x="37" y="5249"/>
                  <a:pt x="22" y="5097"/>
                </a:cubicBezTo>
                <a:cubicBezTo>
                  <a:pt x="7" y="4946"/>
                  <a:pt x="0" y="4794"/>
                  <a:pt x="0" y="4642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6685200" y="2590560"/>
            <a:ext cx="3342960" cy="3342960"/>
          </a:xfrm>
          <a:custGeom>
            <a:avLst/>
            <a:gdLst/>
            <a:ahLst/>
            <a:cxnLst/>
            <a:rect l="0" t="0" r="r" b="b"/>
            <a:pathLst>
              <a:path w="9286" h="9286">
                <a:moveTo>
                  <a:pt x="0" y="4642"/>
                </a:moveTo>
                <a:cubicBezTo>
                  <a:pt x="0" y="4490"/>
                  <a:pt x="7" y="4338"/>
                  <a:pt x="22" y="4187"/>
                </a:cubicBezTo>
                <a:cubicBezTo>
                  <a:pt x="37" y="4036"/>
                  <a:pt x="59" y="3886"/>
                  <a:pt x="89" y="3736"/>
                </a:cubicBezTo>
                <a:cubicBezTo>
                  <a:pt x="119" y="3587"/>
                  <a:pt x="156" y="3440"/>
                  <a:pt x="200" y="3294"/>
                </a:cubicBezTo>
                <a:cubicBezTo>
                  <a:pt x="244" y="3149"/>
                  <a:pt x="295" y="3006"/>
                  <a:pt x="353" y="2866"/>
                </a:cubicBezTo>
                <a:cubicBezTo>
                  <a:pt x="412" y="2725"/>
                  <a:pt x="476" y="2588"/>
                  <a:pt x="548" y="2454"/>
                </a:cubicBezTo>
                <a:cubicBezTo>
                  <a:pt x="620" y="2320"/>
                  <a:pt x="698" y="2189"/>
                  <a:pt x="782" y="2063"/>
                </a:cubicBezTo>
                <a:cubicBezTo>
                  <a:pt x="867" y="1936"/>
                  <a:pt x="957" y="1814"/>
                  <a:pt x="1054" y="1697"/>
                </a:cubicBezTo>
                <a:cubicBezTo>
                  <a:pt x="1150" y="1579"/>
                  <a:pt x="1252" y="1467"/>
                  <a:pt x="1360" y="1359"/>
                </a:cubicBezTo>
                <a:cubicBezTo>
                  <a:pt x="1467" y="1252"/>
                  <a:pt x="1580" y="1150"/>
                  <a:pt x="1697" y="1053"/>
                </a:cubicBezTo>
                <a:cubicBezTo>
                  <a:pt x="1815" y="957"/>
                  <a:pt x="1937" y="866"/>
                  <a:pt x="2063" y="782"/>
                </a:cubicBezTo>
                <a:cubicBezTo>
                  <a:pt x="2190" y="697"/>
                  <a:pt x="2320" y="619"/>
                  <a:pt x="2454" y="548"/>
                </a:cubicBezTo>
                <a:cubicBezTo>
                  <a:pt x="2588" y="476"/>
                  <a:pt x="2725" y="411"/>
                  <a:pt x="2866" y="353"/>
                </a:cubicBezTo>
                <a:cubicBezTo>
                  <a:pt x="3006" y="295"/>
                  <a:pt x="3149" y="244"/>
                  <a:pt x="3295" y="199"/>
                </a:cubicBezTo>
                <a:cubicBezTo>
                  <a:pt x="3440" y="155"/>
                  <a:pt x="3588" y="118"/>
                  <a:pt x="3737" y="89"/>
                </a:cubicBezTo>
                <a:cubicBezTo>
                  <a:pt x="3886" y="59"/>
                  <a:pt x="4036" y="37"/>
                  <a:pt x="4187" y="22"/>
                </a:cubicBezTo>
                <a:cubicBezTo>
                  <a:pt x="4339" y="7"/>
                  <a:pt x="4491" y="0"/>
                  <a:pt x="4644" y="0"/>
                </a:cubicBezTo>
                <a:cubicBezTo>
                  <a:pt x="4796" y="0"/>
                  <a:pt x="4947" y="7"/>
                  <a:pt x="5099" y="22"/>
                </a:cubicBezTo>
                <a:cubicBezTo>
                  <a:pt x="5250" y="37"/>
                  <a:pt x="5400" y="59"/>
                  <a:pt x="5549" y="89"/>
                </a:cubicBezTo>
                <a:cubicBezTo>
                  <a:pt x="5698" y="118"/>
                  <a:pt x="5846" y="155"/>
                  <a:pt x="5991" y="199"/>
                </a:cubicBezTo>
                <a:cubicBezTo>
                  <a:pt x="6137" y="244"/>
                  <a:pt x="6280" y="295"/>
                  <a:pt x="6420" y="353"/>
                </a:cubicBezTo>
                <a:cubicBezTo>
                  <a:pt x="6561" y="411"/>
                  <a:pt x="6698" y="476"/>
                  <a:pt x="6832" y="548"/>
                </a:cubicBezTo>
                <a:cubicBezTo>
                  <a:pt x="6966" y="619"/>
                  <a:pt x="7096" y="697"/>
                  <a:pt x="7223" y="782"/>
                </a:cubicBezTo>
                <a:cubicBezTo>
                  <a:pt x="7349" y="866"/>
                  <a:pt x="7471" y="957"/>
                  <a:pt x="7589" y="1053"/>
                </a:cubicBezTo>
                <a:cubicBezTo>
                  <a:pt x="7706" y="1150"/>
                  <a:pt x="7819" y="1252"/>
                  <a:pt x="7926" y="1359"/>
                </a:cubicBezTo>
                <a:cubicBezTo>
                  <a:pt x="8034" y="1467"/>
                  <a:pt x="8136" y="1579"/>
                  <a:pt x="8232" y="1697"/>
                </a:cubicBezTo>
                <a:cubicBezTo>
                  <a:pt x="8329" y="1814"/>
                  <a:pt x="8419" y="1936"/>
                  <a:pt x="8504" y="2063"/>
                </a:cubicBezTo>
                <a:cubicBezTo>
                  <a:pt x="8588" y="2189"/>
                  <a:pt x="8666" y="2320"/>
                  <a:pt x="8738" y="2454"/>
                </a:cubicBezTo>
                <a:cubicBezTo>
                  <a:pt x="8810" y="2588"/>
                  <a:pt x="8875" y="2725"/>
                  <a:pt x="8933" y="2866"/>
                </a:cubicBezTo>
                <a:cubicBezTo>
                  <a:pt x="8991" y="3006"/>
                  <a:pt x="9042" y="3149"/>
                  <a:pt x="9086" y="3294"/>
                </a:cubicBezTo>
                <a:cubicBezTo>
                  <a:pt x="9130" y="3440"/>
                  <a:pt x="9167" y="3587"/>
                  <a:pt x="9197" y="3736"/>
                </a:cubicBezTo>
                <a:cubicBezTo>
                  <a:pt x="9227" y="3886"/>
                  <a:pt x="9249" y="4036"/>
                  <a:pt x="9264" y="4187"/>
                </a:cubicBezTo>
                <a:cubicBezTo>
                  <a:pt x="9279" y="4338"/>
                  <a:pt x="9286" y="4490"/>
                  <a:pt x="9286" y="4642"/>
                </a:cubicBezTo>
                <a:cubicBezTo>
                  <a:pt x="9286" y="4794"/>
                  <a:pt x="9279" y="4946"/>
                  <a:pt x="9264" y="5097"/>
                </a:cubicBezTo>
                <a:cubicBezTo>
                  <a:pt x="9249" y="5249"/>
                  <a:pt x="9227" y="5399"/>
                  <a:pt x="9197" y="5548"/>
                </a:cubicBezTo>
                <a:cubicBezTo>
                  <a:pt x="9167" y="5697"/>
                  <a:pt x="9130" y="5844"/>
                  <a:pt x="9086" y="5990"/>
                </a:cubicBezTo>
                <a:cubicBezTo>
                  <a:pt x="9042" y="6135"/>
                  <a:pt x="8991" y="6278"/>
                  <a:pt x="8933" y="6419"/>
                </a:cubicBezTo>
                <a:cubicBezTo>
                  <a:pt x="8875" y="6559"/>
                  <a:pt x="8810" y="6697"/>
                  <a:pt x="8738" y="6832"/>
                </a:cubicBezTo>
                <a:cubicBezTo>
                  <a:pt x="8666" y="6966"/>
                  <a:pt x="8588" y="7096"/>
                  <a:pt x="8504" y="7222"/>
                </a:cubicBezTo>
                <a:cubicBezTo>
                  <a:pt x="8419" y="7349"/>
                  <a:pt x="8329" y="7471"/>
                  <a:pt x="8232" y="7588"/>
                </a:cubicBezTo>
                <a:cubicBezTo>
                  <a:pt x="8136" y="7706"/>
                  <a:pt x="8034" y="7818"/>
                  <a:pt x="7926" y="7926"/>
                </a:cubicBezTo>
                <a:cubicBezTo>
                  <a:pt x="7819" y="8033"/>
                  <a:pt x="7706" y="8135"/>
                  <a:pt x="7589" y="8232"/>
                </a:cubicBezTo>
                <a:cubicBezTo>
                  <a:pt x="7471" y="8328"/>
                  <a:pt x="7349" y="8419"/>
                  <a:pt x="7223" y="8503"/>
                </a:cubicBezTo>
                <a:cubicBezTo>
                  <a:pt x="7096" y="8588"/>
                  <a:pt x="6966" y="8666"/>
                  <a:pt x="6832" y="8738"/>
                </a:cubicBezTo>
                <a:cubicBezTo>
                  <a:pt x="6698" y="8809"/>
                  <a:pt x="6561" y="8874"/>
                  <a:pt x="6420" y="8932"/>
                </a:cubicBezTo>
                <a:cubicBezTo>
                  <a:pt x="6280" y="8991"/>
                  <a:pt x="6137" y="9042"/>
                  <a:pt x="5991" y="9086"/>
                </a:cubicBezTo>
                <a:cubicBezTo>
                  <a:pt x="5846" y="9130"/>
                  <a:pt x="5698" y="9167"/>
                  <a:pt x="5549" y="9197"/>
                </a:cubicBezTo>
                <a:cubicBezTo>
                  <a:pt x="5400" y="9226"/>
                  <a:pt x="5250" y="9249"/>
                  <a:pt x="5099" y="9263"/>
                </a:cubicBezTo>
                <a:cubicBezTo>
                  <a:pt x="4947" y="9278"/>
                  <a:pt x="4796" y="9286"/>
                  <a:pt x="4644" y="9286"/>
                </a:cubicBezTo>
                <a:cubicBezTo>
                  <a:pt x="4491" y="9286"/>
                  <a:pt x="4339" y="9278"/>
                  <a:pt x="4187" y="9263"/>
                </a:cubicBezTo>
                <a:cubicBezTo>
                  <a:pt x="4036" y="9249"/>
                  <a:pt x="3886" y="9226"/>
                  <a:pt x="3737" y="9197"/>
                </a:cubicBezTo>
                <a:cubicBezTo>
                  <a:pt x="3588" y="9167"/>
                  <a:pt x="3440" y="9130"/>
                  <a:pt x="3295" y="9086"/>
                </a:cubicBezTo>
                <a:cubicBezTo>
                  <a:pt x="3149" y="9042"/>
                  <a:pt x="3006" y="8991"/>
                  <a:pt x="2866" y="8932"/>
                </a:cubicBezTo>
                <a:cubicBezTo>
                  <a:pt x="2725" y="8874"/>
                  <a:pt x="2588" y="8809"/>
                  <a:pt x="2454" y="8738"/>
                </a:cubicBezTo>
                <a:cubicBezTo>
                  <a:pt x="2320" y="8666"/>
                  <a:pt x="2190" y="8588"/>
                  <a:pt x="2063" y="8503"/>
                </a:cubicBezTo>
                <a:cubicBezTo>
                  <a:pt x="1937" y="8419"/>
                  <a:pt x="1815" y="8328"/>
                  <a:pt x="1697" y="8232"/>
                </a:cubicBezTo>
                <a:cubicBezTo>
                  <a:pt x="1580" y="8135"/>
                  <a:pt x="1467" y="8033"/>
                  <a:pt x="1360" y="7926"/>
                </a:cubicBezTo>
                <a:cubicBezTo>
                  <a:pt x="1252" y="7818"/>
                  <a:pt x="1150" y="7706"/>
                  <a:pt x="1054" y="7588"/>
                </a:cubicBezTo>
                <a:cubicBezTo>
                  <a:pt x="957" y="7471"/>
                  <a:pt x="867" y="7349"/>
                  <a:pt x="782" y="7222"/>
                </a:cubicBezTo>
                <a:cubicBezTo>
                  <a:pt x="698" y="7096"/>
                  <a:pt x="620" y="6966"/>
                  <a:pt x="548" y="6832"/>
                </a:cubicBezTo>
                <a:cubicBezTo>
                  <a:pt x="476" y="6697"/>
                  <a:pt x="412" y="6559"/>
                  <a:pt x="353" y="6419"/>
                </a:cubicBezTo>
                <a:cubicBezTo>
                  <a:pt x="295" y="6278"/>
                  <a:pt x="244" y="6135"/>
                  <a:pt x="200" y="5990"/>
                </a:cubicBezTo>
                <a:cubicBezTo>
                  <a:pt x="156" y="5844"/>
                  <a:pt x="119" y="5697"/>
                  <a:pt x="89" y="5548"/>
                </a:cubicBezTo>
                <a:cubicBezTo>
                  <a:pt x="59" y="5399"/>
                  <a:pt x="37" y="5249"/>
                  <a:pt x="22" y="5097"/>
                </a:cubicBezTo>
                <a:cubicBezTo>
                  <a:pt x="7" y="4946"/>
                  <a:pt x="0" y="4794"/>
                  <a:pt x="0" y="4642"/>
                </a:cubicBezTo>
                <a:moveTo>
                  <a:pt x="4644" y="116"/>
                </a:moveTo>
                <a:cubicBezTo>
                  <a:pt x="4568" y="116"/>
                  <a:pt x="4494" y="117"/>
                  <a:pt x="4420" y="121"/>
                </a:cubicBezTo>
                <a:cubicBezTo>
                  <a:pt x="4346" y="125"/>
                  <a:pt x="4273" y="130"/>
                  <a:pt x="4199" y="137"/>
                </a:cubicBezTo>
                <a:cubicBezTo>
                  <a:pt x="4125" y="145"/>
                  <a:pt x="4052" y="154"/>
                  <a:pt x="3978" y="165"/>
                </a:cubicBezTo>
                <a:cubicBezTo>
                  <a:pt x="3905" y="175"/>
                  <a:pt x="3832" y="188"/>
                  <a:pt x="3759" y="203"/>
                </a:cubicBezTo>
                <a:cubicBezTo>
                  <a:pt x="3687" y="217"/>
                  <a:pt x="3615" y="233"/>
                  <a:pt x="3543" y="251"/>
                </a:cubicBezTo>
                <a:cubicBezTo>
                  <a:pt x="3471" y="269"/>
                  <a:pt x="3399" y="289"/>
                  <a:pt x="3329" y="311"/>
                </a:cubicBezTo>
                <a:cubicBezTo>
                  <a:pt x="3258" y="332"/>
                  <a:pt x="3187" y="355"/>
                  <a:pt x="3118" y="380"/>
                </a:cubicBezTo>
                <a:cubicBezTo>
                  <a:pt x="3048" y="405"/>
                  <a:pt x="2979" y="432"/>
                  <a:pt x="2910" y="460"/>
                </a:cubicBezTo>
                <a:cubicBezTo>
                  <a:pt x="2842" y="489"/>
                  <a:pt x="2774" y="519"/>
                  <a:pt x="2707" y="550"/>
                </a:cubicBezTo>
                <a:cubicBezTo>
                  <a:pt x="2640" y="582"/>
                  <a:pt x="2574" y="615"/>
                  <a:pt x="2509" y="650"/>
                </a:cubicBezTo>
                <a:cubicBezTo>
                  <a:pt x="2443" y="685"/>
                  <a:pt x="2379" y="722"/>
                  <a:pt x="2315" y="760"/>
                </a:cubicBezTo>
                <a:cubicBezTo>
                  <a:pt x="2252" y="798"/>
                  <a:pt x="2189" y="837"/>
                  <a:pt x="2128" y="878"/>
                </a:cubicBezTo>
                <a:cubicBezTo>
                  <a:pt x="2066" y="920"/>
                  <a:pt x="2006" y="962"/>
                  <a:pt x="1946" y="1006"/>
                </a:cubicBezTo>
                <a:cubicBezTo>
                  <a:pt x="1887" y="1051"/>
                  <a:pt x="1828" y="1096"/>
                  <a:pt x="1771" y="1143"/>
                </a:cubicBezTo>
                <a:cubicBezTo>
                  <a:pt x="1714" y="1190"/>
                  <a:pt x="1658" y="1238"/>
                  <a:pt x="1603" y="1288"/>
                </a:cubicBezTo>
                <a:cubicBezTo>
                  <a:pt x="1548" y="1338"/>
                  <a:pt x="1494" y="1389"/>
                  <a:pt x="1442" y="1441"/>
                </a:cubicBezTo>
                <a:cubicBezTo>
                  <a:pt x="1389" y="1494"/>
                  <a:pt x="1338" y="1547"/>
                  <a:pt x="1289" y="1602"/>
                </a:cubicBezTo>
                <a:cubicBezTo>
                  <a:pt x="1239" y="1657"/>
                  <a:pt x="1190" y="1713"/>
                  <a:pt x="1143" y="1771"/>
                </a:cubicBezTo>
                <a:cubicBezTo>
                  <a:pt x="1096" y="1828"/>
                  <a:pt x="1051" y="1886"/>
                  <a:pt x="1007" y="1946"/>
                </a:cubicBezTo>
                <a:cubicBezTo>
                  <a:pt x="963" y="2005"/>
                  <a:pt x="920" y="2066"/>
                  <a:pt x="879" y="2127"/>
                </a:cubicBezTo>
                <a:cubicBezTo>
                  <a:pt x="838" y="2189"/>
                  <a:pt x="798" y="2252"/>
                  <a:pt x="760" y="2315"/>
                </a:cubicBezTo>
                <a:cubicBezTo>
                  <a:pt x="722" y="2379"/>
                  <a:pt x="685" y="2443"/>
                  <a:pt x="650" y="2508"/>
                </a:cubicBezTo>
                <a:cubicBezTo>
                  <a:pt x="616" y="2574"/>
                  <a:pt x="582" y="2640"/>
                  <a:pt x="551" y="2707"/>
                </a:cubicBezTo>
                <a:cubicBezTo>
                  <a:pt x="519" y="2774"/>
                  <a:pt x="489" y="2841"/>
                  <a:pt x="461" y="2910"/>
                </a:cubicBezTo>
                <a:cubicBezTo>
                  <a:pt x="432" y="2978"/>
                  <a:pt x="406" y="3047"/>
                  <a:pt x="381" y="3117"/>
                </a:cubicBezTo>
                <a:cubicBezTo>
                  <a:pt x="356" y="3187"/>
                  <a:pt x="332" y="3257"/>
                  <a:pt x="311" y="3328"/>
                </a:cubicBezTo>
                <a:cubicBezTo>
                  <a:pt x="289" y="3399"/>
                  <a:pt x="270" y="3470"/>
                  <a:pt x="252" y="3542"/>
                </a:cubicBezTo>
                <a:cubicBezTo>
                  <a:pt x="234" y="3614"/>
                  <a:pt x="217" y="3686"/>
                  <a:pt x="203" y="3759"/>
                </a:cubicBezTo>
                <a:cubicBezTo>
                  <a:pt x="189" y="3832"/>
                  <a:pt x="176" y="3905"/>
                  <a:pt x="165" y="3978"/>
                </a:cubicBezTo>
                <a:cubicBezTo>
                  <a:pt x="154" y="4051"/>
                  <a:pt x="145" y="4125"/>
                  <a:pt x="138" y="4198"/>
                </a:cubicBezTo>
                <a:cubicBezTo>
                  <a:pt x="131" y="4272"/>
                  <a:pt x="125" y="4346"/>
                  <a:pt x="121" y="4420"/>
                </a:cubicBezTo>
                <a:cubicBezTo>
                  <a:pt x="118" y="4494"/>
                  <a:pt x="116" y="4568"/>
                  <a:pt x="116" y="4642"/>
                </a:cubicBezTo>
                <a:cubicBezTo>
                  <a:pt x="116" y="4716"/>
                  <a:pt x="118" y="4790"/>
                  <a:pt x="121" y="4864"/>
                </a:cubicBezTo>
                <a:cubicBezTo>
                  <a:pt x="125" y="4938"/>
                  <a:pt x="131" y="5012"/>
                  <a:pt x="138" y="5086"/>
                </a:cubicBezTo>
                <a:cubicBezTo>
                  <a:pt x="145" y="5160"/>
                  <a:pt x="154" y="5233"/>
                  <a:pt x="165" y="5306"/>
                </a:cubicBezTo>
                <a:cubicBezTo>
                  <a:pt x="176" y="5380"/>
                  <a:pt x="189" y="5453"/>
                  <a:pt x="203" y="5525"/>
                </a:cubicBezTo>
                <a:cubicBezTo>
                  <a:pt x="217" y="5598"/>
                  <a:pt x="234" y="5670"/>
                  <a:pt x="252" y="5742"/>
                </a:cubicBezTo>
                <a:cubicBezTo>
                  <a:pt x="270" y="5814"/>
                  <a:pt x="289" y="5885"/>
                  <a:pt x="311" y="5956"/>
                </a:cubicBezTo>
                <a:cubicBezTo>
                  <a:pt x="332" y="6027"/>
                  <a:pt x="356" y="6097"/>
                  <a:pt x="381" y="6167"/>
                </a:cubicBezTo>
                <a:cubicBezTo>
                  <a:pt x="406" y="6237"/>
                  <a:pt x="432" y="6306"/>
                  <a:pt x="461" y="6374"/>
                </a:cubicBezTo>
                <a:cubicBezTo>
                  <a:pt x="489" y="6443"/>
                  <a:pt x="519" y="6511"/>
                  <a:pt x="551" y="6578"/>
                </a:cubicBezTo>
                <a:cubicBezTo>
                  <a:pt x="582" y="6644"/>
                  <a:pt x="616" y="6711"/>
                  <a:pt x="650" y="6777"/>
                </a:cubicBezTo>
                <a:cubicBezTo>
                  <a:pt x="685" y="6842"/>
                  <a:pt x="722" y="6907"/>
                  <a:pt x="760" y="6970"/>
                </a:cubicBezTo>
                <a:cubicBezTo>
                  <a:pt x="798" y="7034"/>
                  <a:pt x="838" y="7096"/>
                  <a:pt x="879" y="7158"/>
                </a:cubicBezTo>
                <a:cubicBezTo>
                  <a:pt x="920" y="7220"/>
                  <a:pt x="963" y="7280"/>
                  <a:pt x="1007" y="7340"/>
                </a:cubicBezTo>
                <a:cubicBezTo>
                  <a:pt x="1051" y="7399"/>
                  <a:pt x="1096" y="7458"/>
                  <a:pt x="1143" y="7515"/>
                </a:cubicBezTo>
                <a:cubicBezTo>
                  <a:pt x="1190" y="7572"/>
                  <a:pt x="1239" y="7628"/>
                  <a:pt x="1289" y="7683"/>
                </a:cubicBezTo>
                <a:cubicBezTo>
                  <a:pt x="1338" y="7738"/>
                  <a:pt x="1389" y="7792"/>
                  <a:pt x="1442" y="7844"/>
                </a:cubicBezTo>
                <a:cubicBezTo>
                  <a:pt x="1494" y="7896"/>
                  <a:pt x="1548" y="7947"/>
                  <a:pt x="1603" y="7997"/>
                </a:cubicBezTo>
                <a:cubicBezTo>
                  <a:pt x="1658" y="8047"/>
                  <a:pt x="1714" y="8095"/>
                  <a:pt x="1771" y="8142"/>
                </a:cubicBezTo>
                <a:cubicBezTo>
                  <a:pt x="1828" y="8189"/>
                  <a:pt x="1887" y="8235"/>
                  <a:pt x="1946" y="8279"/>
                </a:cubicBezTo>
                <a:cubicBezTo>
                  <a:pt x="2006" y="8323"/>
                  <a:pt x="2066" y="8366"/>
                  <a:pt x="2128" y="8407"/>
                </a:cubicBezTo>
                <a:cubicBezTo>
                  <a:pt x="2189" y="8448"/>
                  <a:pt x="2252" y="8488"/>
                  <a:pt x="2315" y="8526"/>
                </a:cubicBezTo>
                <a:cubicBezTo>
                  <a:pt x="2379" y="8564"/>
                  <a:pt x="2443" y="8600"/>
                  <a:pt x="2509" y="8635"/>
                </a:cubicBezTo>
                <a:cubicBezTo>
                  <a:pt x="2574" y="8670"/>
                  <a:pt x="2640" y="8703"/>
                  <a:pt x="2707" y="8735"/>
                </a:cubicBezTo>
                <a:cubicBezTo>
                  <a:pt x="2774" y="8767"/>
                  <a:pt x="2842" y="8797"/>
                  <a:pt x="2910" y="8825"/>
                </a:cubicBezTo>
                <a:cubicBezTo>
                  <a:pt x="2979" y="8853"/>
                  <a:pt x="3048" y="8880"/>
                  <a:pt x="3118" y="8905"/>
                </a:cubicBezTo>
                <a:cubicBezTo>
                  <a:pt x="3187" y="8930"/>
                  <a:pt x="3258" y="8953"/>
                  <a:pt x="3329" y="8975"/>
                </a:cubicBezTo>
                <a:cubicBezTo>
                  <a:pt x="3399" y="8996"/>
                  <a:pt x="3471" y="9016"/>
                  <a:pt x="3543" y="9034"/>
                </a:cubicBezTo>
                <a:cubicBezTo>
                  <a:pt x="3615" y="9052"/>
                  <a:pt x="3687" y="9068"/>
                  <a:pt x="3759" y="9083"/>
                </a:cubicBezTo>
                <a:cubicBezTo>
                  <a:pt x="3832" y="9097"/>
                  <a:pt x="3905" y="9110"/>
                  <a:pt x="3978" y="9121"/>
                </a:cubicBezTo>
                <a:cubicBezTo>
                  <a:pt x="4052" y="9132"/>
                  <a:pt x="4125" y="9141"/>
                  <a:pt x="4199" y="9148"/>
                </a:cubicBezTo>
                <a:cubicBezTo>
                  <a:pt x="4273" y="9155"/>
                  <a:pt x="4346" y="9161"/>
                  <a:pt x="4420" y="9164"/>
                </a:cubicBezTo>
                <a:cubicBezTo>
                  <a:pt x="4494" y="9168"/>
                  <a:pt x="4568" y="9170"/>
                  <a:pt x="4644" y="9170"/>
                </a:cubicBezTo>
                <a:cubicBezTo>
                  <a:pt x="4718" y="9170"/>
                  <a:pt x="4792" y="9168"/>
                  <a:pt x="4866" y="9164"/>
                </a:cubicBezTo>
                <a:cubicBezTo>
                  <a:pt x="4940" y="9161"/>
                  <a:pt x="5014" y="9155"/>
                  <a:pt x="5087" y="9148"/>
                </a:cubicBezTo>
                <a:cubicBezTo>
                  <a:pt x="5161" y="9141"/>
                  <a:pt x="5234" y="9132"/>
                  <a:pt x="5308" y="9121"/>
                </a:cubicBezTo>
                <a:cubicBezTo>
                  <a:pt x="5381" y="9110"/>
                  <a:pt x="5454" y="9097"/>
                  <a:pt x="5527" y="9083"/>
                </a:cubicBezTo>
                <a:cubicBezTo>
                  <a:pt x="5599" y="9068"/>
                  <a:pt x="5672" y="9052"/>
                  <a:pt x="5743" y="9034"/>
                </a:cubicBezTo>
                <a:cubicBezTo>
                  <a:pt x="5815" y="9016"/>
                  <a:pt x="5887" y="8996"/>
                  <a:pt x="5958" y="8975"/>
                </a:cubicBezTo>
                <a:cubicBezTo>
                  <a:pt x="6028" y="8953"/>
                  <a:pt x="6099" y="8930"/>
                  <a:pt x="6169" y="8905"/>
                </a:cubicBezTo>
                <a:cubicBezTo>
                  <a:pt x="6238" y="8880"/>
                  <a:pt x="6307" y="8853"/>
                  <a:pt x="6376" y="8825"/>
                </a:cubicBezTo>
                <a:cubicBezTo>
                  <a:pt x="6444" y="8797"/>
                  <a:pt x="6512" y="8767"/>
                  <a:pt x="6579" y="8735"/>
                </a:cubicBezTo>
                <a:cubicBezTo>
                  <a:pt x="6646" y="8703"/>
                  <a:pt x="6712" y="8670"/>
                  <a:pt x="6777" y="8635"/>
                </a:cubicBezTo>
                <a:cubicBezTo>
                  <a:pt x="6843" y="8600"/>
                  <a:pt x="6907" y="8564"/>
                  <a:pt x="6971" y="8526"/>
                </a:cubicBezTo>
                <a:cubicBezTo>
                  <a:pt x="7034" y="8488"/>
                  <a:pt x="7097" y="8448"/>
                  <a:pt x="7158" y="8407"/>
                </a:cubicBezTo>
                <a:cubicBezTo>
                  <a:pt x="7220" y="8366"/>
                  <a:pt x="7281" y="8323"/>
                  <a:pt x="7340" y="8279"/>
                </a:cubicBezTo>
                <a:cubicBezTo>
                  <a:pt x="7400" y="8235"/>
                  <a:pt x="7458" y="8189"/>
                  <a:pt x="7515" y="8142"/>
                </a:cubicBezTo>
                <a:cubicBezTo>
                  <a:pt x="7572" y="8095"/>
                  <a:pt x="7629" y="8047"/>
                  <a:pt x="7683" y="7997"/>
                </a:cubicBezTo>
                <a:cubicBezTo>
                  <a:pt x="7738" y="7947"/>
                  <a:pt x="7792" y="7896"/>
                  <a:pt x="7844" y="7844"/>
                </a:cubicBezTo>
                <a:cubicBezTo>
                  <a:pt x="7897" y="7792"/>
                  <a:pt x="7948" y="7738"/>
                  <a:pt x="7998" y="7683"/>
                </a:cubicBezTo>
                <a:cubicBezTo>
                  <a:pt x="8047" y="7628"/>
                  <a:pt x="8096" y="7572"/>
                  <a:pt x="8143" y="7515"/>
                </a:cubicBezTo>
                <a:cubicBezTo>
                  <a:pt x="8190" y="7458"/>
                  <a:pt x="8235" y="7399"/>
                  <a:pt x="8279" y="7340"/>
                </a:cubicBezTo>
                <a:cubicBezTo>
                  <a:pt x="8323" y="7280"/>
                  <a:pt x="8366" y="7220"/>
                  <a:pt x="8407" y="7158"/>
                </a:cubicBezTo>
                <a:cubicBezTo>
                  <a:pt x="8448" y="7096"/>
                  <a:pt x="8488" y="7034"/>
                  <a:pt x="8526" y="6970"/>
                </a:cubicBezTo>
                <a:cubicBezTo>
                  <a:pt x="8564" y="6907"/>
                  <a:pt x="8601" y="6842"/>
                  <a:pt x="8636" y="6777"/>
                </a:cubicBezTo>
                <a:cubicBezTo>
                  <a:pt x="8671" y="6711"/>
                  <a:pt x="8704" y="6644"/>
                  <a:pt x="8736" y="6578"/>
                </a:cubicBezTo>
                <a:cubicBezTo>
                  <a:pt x="8767" y="6511"/>
                  <a:pt x="8797" y="6443"/>
                  <a:pt x="8826" y="6374"/>
                </a:cubicBezTo>
                <a:cubicBezTo>
                  <a:pt x="8854" y="6306"/>
                  <a:pt x="8881" y="6237"/>
                  <a:pt x="8905" y="6167"/>
                </a:cubicBezTo>
                <a:cubicBezTo>
                  <a:pt x="8930" y="6097"/>
                  <a:pt x="8954" y="6027"/>
                  <a:pt x="8975" y="5956"/>
                </a:cubicBezTo>
                <a:cubicBezTo>
                  <a:pt x="8997" y="5885"/>
                  <a:pt x="9016" y="5814"/>
                  <a:pt x="9034" y="5742"/>
                </a:cubicBezTo>
                <a:cubicBezTo>
                  <a:pt x="9052" y="5670"/>
                  <a:pt x="9069" y="5598"/>
                  <a:pt x="9083" y="5525"/>
                </a:cubicBezTo>
                <a:cubicBezTo>
                  <a:pt x="9098" y="5453"/>
                  <a:pt x="9110" y="5380"/>
                  <a:pt x="9121" y="5306"/>
                </a:cubicBezTo>
                <a:cubicBezTo>
                  <a:pt x="9132" y="5233"/>
                  <a:pt x="9141" y="5160"/>
                  <a:pt x="9148" y="5086"/>
                </a:cubicBezTo>
                <a:cubicBezTo>
                  <a:pt x="9156" y="5012"/>
                  <a:pt x="9161" y="4938"/>
                  <a:pt x="9165" y="4864"/>
                </a:cubicBezTo>
                <a:cubicBezTo>
                  <a:pt x="9168" y="4790"/>
                  <a:pt x="9170" y="4716"/>
                  <a:pt x="9170" y="4642"/>
                </a:cubicBezTo>
                <a:cubicBezTo>
                  <a:pt x="9170" y="4568"/>
                  <a:pt x="9168" y="4494"/>
                  <a:pt x="9165" y="4420"/>
                </a:cubicBezTo>
                <a:cubicBezTo>
                  <a:pt x="9161" y="4346"/>
                  <a:pt x="9156" y="4272"/>
                  <a:pt x="9148" y="4198"/>
                </a:cubicBezTo>
                <a:cubicBezTo>
                  <a:pt x="9141" y="4125"/>
                  <a:pt x="9132" y="4051"/>
                  <a:pt x="9121" y="3978"/>
                </a:cubicBezTo>
                <a:cubicBezTo>
                  <a:pt x="9110" y="3905"/>
                  <a:pt x="9098" y="3832"/>
                  <a:pt x="9083" y="3759"/>
                </a:cubicBezTo>
                <a:cubicBezTo>
                  <a:pt x="9069" y="3686"/>
                  <a:pt x="9052" y="3614"/>
                  <a:pt x="9034" y="3542"/>
                </a:cubicBezTo>
                <a:cubicBezTo>
                  <a:pt x="9016" y="3470"/>
                  <a:pt x="8997" y="3399"/>
                  <a:pt x="8975" y="3328"/>
                </a:cubicBezTo>
                <a:cubicBezTo>
                  <a:pt x="8954" y="3257"/>
                  <a:pt x="8930" y="3187"/>
                  <a:pt x="8905" y="3117"/>
                </a:cubicBezTo>
                <a:cubicBezTo>
                  <a:pt x="8881" y="3047"/>
                  <a:pt x="8854" y="2978"/>
                  <a:pt x="8826" y="2910"/>
                </a:cubicBezTo>
                <a:cubicBezTo>
                  <a:pt x="8797" y="2841"/>
                  <a:pt x="8767" y="2774"/>
                  <a:pt x="8736" y="2707"/>
                </a:cubicBezTo>
                <a:cubicBezTo>
                  <a:pt x="8704" y="2640"/>
                  <a:pt x="8671" y="2574"/>
                  <a:pt x="8636" y="2508"/>
                </a:cubicBezTo>
                <a:cubicBezTo>
                  <a:pt x="8601" y="2443"/>
                  <a:pt x="8564" y="2379"/>
                  <a:pt x="8526" y="2315"/>
                </a:cubicBezTo>
                <a:cubicBezTo>
                  <a:pt x="8488" y="2252"/>
                  <a:pt x="8448" y="2189"/>
                  <a:pt x="8407" y="2127"/>
                </a:cubicBezTo>
                <a:cubicBezTo>
                  <a:pt x="8366" y="2066"/>
                  <a:pt x="8323" y="2005"/>
                  <a:pt x="8279" y="1946"/>
                </a:cubicBezTo>
                <a:cubicBezTo>
                  <a:pt x="8235" y="1886"/>
                  <a:pt x="8190" y="1828"/>
                  <a:pt x="8143" y="1771"/>
                </a:cubicBezTo>
                <a:cubicBezTo>
                  <a:pt x="8096" y="1713"/>
                  <a:pt x="8047" y="1657"/>
                  <a:pt x="7998" y="1602"/>
                </a:cubicBezTo>
                <a:cubicBezTo>
                  <a:pt x="7948" y="1547"/>
                  <a:pt x="7897" y="1494"/>
                  <a:pt x="7844" y="1441"/>
                </a:cubicBezTo>
                <a:cubicBezTo>
                  <a:pt x="7792" y="1389"/>
                  <a:pt x="7738" y="1338"/>
                  <a:pt x="7683" y="1288"/>
                </a:cubicBezTo>
                <a:cubicBezTo>
                  <a:pt x="7629" y="1238"/>
                  <a:pt x="7572" y="1190"/>
                  <a:pt x="7515" y="1143"/>
                </a:cubicBezTo>
                <a:cubicBezTo>
                  <a:pt x="7458" y="1096"/>
                  <a:pt x="7400" y="1051"/>
                  <a:pt x="7340" y="1006"/>
                </a:cubicBezTo>
                <a:cubicBezTo>
                  <a:pt x="7281" y="962"/>
                  <a:pt x="7220" y="920"/>
                  <a:pt x="7158" y="878"/>
                </a:cubicBezTo>
                <a:cubicBezTo>
                  <a:pt x="7097" y="837"/>
                  <a:pt x="7034" y="798"/>
                  <a:pt x="6971" y="760"/>
                </a:cubicBezTo>
                <a:cubicBezTo>
                  <a:pt x="6907" y="722"/>
                  <a:pt x="6843" y="685"/>
                  <a:pt x="6777" y="650"/>
                </a:cubicBezTo>
                <a:cubicBezTo>
                  <a:pt x="6712" y="615"/>
                  <a:pt x="6646" y="582"/>
                  <a:pt x="6579" y="550"/>
                </a:cubicBezTo>
                <a:cubicBezTo>
                  <a:pt x="6512" y="519"/>
                  <a:pt x="6444" y="489"/>
                  <a:pt x="6376" y="460"/>
                </a:cubicBezTo>
                <a:cubicBezTo>
                  <a:pt x="6307" y="432"/>
                  <a:pt x="6238" y="405"/>
                  <a:pt x="6169" y="380"/>
                </a:cubicBezTo>
                <a:cubicBezTo>
                  <a:pt x="6099" y="355"/>
                  <a:pt x="6028" y="332"/>
                  <a:pt x="5958" y="311"/>
                </a:cubicBezTo>
                <a:cubicBezTo>
                  <a:pt x="5887" y="289"/>
                  <a:pt x="5815" y="269"/>
                  <a:pt x="5743" y="251"/>
                </a:cubicBezTo>
                <a:cubicBezTo>
                  <a:pt x="5672" y="233"/>
                  <a:pt x="5599" y="217"/>
                  <a:pt x="5527" y="203"/>
                </a:cubicBezTo>
                <a:cubicBezTo>
                  <a:pt x="5454" y="188"/>
                  <a:pt x="5381" y="175"/>
                  <a:pt x="5308" y="165"/>
                </a:cubicBezTo>
                <a:cubicBezTo>
                  <a:pt x="5234" y="154"/>
                  <a:pt x="5161" y="145"/>
                  <a:pt x="5087" y="137"/>
                </a:cubicBezTo>
                <a:cubicBezTo>
                  <a:pt x="5014" y="130"/>
                  <a:pt x="4940" y="125"/>
                  <a:pt x="4866" y="121"/>
                </a:cubicBezTo>
                <a:cubicBezTo>
                  <a:pt x="4792" y="117"/>
                  <a:pt x="4718" y="116"/>
                  <a:pt x="4644" y="116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" name="Picture 20"/>
          <p:cNvPicPr/>
          <p:nvPr/>
        </p:nvPicPr>
        <p:blipFill>
          <a:blip r:embed="rId8"/>
          <a:stretch/>
        </p:blipFill>
        <p:spPr>
          <a:xfrm>
            <a:off x="6563431" y="2590560"/>
            <a:ext cx="3519502" cy="33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597774" y="3820121"/>
            <a:ext cx="1161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Presented by: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668520" y="334080"/>
            <a:ext cx="827640" cy="434880"/>
          </a:xfrm>
          <a:custGeom>
            <a:avLst/>
            <a:gdLst/>
            <a:ahLst/>
            <a:cxnLst/>
            <a:rect l="0" t="0" r="r" b="b"/>
            <a:pathLst>
              <a:path w="2299" h="1208">
                <a:moveTo>
                  <a:pt x="0" y="1115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206" y="0"/>
                </a:lnTo>
                <a:cubicBezTo>
                  <a:pt x="2218" y="0"/>
                  <a:pt x="2230" y="2"/>
                  <a:pt x="2241" y="7"/>
                </a:cubicBezTo>
                <a:cubicBezTo>
                  <a:pt x="2253" y="12"/>
                  <a:pt x="2263" y="19"/>
                  <a:pt x="2271" y="27"/>
                </a:cubicBezTo>
                <a:cubicBezTo>
                  <a:pt x="2280" y="36"/>
                  <a:pt x="2287" y="46"/>
                  <a:pt x="2292" y="57"/>
                </a:cubicBezTo>
                <a:cubicBezTo>
                  <a:pt x="2296" y="69"/>
                  <a:pt x="2299" y="81"/>
                  <a:pt x="2299" y="93"/>
                </a:cubicBezTo>
                <a:lnTo>
                  <a:pt x="2299" y="1115"/>
                </a:lnTo>
                <a:cubicBezTo>
                  <a:pt x="2299" y="1128"/>
                  <a:pt x="2296" y="1139"/>
                  <a:pt x="2292" y="1151"/>
                </a:cubicBezTo>
                <a:cubicBezTo>
                  <a:pt x="2287" y="1162"/>
                  <a:pt x="2280" y="1172"/>
                  <a:pt x="2271" y="1181"/>
                </a:cubicBezTo>
                <a:cubicBezTo>
                  <a:pt x="2263" y="1190"/>
                  <a:pt x="2253" y="1196"/>
                  <a:pt x="2241" y="1201"/>
                </a:cubicBezTo>
                <a:cubicBezTo>
                  <a:pt x="2230" y="1206"/>
                  <a:pt x="2218" y="1208"/>
                  <a:pt x="2206" y="1208"/>
                </a:cubicBezTo>
                <a:lnTo>
                  <a:pt x="92" y="1208"/>
                </a:lnTo>
                <a:cubicBezTo>
                  <a:pt x="80" y="1208"/>
                  <a:pt x="68" y="1206"/>
                  <a:pt x="57" y="1201"/>
                </a:cubicBezTo>
                <a:cubicBezTo>
                  <a:pt x="45" y="1196"/>
                  <a:pt x="35" y="1190"/>
                  <a:pt x="27" y="1181"/>
                </a:cubicBezTo>
                <a:cubicBezTo>
                  <a:pt x="18" y="1172"/>
                  <a:pt x="11" y="1162"/>
                  <a:pt x="7" y="1151"/>
                </a:cubicBezTo>
                <a:cubicBezTo>
                  <a:pt x="2" y="1139"/>
                  <a:pt x="0" y="1128"/>
                  <a:pt x="0" y="1115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7774" y="4123664"/>
            <a:ext cx="1623842" cy="4862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dirty="0">
                <a:solidFill>
                  <a:srgbClr val="FFFFFF"/>
                </a:solidFill>
                <a:latin typeface="DejaVuSans"/>
              </a:rPr>
              <a:t>Priscilla Tay Tze Yee</a:t>
            </a:r>
          </a:p>
          <a:p>
            <a:r>
              <a:rPr lang="en-US" sz="1580" b="1" u="none" strike="noStrike" dirty="0">
                <a:solidFill>
                  <a:srgbClr val="FFFFFF"/>
                </a:solidFill>
                <a:effectLst/>
                <a:uFillTx/>
                <a:latin typeface="DejaVuSans"/>
              </a:rPr>
              <a:t>July 2025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960" y="462240"/>
            <a:ext cx="640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A*STAR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27"/>
          <p:cNvSpPr/>
          <p:nvPr/>
        </p:nvSpPr>
        <p:spPr>
          <a:xfrm>
            <a:off x="0" y="318780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" name="Picture 28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29"/>
          <p:cNvPicPr/>
          <p:nvPr/>
        </p:nvPicPr>
        <p:blipFill>
          <a:blip r:embed="rId4"/>
          <a:stretch/>
        </p:blipFill>
        <p:spPr>
          <a:xfrm>
            <a:off x="334440" y="90252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30"/>
          <p:cNvPicPr/>
          <p:nvPr/>
        </p:nvPicPr>
        <p:blipFill>
          <a:blip r:embed="rId5"/>
          <a:stretch/>
        </p:blipFill>
        <p:spPr>
          <a:xfrm>
            <a:off x="484560" y="10530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334440" y="135000"/>
            <a:ext cx="1355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About Me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35842" y="1022366"/>
            <a:ext cx="5953553" cy="2431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2</a:t>
            </a:r>
            <a:r>
              <a:rPr lang="en-US" sz="1580" b="1" u="none" strike="noStrike" baseline="30000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nd</a:t>
            </a:r>
            <a:r>
              <a:rPr lang="en-US" sz="1580" b="1" u="none" strike="noStrike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-Year Undergraduate at Nanyang Technological University Singapore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350640" y="4512600"/>
            <a:ext cx="10011960" cy="902880"/>
          </a:xfrm>
          <a:custGeom>
            <a:avLst/>
            <a:gdLst/>
            <a:ahLst/>
            <a:cxnLst/>
            <a:rect l="0" t="0" r="r" b="b"/>
            <a:pathLst>
              <a:path w="27811" h="2508">
                <a:moveTo>
                  <a:pt x="0" y="232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8" y="125"/>
                  <a:pt x="11" y="114"/>
                </a:cubicBezTo>
                <a:cubicBezTo>
                  <a:pt x="15" y="103"/>
                  <a:pt x="19" y="92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5"/>
                  <a:pt x="55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4" y="5"/>
                  <a:pt x="113" y="3"/>
                </a:cubicBezTo>
                <a:cubicBezTo>
                  <a:pt x="122" y="1"/>
                  <a:pt x="131" y="0"/>
                  <a:pt x="140" y="0"/>
                </a:cubicBezTo>
                <a:lnTo>
                  <a:pt x="27625" y="0"/>
                </a:lnTo>
                <a:cubicBezTo>
                  <a:pt x="27637" y="0"/>
                  <a:pt x="27649" y="1"/>
                  <a:pt x="27661" y="3"/>
                </a:cubicBezTo>
                <a:cubicBezTo>
                  <a:pt x="27673" y="5"/>
                  <a:pt x="27685" y="9"/>
                  <a:pt x="27696" y="14"/>
                </a:cubicBezTo>
                <a:cubicBezTo>
                  <a:pt x="27707" y="18"/>
                  <a:pt x="27718" y="24"/>
                  <a:pt x="27728" y="31"/>
                </a:cubicBezTo>
                <a:cubicBezTo>
                  <a:pt x="27738" y="38"/>
                  <a:pt x="27748" y="45"/>
                  <a:pt x="27756" y="54"/>
                </a:cubicBezTo>
                <a:cubicBezTo>
                  <a:pt x="27765" y="63"/>
                  <a:pt x="27773" y="72"/>
                  <a:pt x="27779" y="82"/>
                </a:cubicBezTo>
                <a:cubicBezTo>
                  <a:pt x="27786" y="92"/>
                  <a:pt x="27792" y="103"/>
                  <a:pt x="27797" y="114"/>
                </a:cubicBezTo>
                <a:cubicBezTo>
                  <a:pt x="27801" y="125"/>
                  <a:pt x="27805" y="137"/>
                  <a:pt x="27807" y="149"/>
                </a:cubicBezTo>
                <a:cubicBezTo>
                  <a:pt x="27809" y="161"/>
                  <a:pt x="27811" y="173"/>
                  <a:pt x="27811" y="185"/>
                </a:cubicBezTo>
                <a:lnTo>
                  <a:pt x="27811" y="2322"/>
                </a:lnTo>
                <a:cubicBezTo>
                  <a:pt x="27811" y="2334"/>
                  <a:pt x="27809" y="2346"/>
                  <a:pt x="27807" y="2358"/>
                </a:cubicBezTo>
                <a:cubicBezTo>
                  <a:pt x="27805" y="2370"/>
                  <a:pt x="27801" y="2382"/>
                  <a:pt x="27797" y="2393"/>
                </a:cubicBezTo>
                <a:cubicBezTo>
                  <a:pt x="27792" y="2404"/>
                  <a:pt x="27786" y="2415"/>
                  <a:pt x="27779" y="2425"/>
                </a:cubicBezTo>
                <a:cubicBezTo>
                  <a:pt x="27773" y="2435"/>
                  <a:pt x="27765" y="2445"/>
                  <a:pt x="27756" y="2453"/>
                </a:cubicBezTo>
                <a:cubicBezTo>
                  <a:pt x="27748" y="2462"/>
                  <a:pt x="27738" y="2469"/>
                  <a:pt x="27728" y="2476"/>
                </a:cubicBezTo>
                <a:cubicBezTo>
                  <a:pt x="27718" y="2483"/>
                  <a:pt x="27707" y="2489"/>
                  <a:pt x="27696" y="2493"/>
                </a:cubicBezTo>
                <a:cubicBezTo>
                  <a:pt x="27685" y="2498"/>
                  <a:pt x="27673" y="2502"/>
                  <a:pt x="27661" y="2504"/>
                </a:cubicBezTo>
                <a:cubicBezTo>
                  <a:pt x="27649" y="2506"/>
                  <a:pt x="27637" y="2508"/>
                  <a:pt x="27625" y="2508"/>
                </a:cubicBezTo>
                <a:lnTo>
                  <a:pt x="140" y="2508"/>
                </a:lnTo>
                <a:cubicBezTo>
                  <a:pt x="131" y="2508"/>
                  <a:pt x="122" y="2506"/>
                  <a:pt x="113" y="2504"/>
                </a:cubicBezTo>
                <a:cubicBezTo>
                  <a:pt x="104" y="2502"/>
                  <a:pt x="95" y="2498"/>
                  <a:pt x="86" y="2493"/>
                </a:cubicBezTo>
                <a:cubicBezTo>
                  <a:pt x="78" y="2489"/>
                  <a:pt x="70" y="2483"/>
                  <a:pt x="62" y="2476"/>
                </a:cubicBezTo>
                <a:cubicBezTo>
                  <a:pt x="55" y="2469"/>
                  <a:pt x="48" y="2462"/>
                  <a:pt x="41" y="2453"/>
                </a:cubicBezTo>
                <a:cubicBezTo>
                  <a:pt x="35" y="2445"/>
                  <a:pt x="29" y="2435"/>
                  <a:pt x="24" y="2425"/>
                </a:cubicBezTo>
                <a:cubicBezTo>
                  <a:pt x="19" y="2415"/>
                  <a:pt x="15" y="2404"/>
                  <a:pt x="11" y="2393"/>
                </a:cubicBezTo>
                <a:cubicBezTo>
                  <a:pt x="8" y="2382"/>
                  <a:pt x="5" y="2370"/>
                  <a:pt x="3" y="2358"/>
                </a:cubicBezTo>
                <a:cubicBezTo>
                  <a:pt x="1" y="2346"/>
                  <a:pt x="0" y="2334"/>
                  <a:pt x="0" y="2322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334080" y="4512600"/>
            <a:ext cx="67320" cy="902880"/>
          </a:xfrm>
          <a:custGeom>
            <a:avLst/>
            <a:gdLst/>
            <a:ahLst/>
            <a:cxnLst/>
            <a:rect l="0" t="0" r="r" b="b"/>
            <a:pathLst>
              <a:path w="187" h="2508">
                <a:moveTo>
                  <a:pt x="0" y="0"/>
                </a:moveTo>
                <a:lnTo>
                  <a:pt x="187" y="0"/>
                </a:lnTo>
                <a:lnTo>
                  <a:pt x="187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" name="Picture 35"/>
          <p:cNvPicPr/>
          <p:nvPr/>
        </p:nvPicPr>
        <p:blipFill>
          <a:blip r:embed="rId6"/>
          <a:stretch/>
        </p:blipFill>
        <p:spPr>
          <a:xfrm>
            <a:off x="568080" y="471312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36"/>
          <p:cNvPicPr/>
          <p:nvPr/>
        </p:nvPicPr>
        <p:blipFill>
          <a:blip r:embed="rId7"/>
          <a:stretch/>
        </p:blipFill>
        <p:spPr>
          <a:xfrm>
            <a:off x="760320" y="488016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Box 38"/>
          <p:cNvSpPr txBox="1"/>
          <p:nvPr/>
        </p:nvSpPr>
        <p:spPr>
          <a:xfrm>
            <a:off x="1203480" y="4767120"/>
            <a:ext cx="17910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Learning Approach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" name="Picture 39"/>
          <p:cNvPicPr/>
          <p:nvPr/>
        </p:nvPicPr>
        <p:blipFill>
          <a:blip r:embed="rId8"/>
          <a:stretch/>
        </p:blipFill>
        <p:spPr>
          <a:xfrm>
            <a:off x="1253520" y="3175560"/>
            <a:ext cx="8189280" cy="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1203480" y="4998600"/>
            <a:ext cx="5898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Took Coursera courses to attain a brief picture of important aspects of Neural Networks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334080" y="1805040"/>
            <a:ext cx="4178880" cy="2440440"/>
          </a:xfrm>
          <a:custGeom>
            <a:avLst/>
            <a:gdLst/>
            <a:ahLst/>
            <a:cxnLst/>
            <a:rect l="0" t="0" r="r" b="b"/>
            <a:pathLst>
              <a:path w="11608" h="6779">
                <a:moveTo>
                  <a:pt x="0" y="0"/>
                </a:moveTo>
                <a:lnTo>
                  <a:pt x="11608" y="0"/>
                </a:lnTo>
                <a:lnTo>
                  <a:pt x="11608" y="6779"/>
                </a:lnTo>
                <a:lnTo>
                  <a:pt x="0" y="67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334080" y="1805040"/>
            <a:ext cx="33840" cy="2440440"/>
          </a:xfrm>
          <a:custGeom>
            <a:avLst/>
            <a:gdLst/>
            <a:ahLst/>
            <a:cxnLst/>
            <a:rect l="0" t="0" r="r" b="b"/>
            <a:pathLst>
              <a:path w="94" h="6779">
                <a:moveTo>
                  <a:pt x="0" y="0"/>
                </a:moveTo>
                <a:lnTo>
                  <a:pt x="94" y="0"/>
                </a:lnTo>
                <a:lnTo>
                  <a:pt x="94" y="6779"/>
                </a:lnTo>
                <a:lnTo>
                  <a:pt x="0" y="677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4" name="Picture 43"/>
          <p:cNvPicPr/>
          <p:nvPr/>
        </p:nvPicPr>
        <p:blipFill>
          <a:blip r:embed="rId9"/>
          <a:stretch/>
        </p:blipFill>
        <p:spPr>
          <a:xfrm>
            <a:off x="568080" y="200556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Picture 44"/>
          <p:cNvPicPr/>
          <p:nvPr/>
        </p:nvPicPr>
        <p:blipFill>
          <a:blip r:embed="rId10"/>
          <a:stretch/>
        </p:blipFill>
        <p:spPr>
          <a:xfrm>
            <a:off x="735480" y="21726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Box 45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2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626400" y="27158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1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60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1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8" y="50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03480" y="2159640"/>
            <a:ext cx="3020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Theoretical Physics Background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626400" y="298332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1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60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8"/>
                  <a:pt x="95" y="12"/>
                  <a:pt x="101" y="18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8960" y="2658600"/>
            <a:ext cx="2463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Specialized in Quantum Field Theory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626400" y="32504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6"/>
                  <a:pt x="116" y="74"/>
                  <a:pt x="113" y="82"/>
                </a:cubicBezTo>
                <a:cubicBezTo>
                  <a:pt x="110" y="89"/>
                  <a:pt x="106" y="95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4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60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8960" y="2926080"/>
            <a:ext cx="3054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Traditional pen-and-paper research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8960" y="3193560"/>
            <a:ext cx="2873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Strength in exploring derivations from ﬁrst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reeform 53"/>
          <p:cNvSpPr/>
          <p:nvPr/>
        </p:nvSpPr>
        <p:spPr>
          <a:xfrm>
            <a:off x="626400" y="37184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7"/>
                  <a:pt x="116" y="74"/>
                  <a:pt x="113" y="82"/>
                </a:cubicBezTo>
                <a:cubicBezTo>
                  <a:pt x="110" y="89"/>
                  <a:pt x="106" y="95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60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68960" y="3394080"/>
            <a:ext cx="649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principles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68960" y="3661560"/>
            <a:ext cx="3109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No prior experience in programming-intensive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" name="Picture 56"/>
          <p:cNvPicPr/>
          <p:nvPr/>
        </p:nvPicPr>
        <p:blipFill>
          <a:blip r:embed="rId11"/>
          <a:stretch/>
        </p:blipFill>
        <p:spPr>
          <a:xfrm>
            <a:off x="5097600" y="277452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57"/>
          <p:cNvPicPr/>
          <p:nvPr/>
        </p:nvPicPr>
        <p:blipFill>
          <a:blip r:embed="rId12"/>
          <a:stretch/>
        </p:blipFill>
        <p:spPr>
          <a:xfrm>
            <a:off x="5272920" y="2941560"/>
            <a:ext cx="1501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Freeform 58"/>
          <p:cNvSpPr/>
          <p:nvPr/>
        </p:nvSpPr>
        <p:spPr>
          <a:xfrm>
            <a:off x="6183720" y="1805040"/>
            <a:ext cx="4178880" cy="2440440"/>
          </a:xfrm>
          <a:custGeom>
            <a:avLst/>
            <a:gdLst/>
            <a:ahLst/>
            <a:cxnLst/>
            <a:rect l="0" t="0" r="r" b="b"/>
            <a:pathLst>
              <a:path w="11608" h="6779">
                <a:moveTo>
                  <a:pt x="0" y="0"/>
                </a:moveTo>
                <a:lnTo>
                  <a:pt x="11608" y="0"/>
                </a:lnTo>
                <a:lnTo>
                  <a:pt x="11608" y="6779"/>
                </a:lnTo>
                <a:lnTo>
                  <a:pt x="0" y="67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reeform 59"/>
          <p:cNvSpPr/>
          <p:nvPr/>
        </p:nvSpPr>
        <p:spPr>
          <a:xfrm>
            <a:off x="6183720" y="1805040"/>
            <a:ext cx="33840" cy="2440440"/>
          </a:xfrm>
          <a:custGeom>
            <a:avLst/>
            <a:gdLst/>
            <a:ahLst/>
            <a:cxnLst/>
            <a:rect l="0" t="0" r="r" b="b"/>
            <a:pathLst>
              <a:path w="94" h="6779">
                <a:moveTo>
                  <a:pt x="0" y="0"/>
                </a:moveTo>
                <a:lnTo>
                  <a:pt x="94" y="0"/>
                </a:lnTo>
                <a:lnTo>
                  <a:pt x="94" y="6779"/>
                </a:lnTo>
                <a:lnTo>
                  <a:pt x="0" y="677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1" name="Picture 60"/>
          <p:cNvPicPr/>
          <p:nvPr/>
        </p:nvPicPr>
        <p:blipFill>
          <a:blip r:embed="rId13"/>
          <a:stretch/>
        </p:blipFill>
        <p:spPr>
          <a:xfrm>
            <a:off x="6418080" y="200556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61"/>
          <p:cNvPicPr/>
          <p:nvPr/>
        </p:nvPicPr>
        <p:blipFill>
          <a:blip r:embed="rId14"/>
          <a:stretch/>
        </p:blipFill>
        <p:spPr>
          <a:xfrm>
            <a:off x="6585120" y="21726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768960" y="3862080"/>
            <a:ext cx="1797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machine learning research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6476400" y="2715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9" y="117"/>
                </a:cubicBezTo>
                <a:cubicBezTo>
                  <a:pt x="51" y="117"/>
                  <a:pt x="43" y="115"/>
                  <a:pt x="35" y="112"/>
                </a:cubicBezTo>
                <a:cubicBezTo>
                  <a:pt x="28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6"/>
                </a:cubicBezTo>
                <a:cubicBezTo>
                  <a:pt x="115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53120" y="2159640"/>
            <a:ext cx="2951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Transition to Machine Learning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reeform 65"/>
          <p:cNvSpPr/>
          <p:nvPr/>
        </p:nvSpPr>
        <p:spPr>
          <a:xfrm>
            <a:off x="6476400" y="2983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9" y="117"/>
                </a:cubicBezTo>
                <a:cubicBezTo>
                  <a:pt x="51" y="117"/>
                  <a:pt x="43" y="115"/>
                  <a:pt x="35" y="112"/>
                </a:cubicBezTo>
                <a:cubicBezTo>
                  <a:pt x="28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1" y="23"/>
                  <a:pt x="17" y="18"/>
                </a:cubicBezTo>
                <a:cubicBezTo>
                  <a:pt x="22" y="12"/>
                  <a:pt x="28" y="8"/>
                  <a:pt x="35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8"/>
                  <a:pt x="94" y="12"/>
                  <a:pt x="100" y="18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618600" y="2658600"/>
            <a:ext cx="3185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Discovered Physics-Informed Machine-Learning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reeform 67"/>
          <p:cNvSpPr/>
          <p:nvPr/>
        </p:nvSpPr>
        <p:spPr>
          <a:xfrm>
            <a:off x="6476400" y="32504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4"/>
                  <a:pt x="112" y="82"/>
                </a:cubicBezTo>
                <a:cubicBezTo>
                  <a:pt x="109" y="89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1" y="117"/>
                  <a:pt x="43" y="116"/>
                  <a:pt x="35" y="113"/>
                </a:cubicBezTo>
                <a:cubicBezTo>
                  <a:pt x="28" y="110"/>
                  <a:pt x="22" y="106"/>
                  <a:pt x="17" y="100"/>
                </a:cubicBezTo>
                <a:cubicBezTo>
                  <a:pt x="11" y="95"/>
                  <a:pt x="7" y="89"/>
                  <a:pt x="4" y="82"/>
                </a:cubicBezTo>
                <a:cubicBezTo>
                  <a:pt x="1" y="74"/>
                  <a:pt x="0" y="66"/>
                  <a:pt x="0" y="58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3" y="2"/>
                  <a:pt x="51" y="0"/>
                  <a:pt x="59" y="0"/>
                </a:cubicBezTo>
                <a:cubicBezTo>
                  <a:pt x="66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618600" y="2926080"/>
            <a:ext cx="3124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Opportunity to apply physics foundations to 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reeform 69"/>
          <p:cNvSpPr/>
          <p:nvPr/>
        </p:nvSpPr>
        <p:spPr>
          <a:xfrm>
            <a:off x="6476400" y="35179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9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1" y="117"/>
                  <a:pt x="43" y="116"/>
                  <a:pt x="35" y="113"/>
                </a:cubicBezTo>
                <a:cubicBezTo>
                  <a:pt x="28" y="110"/>
                  <a:pt x="22" y="106"/>
                  <a:pt x="17" y="100"/>
                </a:cubicBezTo>
                <a:cubicBezTo>
                  <a:pt x="11" y="95"/>
                  <a:pt x="7" y="89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2"/>
                  <a:pt x="1" y="44"/>
                  <a:pt x="4" y="37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3" y="2"/>
                  <a:pt x="51" y="0"/>
                  <a:pt x="59" y="0"/>
                </a:cubicBezTo>
                <a:cubicBezTo>
                  <a:pt x="66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7"/>
                </a:cubicBezTo>
                <a:cubicBezTo>
                  <a:pt x="115" y="44"/>
                  <a:pt x="117" y="52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618600" y="3193560"/>
            <a:ext cx="300883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dirty="0">
                <a:solidFill>
                  <a:srgbClr val="374151"/>
                </a:solidFill>
                <a:latin typeface="DejaVuSans"/>
              </a:rPr>
              <a:t>First hands-on experience in programming for research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618600" y="3461040"/>
            <a:ext cx="3258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Explored beautiful blend of fundamental physics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618600" y="3661560"/>
            <a:ext cx="141224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with </a:t>
            </a:r>
            <a:r>
              <a:rPr lang="en-US" sz="1050" dirty="0">
                <a:solidFill>
                  <a:srgbClr val="374151"/>
                </a:solidFill>
                <a:latin typeface="DejaVuSans"/>
                <a:ea typeface="DejaVuSans"/>
              </a:rPr>
              <a:t>high level computing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/>
          <p:nvPr/>
        </p:nvPicPr>
        <p:blipFill>
          <a:blip r:embed="rId2"/>
          <a:stretch/>
        </p:blipFill>
        <p:spPr>
          <a:xfrm>
            <a:off x="0" y="0"/>
            <a:ext cx="10696320" cy="625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Freeform 75"/>
          <p:cNvSpPr/>
          <p:nvPr/>
        </p:nvSpPr>
        <p:spPr>
          <a:xfrm>
            <a:off x="284040" y="4913640"/>
            <a:ext cx="10145160" cy="1069920"/>
          </a:xfrm>
          <a:custGeom>
            <a:avLst/>
            <a:gdLst/>
            <a:ahLst/>
            <a:cxnLst/>
            <a:rect l="0" t="0" r="r" b="b"/>
            <a:pathLst>
              <a:path w="28181" h="2972">
                <a:moveTo>
                  <a:pt x="0" y="2786"/>
                </a:moveTo>
                <a:lnTo>
                  <a:pt x="0" y="185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1"/>
                  <a:pt x="28032" y="3"/>
                </a:cubicBezTo>
                <a:cubicBezTo>
                  <a:pt x="28044" y="6"/>
                  <a:pt x="28055" y="9"/>
                  <a:pt x="28067" y="14"/>
                </a:cubicBezTo>
                <a:cubicBezTo>
                  <a:pt x="28078" y="19"/>
                  <a:pt x="28089" y="24"/>
                  <a:pt x="28099" y="31"/>
                </a:cubicBezTo>
                <a:cubicBezTo>
                  <a:pt x="28109" y="38"/>
                  <a:pt x="28118" y="46"/>
                  <a:pt x="28127" y="54"/>
                </a:cubicBezTo>
                <a:cubicBezTo>
                  <a:pt x="28136" y="63"/>
                  <a:pt x="28143" y="72"/>
                  <a:pt x="28150" y="82"/>
                </a:cubicBezTo>
                <a:cubicBezTo>
                  <a:pt x="28157" y="92"/>
                  <a:pt x="28163" y="103"/>
                  <a:pt x="28167" y="114"/>
                </a:cubicBezTo>
                <a:cubicBezTo>
                  <a:pt x="28172" y="126"/>
                  <a:pt x="28175" y="137"/>
                  <a:pt x="28178" y="149"/>
                </a:cubicBezTo>
                <a:cubicBezTo>
                  <a:pt x="28180" y="161"/>
                  <a:pt x="28181" y="173"/>
                  <a:pt x="28181" y="185"/>
                </a:cubicBezTo>
                <a:lnTo>
                  <a:pt x="28181" y="2786"/>
                </a:lnTo>
                <a:cubicBezTo>
                  <a:pt x="28181" y="2799"/>
                  <a:pt x="28180" y="2811"/>
                  <a:pt x="28178" y="2823"/>
                </a:cubicBezTo>
                <a:cubicBezTo>
                  <a:pt x="28175" y="2835"/>
                  <a:pt x="28172" y="2846"/>
                  <a:pt x="28167" y="2857"/>
                </a:cubicBezTo>
                <a:cubicBezTo>
                  <a:pt x="28163" y="2869"/>
                  <a:pt x="28157" y="2879"/>
                  <a:pt x="28150" y="2890"/>
                </a:cubicBezTo>
                <a:cubicBezTo>
                  <a:pt x="28143" y="2900"/>
                  <a:pt x="28136" y="2909"/>
                  <a:pt x="28127" y="2918"/>
                </a:cubicBezTo>
                <a:cubicBezTo>
                  <a:pt x="28118" y="2926"/>
                  <a:pt x="28109" y="2934"/>
                  <a:pt x="28099" y="2941"/>
                </a:cubicBezTo>
                <a:cubicBezTo>
                  <a:pt x="28089" y="2948"/>
                  <a:pt x="28078" y="2953"/>
                  <a:pt x="28067" y="2958"/>
                </a:cubicBezTo>
                <a:cubicBezTo>
                  <a:pt x="28055" y="2963"/>
                  <a:pt x="28044" y="2966"/>
                  <a:pt x="28032" y="2968"/>
                </a:cubicBezTo>
                <a:cubicBezTo>
                  <a:pt x="28020" y="2971"/>
                  <a:pt x="28008" y="2972"/>
                  <a:pt x="27996" y="2972"/>
                </a:cubicBezTo>
                <a:lnTo>
                  <a:pt x="139" y="2972"/>
                </a:lnTo>
                <a:cubicBezTo>
                  <a:pt x="130" y="2972"/>
                  <a:pt x="121" y="2971"/>
                  <a:pt x="112" y="2968"/>
                </a:cubicBezTo>
                <a:cubicBezTo>
                  <a:pt x="103" y="2966"/>
                  <a:pt x="94" y="2963"/>
                  <a:pt x="86" y="2958"/>
                </a:cubicBezTo>
                <a:cubicBezTo>
                  <a:pt x="77" y="2953"/>
                  <a:pt x="69" y="2948"/>
                  <a:pt x="62" y="2941"/>
                </a:cubicBezTo>
                <a:cubicBezTo>
                  <a:pt x="54" y="2934"/>
                  <a:pt x="47" y="2926"/>
                  <a:pt x="41" y="2918"/>
                </a:cubicBezTo>
                <a:cubicBezTo>
                  <a:pt x="34" y="2909"/>
                  <a:pt x="28" y="2900"/>
                  <a:pt x="23" y="2890"/>
                </a:cubicBezTo>
                <a:cubicBezTo>
                  <a:pt x="18" y="2879"/>
                  <a:pt x="14" y="2869"/>
                  <a:pt x="10" y="2857"/>
                </a:cubicBezTo>
                <a:cubicBezTo>
                  <a:pt x="7" y="2846"/>
                  <a:pt x="4" y="2835"/>
                  <a:pt x="2" y="2823"/>
                </a:cubicBezTo>
                <a:cubicBezTo>
                  <a:pt x="1" y="2811"/>
                  <a:pt x="0" y="2799"/>
                  <a:pt x="0" y="278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reeform 76"/>
          <p:cNvSpPr/>
          <p:nvPr/>
        </p:nvSpPr>
        <p:spPr>
          <a:xfrm>
            <a:off x="267120" y="4913640"/>
            <a:ext cx="67320" cy="1069920"/>
          </a:xfrm>
          <a:custGeom>
            <a:avLst/>
            <a:gdLst/>
            <a:ahLst/>
            <a:cxnLst/>
            <a:rect l="0" t="0" r="r" b="b"/>
            <a:pathLst>
              <a:path w="187" h="2972">
                <a:moveTo>
                  <a:pt x="0" y="0"/>
                </a:moveTo>
                <a:lnTo>
                  <a:pt x="187" y="0"/>
                </a:lnTo>
                <a:lnTo>
                  <a:pt x="187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34440" y="135000"/>
            <a:ext cx="2767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The Learning Curve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9" name="Picture 78"/>
          <p:cNvPicPr/>
          <p:nvPr/>
        </p:nvPicPr>
        <p:blipFill>
          <a:blip r:embed="rId4"/>
          <a:stretch/>
        </p:blipFill>
        <p:spPr>
          <a:xfrm>
            <a:off x="468000" y="544860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79"/>
          <p:cNvSpPr txBox="1"/>
          <p:nvPr/>
        </p:nvSpPr>
        <p:spPr>
          <a:xfrm>
            <a:off x="468000" y="5101200"/>
            <a:ext cx="1559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Key Adaptations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93720" y="5433120"/>
            <a:ext cx="2639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Developed resourcefulness in problem-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2" name="Picture 81"/>
          <p:cNvPicPr/>
          <p:nvPr/>
        </p:nvPicPr>
        <p:blipFill>
          <a:blip r:embed="rId5"/>
          <a:stretch/>
        </p:blipFill>
        <p:spPr>
          <a:xfrm>
            <a:off x="3735360" y="544860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82"/>
          <p:cNvSpPr txBox="1"/>
          <p:nvPr/>
        </p:nvSpPr>
        <p:spPr>
          <a:xfrm>
            <a:off x="693720" y="5633640"/>
            <a:ext cx="476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solving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Picture 83"/>
          <p:cNvPicPr/>
          <p:nvPr/>
        </p:nvPicPr>
        <p:blipFill>
          <a:blip r:embed="rId6"/>
          <a:stretch/>
        </p:blipFill>
        <p:spPr>
          <a:xfrm>
            <a:off x="6994440" y="544860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84"/>
          <p:cNvSpPr txBox="1"/>
          <p:nvPr/>
        </p:nvSpPr>
        <p:spPr>
          <a:xfrm>
            <a:off x="4025160" y="5433120"/>
            <a:ext cx="2737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Built interdisciplinary knowledge bridges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306560" y="5433120"/>
            <a:ext cx="2856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Learned to translate physics concepts into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7" name="Picture 86"/>
          <p:cNvPicPr/>
          <p:nvPr/>
        </p:nvPicPr>
        <p:blipFill>
          <a:blip r:embed="rId7"/>
          <a:stretch/>
        </p:blipFill>
        <p:spPr>
          <a:xfrm>
            <a:off x="267480" y="835560"/>
            <a:ext cx="10161360" cy="167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Freeform 87"/>
          <p:cNvSpPr/>
          <p:nvPr/>
        </p:nvSpPr>
        <p:spPr>
          <a:xfrm>
            <a:off x="852120" y="2707560"/>
            <a:ext cx="2800080" cy="1370520"/>
          </a:xfrm>
          <a:custGeom>
            <a:avLst/>
            <a:gdLst/>
            <a:ahLst/>
            <a:cxnLst/>
            <a:rect l="0" t="0" r="r" b="b"/>
            <a:pathLst>
              <a:path w="7778" h="3807">
                <a:moveTo>
                  <a:pt x="0" y="0"/>
                </a:moveTo>
                <a:lnTo>
                  <a:pt x="7778" y="0"/>
                </a:lnTo>
                <a:lnTo>
                  <a:pt x="7778" y="3807"/>
                </a:lnTo>
                <a:lnTo>
                  <a:pt x="0" y="38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reeform 88"/>
          <p:cNvSpPr/>
          <p:nvPr/>
        </p:nvSpPr>
        <p:spPr>
          <a:xfrm>
            <a:off x="852120" y="2707560"/>
            <a:ext cx="33840" cy="1370520"/>
          </a:xfrm>
          <a:custGeom>
            <a:avLst/>
            <a:gdLst/>
            <a:ahLst/>
            <a:cxnLst/>
            <a:rect l="0" t="0" r="r" b="b"/>
            <a:pathLst>
              <a:path w="94" h="3807">
                <a:moveTo>
                  <a:pt x="0" y="0"/>
                </a:moveTo>
                <a:lnTo>
                  <a:pt x="94" y="0"/>
                </a:lnTo>
                <a:lnTo>
                  <a:pt x="94" y="3807"/>
                </a:lnTo>
                <a:lnTo>
                  <a:pt x="0" y="3807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306560" y="5633640"/>
            <a:ext cx="324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reeform 90"/>
          <p:cNvSpPr/>
          <p:nvPr/>
        </p:nvSpPr>
        <p:spPr>
          <a:xfrm>
            <a:off x="1044360" y="3217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0"/>
                  <a:pt x="2" y="42"/>
                  <a:pt x="5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2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019520" y="2861640"/>
            <a:ext cx="1833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Theoretical Physics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reeform 92"/>
          <p:cNvSpPr/>
          <p:nvPr/>
        </p:nvSpPr>
        <p:spPr>
          <a:xfrm>
            <a:off x="1044360" y="3417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5" y="81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3"/>
                  <a:pt x="5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186560" y="3160080"/>
            <a:ext cx="2336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Quantum Field Theory background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reeform 94"/>
          <p:cNvSpPr/>
          <p:nvPr/>
        </p:nvSpPr>
        <p:spPr>
          <a:xfrm>
            <a:off x="1044360" y="3618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0"/>
                </a:cubicBezTo>
                <a:cubicBezTo>
                  <a:pt x="110" y="87"/>
                  <a:pt x="106" y="93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3"/>
                  <a:pt x="7" y="87"/>
                  <a:pt x="5" y="80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7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186560" y="3360600"/>
            <a:ext cx="2290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Pen-and-paper research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reeform 96"/>
          <p:cNvSpPr/>
          <p:nvPr/>
        </p:nvSpPr>
        <p:spPr>
          <a:xfrm>
            <a:off x="1044360" y="3818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0" y="117"/>
                  <a:pt x="43" y="115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4"/>
                  <a:pt x="7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7" y="30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8"/>
                  <a:pt x="95" y="12"/>
                  <a:pt x="100" y="18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186560" y="3561120"/>
            <a:ext cx="1977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Strong theoretical foundation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reeform 98"/>
          <p:cNvSpPr/>
          <p:nvPr/>
        </p:nvSpPr>
        <p:spPr>
          <a:xfrm>
            <a:off x="476280" y="3125160"/>
            <a:ext cx="16920" cy="167400"/>
          </a:xfrm>
          <a:custGeom>
            <a:avLst/>
            <a:gdLst/>
            <a:ahLst/>
            <a:cxnLst/>
            <a:rect l="0" t="0" r="r" b="b"/>
            <a:pathLst>
              <a:path w="47" h="465">
                <a:moveTo>
                  <a:pt x="0" y="0"/>
                </a:moveTo>
                <a:lnTo>
                  <a:pt x="47" y="0"/>
                </a:lnTo>
                <a:lnTo>
                  <a:pt x="47" y="465"/>
                </a:lnTo>
                <a:lnTo>
                  <a:pt x="0" y="46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8"/>
          <a:stretch/>
        </p:blipFill>
        <p:spPr>
          <a:xfrm>
            <a:off x="267480" y="27075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100"/>
          <p:cNvPicPr/>
          <p:nvPr/>
        </p:nvPicPr>
        <p:blipFill>
          <a:blip r:embed="rId9"/>
          <a:stretch/>
        </p:blipFill>
        <p:spPr>
          <a:xfrm>
            <a:off x="392760" y="2832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Freeform 101"/>
          <p:cNvSpPr/>
          <p:nvPr/>
        </p:nvSpPr>
        <p:spPr>
          <a:xfrm>
            <a:off x="4236840" y="2707560"/>
            <a:ext cx="2808000" cy="1771920"/>
          </a:xfrm>
          <a:custGeom>
            <a:avLst/>
            <a:gdLst/>
            <a:ahLst/>
            <a:cxnLst/>
            <a:rect l="0" t="0" r="r" b="b"/>
            <a:pathLst>
              <a:path w="7800" h="4922">
                <a:moveTo>
                  <a:pt x="0" y="0"/>
                </a:moveTo>
                <a:lnTo>
                  <a:pt x="7800" y="0"/>
                </a:lnTo>
                <a:lnTo>
                  <a:pt x="7800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reeform 102"/>
          <p:cNvSpPr/>
          <p:nvPr/>
        </p:nvSpPr>
        <p:spPr>
          <a:xfrm>
            <a:off x="4236840" y="2707560"/>
            <a:ext cx="33480" cy="1771920"/>
          </a:xfrm>
          <a:custGeom>
            <a:avLst/>
            <a:gdLst/>
            <a:ahLst/>
            <a:cxnLst/>
            <a:rect l="0" t="0" r="r" b="b"/>
            <a:pathLst>
              <a:path w="93" h="4922">
                <a:moveTo>
                  <a:pt x="0" y="0"/>
                </a:moveTo>
                <a:lnTo>
                  <a:pt x="93" y="0"/>
                </a:lnTo>
                <a:lnTo>
                  <a:pt x="93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186560" y="3761640"/>
            <a:ext cx="2299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Limited computational experience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reeform 104"/>
          <p:cNvSpPr/>
          <p:nvPr/>
        </p:nvSpPr>
        <p:spPr>
          <a:xfrm>
            <a:off x="4428720" y="3217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59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0"/>
                  <a:pt x="2" y="42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2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406760" y="2861640"/>
            <a:ext cx="1586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Transition Phase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reeform 106"/>
          <p:cNvSpPr/>
          <p:nvPr/>
        </p:nvSpPr>
        <p:spPr>
          <a:xfrm>
            <a:off x="4428720" y="3417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59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3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573800" y="3160080"/>
            <a:ext cx="2226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First encounter with ML concepts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573800" y="3360600"/>
            <a:ext cx="2071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Self-learning through Coursera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reeform 109"/>
          <p:cNvSpPr/>
          <p:nvPr/>
        </p:nvSpPr>
        <p:spPr>
          <a:xfrm>
            <a:off x="4428720" y="3818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5"/>
                  <a:pt x="67" y="117"/>
                  <a:pt x="59" y="117"/>
                </a:cubicBezTo>
                <a:cubicBezTo>
                  <a:pt x="51" y="117"/>
                  <a:pt x="43" y="115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30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8"/>
                  <a:pt x="95" y="12"/>
                  <a:pt x="100" y="18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573800" y="3561120"/>
            <a:ext cx="518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courses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reeform 111"/>
          <p:cNvSpPr/>
          <p:nvPr/>
        </p:nvSpPr>
        <p:spPr>
          <a:xfrm>
            <a:off x="4428720" y="401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6"/>
                  <a:pt x="67" y="117"/>
                  <a:pt x="59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2"/>
                  <a:pt x="100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573800" y="3761640"/>
            <a:ext cx="2301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Adapting to independent research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573800" y="3962520"/>
            <a:ext cx="1994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Managing reduced supervisor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reeform 114"/>
          <p:cNvSpPr/>
          <p:nvPr/>
        </p:nvSpPr>
        <p:spPr>
          <a:xfrm>
            <a:off x="3860640" y="3125160"/>
            <a:ext cx="16920" cy="167400"/>
          </a:xfrm>
          <a:custGeom>
            <a:avLst/>
            <a:gdLst/>
            <a:ahLst/>
            <a:cxnLst/>
            <a:rect l="0" t="0" r="r" b="b"/>
            <a:pathLst>
              <a:path w="47" h="465">
                <a:moveTo>
                  <a:pt x="0" y="0"/>
                </a:moveTo>
                <a:lnTo>
                  <a:pt x="47" y="0"/>
                </a:lnTo>
                <a:lnTo>
                  <a:pt x="47" y="465"/>
                </a:lnTo>
                <a:lnTo>
                  <a:pt x="0" y="46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" name="Picture 115"/>
          <p:cNvPicPr/>
          <p:nvPr/>
        </p:nvPicPr>
        <p:blipFill>
          <a:blip r:embed="rId10"/>
          <a:stretch/>
        </p:blipFill>
        <p:spPr>
          <a:xfrm>
            <a:off x="3651840" y="27075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116"/>
          <p:cNvPicPr/>
          <p:nvPr/>
        </p:nvPicPr>
        <p:blipFill>
          <a:blip r:embed="rId11"/>
          <a:stretch/>
        </p:blipFill>
        <p:spPr>
          <a:xfrm>
            <a:off x="3777120" y="2832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Freeform 117"/>
          <p:cNvSpPr/>
          <p:nvPr/>
        </p:nvSpPr>
        <p:spPr>
          <a:xfrm>
            <a:off x="7629480" y="2707560"/>
            <a:ext cx="2799720" cy="1571400"/>
          </a:xfrm>
          <a:custGeom>
            <a:avLst/>
            <a:gdLst/>
            <a:ahLst/>
            <a:cxnLst/>
            <a:rect l="0" t="0" r="r" b="b"/>
            <a:pathLst>
              <a:path w="7777" h="4365">
                <a:moveTo>
                  <a:pt x="0" y="0"/>
                </a:moveTo>
                <a:lnTo>
                  <a:pt x="7777" y="0"/>
                </a:lnTo>
                <a:lnTo>
                  <a:pt x="7777" y="4365"/>
                </a:lnTo>
                <a:lnTo>
                  <a:pt x="0" y="43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reeform 118"/>
          <p:cNvSpPr/>
          <p:nvPr/>
        </p:nvSpPr>
        <p:spPr>
          <a:xfrm>
            <a:off x="7629480" y="2707560"/>
            <a:ext cx="33840" cy="1571400"/>
          </a:xfrm>
          <a:custGeom>
            <a:avLst/>
            <a:gdLst/>
            <a:ahLst/>
            <a:cxnLst/>
            <a:rect l="0" t="0" r="r" b="b"/>
            <a:pathLst>
              <a:path w="94" h="4365">
                <a:moveTo>
                  <a:pt x="0" y="0"/>
                </a:moveTo>
                <a:lnTo>
                  <a:pt x="94" y="0"/>
                </a:lnTo>
                <a:lnTo>
                  <a:pt x="94" y="4365"/>
                </a:lnTo>
                <a:lnTo>
                  <a:pt x="0" y="436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573800" y="4163040"/>
            <a:ext cx="834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involvement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reeform 120"/>
          <p:cNvSpPr/>
          <p:nvPr/>
        </p:nvSpPr>
        <p:spPr>
          <a:xfrm>
            <a:off x="7821720" y="3217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5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30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0"/>
                  <a:pt x="1" y="42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5" y="22"/>
                  <a:pt x="110" y="28"/>
                  <a:pt x="113" y="35"/>
                </a:cubicBezTo>
                <a:cubicBezTo>
                  <a:pt x="116" y="42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794000" y="2861640"/>
            <a:ext cx="2457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Applied Machine Learning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reeform 122"/>
          <p:cNvSpPr/>
          <p:nvPr/>
        </p:nvSpPr>
        <p:spPr>
          <a:xfrm>
            <a:off x="7821720" y="3417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5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30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5" y="22"/>
                  <a:pt x="110" y="28"/>
                  <a:pt x="113" y="35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961040" y="3160080"/>
            <a:ext cx="2309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Physics-Informed Neural Networks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961040" y="3360600"/>
            <a:ext cx="2026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Integrating physical principles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reeform 125"/>
          <p:cNvSpPr/>
          <p:nvPr/>
        </p:nvSpPr>
        <p:spPr>
          <a:xfrm>
            <a:off x="7821720" y="3818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5" y="94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3"/>
                </a:cubicBezTo>
                <a:cubicBezTo>
                  <a:pt x="30" y="110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1" y="23"/>
                  <a:pt x="17" y="18"/>
                </a:cubicBezTo>
                <a:cubicBezTo>
                  <a:pt x="22" y="12"/>
                  <a:pt x="30" y="8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8"/>
                  <a:pt x="95" y="12"/>
                  <a:pt x="100" y="18"/>
                </a:cubicBezTo>
                <a:cubicBezTo>
                  <a:pt x="105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961040" y="3561120"/>
            <a:ext cx="518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with ML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reeform 127"/>
          <p:cNvSpPr/>
          <p:nvPr/>
        </p:nvSpPr>
        <p:spPr>
          <a:xfrm>
            <a:off x="7821720" y="401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5" y="95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2" y="105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2"/>
                  <a:pt x="100" y="17"/>
                </a:cubicBezTo>
                <a:cubicBezTo>
                  <a:pt x="105" y="22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7961040" y="3761640"/>
            <a:ext cx="2003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Developing predictive models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0" name="Picture 129"/>
          <p:cNvPicPr/>
          <p:nvPr/>
        </p:nvPicPr>
        <p:blipFill>
          <a:blip r:embed="rId12"/>
          <a:stretch/>
        </p:blipFill>
        <p:spPr>
          <a:xfrm>
            <a:off x="7044840" y="27075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130"/>
          <p:cNvPicPr/>
          <p:nvPr/>
        </p:nvPicPr>
        <p:blipFill>
          <a:blip r:embed="rId13"/>
          <a:stretch/>
        </p:blipFill>
        <p:spPr>
          <a:xfrm>
            <a:off x="7170120" y="2832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Box 131"/>
          <p:cNvSpPr txBox="1"/>
          <p:nvPr/>
        </p:nvSpPr>
        <p:spPr>
          <a:xfrm>
            <a:off x="7961040" y="3962520"/>
            <a:ext cx="2238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Growing computational expertise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0110600" y="593460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3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reeform 133"/>
          <p:cNvSpPr/>
          <p:nvPr/>
        </p:nvSpPr>
        <p:spPr>
          <a:xfrm>
            <a:off x="0" y="0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" name="Picture 134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Freeform 135"/>
          <p:cNvSpPr/>
          <p:nvPr/>
        </p:nvSpPr>
        <p:spPr>
          <a:xfrm>
            <a:off x="267120" y="835560"/>
            <a:ext cx="10162080" cy="1103400"/>
          </a:xfrm>
          <a:custGeom>
            <a:avLst/>
            <a:gdLst/>
            <a:ahLst/>
            <a:cxnLst/>
            <a:rect l="0" t="0" r="r" b="b"/>
            <a:pathLst>
              <a:path w="28228" h="3065">
                <a:moveTo>
                  <a:pt x="0" y="0"/>
                </a:moveTo>
                <a:lnTo>
                  <a:pt x="28228" y="0"/>
                </a:lnTo>
                <a:lnTo>
                  <a:pt x="28228" y="3065"/>
                </a:lnTo>
                <a:lnTo>
                  <a:pt x="0" y="30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reeform 136"/>
          <p:cNvSpPr/>
          <p:nvPr/>
        </p:nvSpPr>
        <p:spPr>
          <a:xfrm>
            <a:off x="267120" y="835560"/>
            <a:ext cx="33840" cy="1103400"/>
          </a:xfrm>
          <a:custGeom>
            <a:avLst/>
            <a:gdLst/>
            <a:ahLst/>
            <a:cxnLst/>
            <a:rect l="0" t="0" r="r" b="b"/>
            <a:pathLst>
              <a:path w="94" h="3065">
                <a:moveTo>
                  <a:pt x="0" y="0"/>
                </a:moveTo>
                <a:lnTo>
                  <a:pt x="94" y="0"/>
                </a:lnTo>
                <a:lnTo>
                  <a:pt x="94" y="3065"/>
                </a:lnTo>
                <a:lnTo>
                  <a:pt x="0" y="306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" name="Picture 137"/>
          <p:cNvPicPr/>
          <p:nvPr/>
        </p:nvPicPr>
        <p:blipFill>
          <a:blip r:embed="rId4"/>
          <a:stretch/>
        </p:blipFill>
        <p:spPr>
          <a:xfrm>
            <a:off x="501480" y="1069560"/>
            <a:ext cx="255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138"/>
          <p:cNvPicPr/>
          <p:nvPr/>
        </p:nvPicPr>
        <p:blipFill>
          <a:blip r:embed="rId5"/>
          <a:stretch/>
        </p:blipFill>
        <p:spPr>
          <a:xfrm>
            <a:off x="543240" y="1194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139"/>
          <p:cNvSpPr txBox="1"/>
          <p:nvPr/>
        </p:nvSpPr>
        <p:spPr>
          <a:xfrm>
            <a:off x="334440" y="135000"/>
            <a:ext cx="7018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Physics-Informed Machine Learning: The Concept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888840" y="1056600"/>
            <a:ext cx="13435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The Challenge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888840" y="1355040"/>
            <a:ext cx="8938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 experiments, physical systems are subject to environmental randomness. Despite knowing ﬁrst principles, we lack the capacity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reeform 142"/>
          <p:cNvSpPr/>
          <p:nvPr/>
        </p:nvSpPr>
        <p:spPr>
          <a:xfrm>
            <a:off x="802080" y="2356560"/>
            <a:ext cx="2139480" cy="1069920"/>
          </a:xfrm>
          <a:custGeom>
            <a:avLst/>
            <a:gdLst/>
            <a:ahLst/>
            <a:cxnLst/>
            <a:rect l="0" t="0" r="r" b="b"/>
            <a:pathLst>
              <a:path w="5943" h="2972">
                <a:moveTo>
                  <a:pt x="0" y="27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5758" y="0"/>
                </a:lnTo>
                <a:cubicBezTo>
                  <a:pt x="5770" y="0"/>
                  <a:pt x="5782" y="1"/>
                  <a:pt x="5794" y="3"/>
                </a:cubicBezTo>
                <a:cubicBezTo>
                  <a:pt x="5806" y="6"/>
                  <a:pt x="5818" y="9"/>
                  <a:pt x="5829" y="14"/>
                </a:cubicBezTo>
                <a:cubicBezTo>
                  <a:pt x="5840" y="18"/>
                  <a:pt x="5851" y="24"/>
                  <a:pt x="5861" y="31"/>
                </a:cubicBezTo>
                <a:cubicBezTo>
                  <a:pt x="5871" y="38"/>
                  <a:pt x="5880" y="45"/>
                  <a:pt x="5889" y="54"/>
                </a:cubicBezTo>
                <a:cubicBezTo>
                  <a:pt x="5898" y="63"/>
                  <a:pt x="5905" y="72"/>
                  <a:pt x="5912" y="82"/>
                </a:cubicBezTo>
                <a:cubicBezTo>
                  <a:pt x="5919" y="92"/>
                  <a:pt x="5925" y="103"/>
                  <a:pt x="5929" y="114"/>
                </a:cubicBezTo>
                <a:cubicBezTo>
                  <a:pt x="5934" y="125"/>
                  <a:pt x="5938" y="137"/>
                  <a:pt x="5940" y="149"/>
                </a:cubicBezTo>
                <a:cubicBezTo>
                  <a:pt x="5942" y="161"/>
                  <a:pt x="5943" y="173"/>
                  <a:pt x="5943" y="185"/>
                </a:cubicBezTo>
                <a:lnTo>
                  <a:pt x="5943" y="2786"/>
                </a:lnTo>
                <a:cubicBezTo>
                  <a:pt x="5943" y="2798"/>
                  <a:pt x="5942" y="2810"/>
                  <a:pt x="5940" y="2822"/>
                </a:cubicBezTo>
                <a:cubicBezTo>
                  <a:pt x="5938" y="2834"/>
                  <a:pt x="5934" y="2846"/>
                  <a:pt x="5929" y="2857"/>
                </a:cubicBezTo>
                <a:cubicBezTo>
                  <a:pt x="5925" y="2868"/>
                  <a:pt x="5919" y="2879"/>
                  <a:pt x="5912" y="2889"/>
                </a:cubicBezTo>
                <a:cubicBezTo>
                  <a:pt x="5905" y="2899"/>
                  <a:pt x="5898" y="2909"/>
                  <a:pt x="5889" y="2917"/>
                </a:cubicBezTo>
                <a:cubicBezTo>
                  <a:pt x="5880" y="2926"/>
                  <a:pt x="5871" y="2934"/>
                  <a:pt x="5861" y="2941"/>
                </a:cubicBezTo>
                <a:cubicBezTo>
                  <a:pt x="5851" y="2947"/>
                  <a:pt x="5840" y="2953"/>
                  <a:pt x="5829" y="2958"/>
                </a:cubicBezTo>
                <a:cubicBezTo>
                  <a:pt x="5818" y="2962"/>
                  <a:pt x="5806" y="2966"/>
                  <a:pt x="5794" y="2968"/>
                </a:cubicBezTo>
                <a:cubicBezTo>
                  <a:pt x="5782" y="2971"/>
                  <a:pt x="5770" y="2972"/>
                  <a:pt x="5758" y="2972"/>
                </a:cubicBezTo>
                <a:lnTo>
                  <a:pt x="186" y="2972"/>
                </a:lnTo>
                <a:cubicBezTo>
                  <a:pt x="173" y="2972"/>
                  <a:pt x="161" y="2971"/>
                  <a:pt x="149" y="2968"/>
                </a:cubicBezTo>
                <a:cubicBezTo>
                  <a:pt x="137" y="2966"/>
                  <a:pt x="126" y="2962"/>
                  <a:pt x="115" y="2958"/>
                </a:cubicBezTo>
                <a:cubicBezTo>
                  <a:pt x="103" y="2953"/>
                  <a:pt x="93" y="2947"/>
                  <a:pt x="82" y="2941"/>
                </a:cubicBezTo>
                <a:cubicBezTo>
                  <a:pt x="72" y="2934"/>
                  <a:pt x="63" y="2926"/>
                  <a:pt x="54" y="2917"/>
                </a:cubicBezTo>
                <a:cubicBezTo>
                  <a:pt x="46" y="2909"/>
                  <a:pt x="38" y="2899"/>
                  <a:pt x="31" y="2889"/>
                </a:cubicBezTo>
                <a:cubicBezTo>
                  <a:pt x="24" y="2879"/>
                  <a:pt x="19" y="2868"/>
                  <a:pt x="14" y="2857"/>
                </a:cubicBezTo>
                <a:cubicBezTo>
                  <a:pt x="9" y="2846"/>
                  <a:pt x="6" y="2834"/>
                  <a:pt x="4" y="2822"/>
                </a:cubicBezTo>
                <a:cubicBezTo>
                  <a:pt x="1" y="2810"/>
                  <a:pt x="0" y="2798"/>
                  <a:pt x="0" y="27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" name="Picture 143"/>
          <p:cNvPicPr/>
          <p:nvPr/>
        </p:nvPicPr>
        <p:blipFill>
          <a:blip r:embed="rId6"/>
          <a:stretch/>
        </p:blipFill>
        <p:spPr>
          <a:xfrm>
            <a:off x="1704600" y="249012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Picture 144"/>
          <p:cNvPicPr/>
          <p:nvPr/>
        </p:nvPicPr>
        <p:blipFill>
          <a:blip r:embed="rId7"/>
          <a:stretch/>
        </p:blipFill>
        <p:spPr>
          <a:xfrm>
            <a:off x="1805040" y="2590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Box 145"/>
          <p:cNvSpPr txBox="1"/>
          <p:nvPr/>
        </p:nvSpPr>
        <p:spPr>
          <a:xfrm>
            <a:off x="888840" y="1555560"/>
            <a:ext cx="6489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identify subtle inconsistencies from the environment or minor discrepancies in the system itself.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205640" y="2918880"/>
            <a:ext cx="1337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Physics Domain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" name="Picture 147"/>
          <p:cNvPicPr/>
          <p:nvPr/>
        </p:nvPicPr>
        <p:blipFill>
          <a:blip r:embed="rId8"/>
          <a:stretch/>
        </p:blipFill>
        <p:spPr>
          <a:xfrm>
            <a:off x="3075120" y="2874600"/>
            <a:ext cx="1069200" cy="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Freeform 148"/>
          <p:cNvSpPr/>
          <p:nvPr/>
        </p:nvSpPr>
        <p:spPr>
          <a:xfrm>
            <a:off x="4278600" y="2272680"/>
            <a:ext cx="2139480" cy="1237320"/>
          </a:xfrm>
          <a:custGeom>
            <a:avLst/>
            <a:gdLst/>
            <a:ahLst/>
            <a:cxnLst/>
            <a:rect l="0" t="0" r="r" b="b"/>
            <a:pathLst>
              <a:path w="5943" h="3437">
                <a:moveTo>
                  <a:pt x="0" y="325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9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757" y="0"/>
                </a:lnTo>
                <a:cubicBezTo>
                  <a:pt x="5770" y="0"/>
                  <a:pt x="5782" y="2"/>
                  <a:pt x="5794" y="4"/>
                </a:cubicBezTo>
                <a:cubicBezTo>
                  <a:pt x="5806" y="6"/>
                  <a:pt x="5817" y="10"/>
                  <a:pt x="5828" y="15"/>
                </a:cubicBezTo>
                <a:cubicBezTo>
                  <a:pt x="5840" y="19"/>
                  <a:pt x="5850" y="25"/>
                  <a:pt x="5861" y="32"/>
                </a:cubicBezTo>
                <a:cubicBezTo>
                  <a:pt x="5871" y="39"/>
                  <a:pt x="5880" y="46"/>
                  <a:pt x="5889" y="55"/>
                </a:cubicBezTo>
                <a:cubicBezTo>
                  <a:pt x="5897" y="63"/>
                  <a:pt x="5905" y="73"/>
                  <a:pt x="5912" y="83"/>
                </a:cubicBezTo>
                <a:cubicBezTo>
                  <a:pt x="5919" y="93"/>
                  <a:pt x="5924" y="104"/>
                  <a:pt x="5929" y="115"/>
                </a:cubicBezTo>
                <a:cubicBezTo>
                  <a:pt x="5934" y="126"/>
                  <a:pt x="5937" y="138"/>
                  <a:pt x="5940" y="150"/>
                </a:cubicBezTo>
                <a:cubicBezTo>
                  <a:pt x="5942" y="162"/>
                  <a:pt x="5943" y="174"/>
                  <a:pt x="5943" y="186"/>
                </a:cubicBezTo>
                <a:lnTo>
                  <a:pt x="5943" y="3251"/>
                </a:lnTo>
                <a:cubicBezTo>
                  <a:pt x="5943" y="3263"/>
                  <a:pt x="5942" y="3276"/>
                  <a:pt x="5940" y="3288"/>
                </a:cubicBezTo>
                <a:cubicBezTo>
                  <a:pt x="5937" y="3299"/>
                  <a:pt x="5934" y="3311"/>
                  <a:pt x="5929" y="3322"/>
                </a:cubicBezTo>
                <a:cubicBezTo>
                  <a:pt x="5924" y="3334"/>
                  <a:pt x="5919" y="3344"/>
                  <a:pt x="5912" y="3354"/>
                </a:cubicBezTo>
                <a:cubicBezTo>
                  <a:pt x="5905" y="3365"/>
                  <a:pt x="5897" y="3374"/>
                  <a:pt x="5889" y="3383"/>
                </a:cubicBezTo>
                <a:cubicBezTo>
                  <a:pt x="5880" y="3391"/>
                  <a:pt x="5871" y="3399"/>
                  <a:pt x="5861" y="3406"/>
                </a:cubicBezTo>
                <a:cubicBezTo>
                  <a:pt x="5850" y="3412"/>
                  <a:pt x="5840" y="3418"/>
                  <a:pt x="5828" y="3423"/>
                </a:cubicBezTo>
                <a:cubicBezTo>
                  <a:pt x="5817" y="3428"/>
                  <a:pt x="5806" y="3431"/>
                  <a:pt x="5794" y="3433"/>
                </a:cubicBezTo>
                <a:cubicBezTo>
                  <a:pt x="5782" y="3436"/>
                  <a:pt x="5770" y="3437"/>
                  <a:pt x="5757" y="3437"/>
                </a:cubicBezTo>
                <a:lnTo>
                  <a:pt x="185" y="3437"/>
                </a:lnTo>
                <a:cubicBezTo>
                  <a:pt x="173" y="3437"/>
                  <a:pt x="161" y="3436"/>
                  <a:pt x="149" y="3433"/>
                </a:cubicBezTo>
                <a:cubicBezTo>
                  <a:pt x="137" y="3431"/>
                  <a:pt x="125" y="3428"/>
                  <a:pt x="114" y="3423"/>
                </a:cubicBezTo>
                <a:cubicBezTo>
                  <a:pt x="103" y="3418"/>
                  <a:pt x="92" y="3412"/>
                  <a:pt x="82" y="3406"/>
                </a:cubicBezTo>
                <a:cubicBezTo>
                  <a:pt x="72" y="3399"/>
                  <a:pt x="63" y="3391"/>
                  <a:pt x="54" y="3383"/>
                </a:cubicBezTo>
                <a:cubicBezTo>
                  <a:pt x="45" y="3374"/>
                  <a:pt x="38" y="3365"/>
                  <a:pt x="31" y="3354"/>
                </a:cubicBezTo>
                <a:cubicBezTo>
                  <a:pt x="24" y="3344"/>
                  <a:pt x="18" y="3334"/>
                  <a:pt x="14" y="3322"/>
                </a:cubicBezTo>
                <a:cubicBezTo>
                  <a:pt x="9" y="3311"/>
                  <a:pt x="6" y="3299"/>
                  <a:pt x="3" y="3288"/>
                </a:cubicBezTo>
                <a:cubicBezTo>
                  <a:pt x="1" y="3276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Picture 149"/>
          <p:cNvPicPr/>
          <p:nvPr/>
        </p:nvPicPr>
        <p:blipFill>
          <a:blip r:embed="rId9"/>
          <a:stretch/>
        </p:blipFill>
        <p:spPr>
          <a:xfrm>
            <a:off x="5181120" y="240660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150"/>
          <p:cNvPicPr/>
          <p:nvPr/>
        </p:nvPicPr>
        <p:blipFill>
          <a:blip r:embed="rId10"/>
          <a:stretch/>
        </p:blipFill>
        <p:spPr>
          <a:xfrm>
            <a:off x="5281560" y="2507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Box 151"/>
          <p:cNvSpPr txBox="1"/>
          <p:nvPr/>
        </p:nvSpPr>
        <p:spPr>
          <a:xfrm>
            <a:off x="975600" y="3142080"/>
            <a:ext cx="1806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First principles &amp; physical laws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644000" y="2835360"/>
            <a:ext cx="1422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PIML Framework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4469400" y="3058560"/>
            <a:ext cx="1763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Bridges physics &amp; data-driven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Picture 154"/>
          <p:cNvPicPr/>
          <p:nvPr/>
        </p:nvPicPr>
        <p:blipFill>
          <a:blip r:embed="rId11"/>
          <a:stretch/>
        </p:blipFill>
        <p:spPr>
          <a:xfrm>
            <a:off x="6551640" y="2874600"/>
            <a:ext cx="1069200" cy="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Freeform 155"/>
          <p:cNvSpPr/>
          <p:nvPr/>
        </p:nvSpPr>
        <p:spPr>
          <a:xfrm>
            <a:off x="7754760" y="2272680"/>
            <a:ext cx="2139840" cy="1237320"/>
          </a:xfrm>
          <a:custGeom>
            <a:avLst/>
            <a:gdLst/>
            <a:ahLst/>
            <a:cxnLst/>
            <a:rect l="0" t="0" r="r" b="b"/>
            <a:pathLst>
              <a:path w="5944" h="3437">
                <a:moveTo>
                  <a:pt x="0" y="3251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9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5758" y="0"/>
                </a:lnTo>
                <a:cubicBezTo>
                  <a:pt x="5770" y="0"/>
                  <a:pt x="5782" y="2"/>
                  <a:pt x="5794" y="4"/>
                </a:cubicBezTo>
                <a:cubicBezTo>
                  <a:pt x="5806" y="6"/>
                  <a:pt x="5818" y="10"/>
                  <a:pt x="5829" y="15"/>
                </a:cubicBezTo>
                <a:cubicBezTo>
                  <a:pt x="5840" y="19"/>
                  <a:pt x="5851" y="25"/>
                  <a:pt x="5861" y="32"/>
                </a:cubicBezTo>
                <a:cubicBezTo>
                  <a:pt x="5871" y="39"/>
                  <a:pt x="5881" y="46"/>
                  <a:pt x="5889" y="55"/>
                </a:cubicBezTo>
                <a:cubicBezTo>
                  <a:pt x="5898" y="63"/>
                  <a:pt x="5906" y="73"/>
                  <a:pt x="5912" y="83"/>
                </a:cubicBezTo>
                <a:cubicBezTo>
                  <a:pt x="5919" y="93"/>
                  <a:pt x="5925" y="104"/>
                  <a:pt x="5930" y="115"/>
                </a:cubicBezTo>
                <a:cubicBezTo>
                  <a:pt x="5934" y="126"/>
                  <a:pt x="5938" y="138"/>
                  <a:pt x="5940" y="150"/>
                </a:cubicBezTo>
                <a:cubicBezTo>
                  <a:pt x="5943" y="162"/>
                  <a:pt x="5944" y="174"/>
                  <a:pt x="5944" y="186"/>
                </a:cubicBezTo>
                <a:lnTo>
                  <a:pt x="5944" y="3251"/>
                </a:lnTo>
                <a:cubicBezTo>
                  <a:pt x="5944" y="3263"/>
                  <a:pt x="5943" y="3276"/>
                  <a:pt x="5940" y="3288"/>
                </a:cubicBezTo>
                <a:cubicBezTo>
                  <a:pt x="5938" y="3299"/>
                  <a:pt x="5934" y="3311"/>
                  <a:pt x="5930" y="3322"/>
                </a:cubicBezTo>
                <a:cubicBezTo>
                  <a:pt x="5925" y="3334"/>
                  <a:pt x="5919" y="3344"/>
                  <a:pt x="5912" y="3354"/>
                </a:cubicBezTo>
                <a:cubicBezTo>
                  <a:pt x="5906" y="3365"/>
                  <a:pt x="5898" y="3374"/>
                  <a:pt x="5889" y="3383"/>
                </a:cubicBezTo>
                <a:cubicBezTo>
                  <a:pt x="5881" y="3391"/>
                  <a:pt x="5871" y="3399"/>
                  <a:pt x="5861" y="3406"/>
                </a:cubicBezTo>
                <a:cubicBezTo>
                  <a:pt x="5851" y="3412"/>
                  <a:pt x="5840" y="3418"/>
                  <a:pt x="5829" y="3423"/>
                </a:cubicBezTo>
                <a:cubicBezTo>
                  <a:pt x="5818" y="3428"/>
                  <a:pt x="5806" y="3431"/>
                  <a:pt x="5794" y="3433"/>
                </a:cubicBezTo>
                <a:cubicBezTo>
                  <a:pt x="5782" y="3436"/>
                  <a:pt x="5770" y="3437"/>
                  <a:pt x="5758" y="3437"/>
                </a:cubicBezTo>
                <a:lnTo>
                  <a:pt x="186" y="3437"/>
                </a:lnTo>
                <a:cubicBezTo>
                  <a:pt x="174" y="3437"/>
                  <a:pt x="162" y="3436"/>
                  <a:pt x="150" y="3433"/>
                </a:cubicBezTo>
                <a:cubicBezTo>
                  <a:pt x="138" y="3431"/>
                  <a:pt x="126" y="3428"/>
                  <a:pt x="115" y="3423"/>
                </a:cubicBezTo>
                <a:cubicBezTo>
                  <a:pt x="104" y="3418"/>
                  <a:pt x="93" y="3412"/>
                  <a:pt x="83" y="3406"/>
                </a:cubicBezTo>
                <a:cubicBezTo>
                  <a:pt x="73" y="3399"/>
                  <a:pt x="63" y="3391"/>
                  <a:pt x="55" y="3383"/>
                </a:cubicBezTo>
                <a:cubicBezTo>
                  <a:pt x="46" y="3374"/>
                  <a:pt x="38" y="3365"/>
                  <a:pt x="32" y="3354"/>
                </a:cubicBezTo>
                <a:cubicBezTo>
                  <a:pt x="25" y="3344"/>
                  <a:pt x="19" y="3334"/>
                  <a:pt x="14" y="3322"/>
                </a:cubicBezTo>
                <a:cubicBezTo>
                  <a:pt x="10" y="3311"/>
                  <a:pt x="6" y="3299"/>
                  <a:pt x="4" y="3288"/>
                </a:cubicBezTo>
                <a:cubicBezTo>
                  <a:pt x="1" y="3276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7" name="Picture 156"/>
          <p:cNvPicPr/>
          <p:nvPr/>
        </p:nvPicPr>
        <p:blipFill>
          <a:blip r:embed="rId12"/>
          <a:stretch/>
        </p:blipFill>
        <p:spPr>
          <a:xfrm>
            <a:off x="8657640" y="240660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157"/>
          <p:cNvPicPr/>
          <p:nvPr/>
        </p:nvPicPr>
        <p:blipFill>
          <a:blip r:embed="rId13"/>
          <a:stretch/>
        </p:blipFill>
        <p:spPr>
          <a:xfrm>
            <a:off x="8757720" y="2507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158"/>
          <p:cNvSpPr txBox="1"/>
          <p:nvPr/>
        </p:nvSpPr>
        <p:spPr>
          <a:xfrm>
            <a:off x="5007960" y="3225600"/>
            <a:ext cx="685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approaches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8070840" y="2835360"/>
            <a:ext cx="1512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Machine Learning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7972200" y="3058560"/>
            <a:ext cx="1722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Pattern recognition &amp; feature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reeform 161"/>
          <p:cNvSpPr/>
          <p:nvPr/>
        </p:nvSpPr>
        <p:spPr>
          <a:xfrm>
            <a:off x="267120" y="3777120"/>
            <a:ext cx="4980960" cy="1303920"/>
          </a:xfrm>
          <a:custGeom>
            <a:avLst/>
            <a:gdLst/>
            <a:ahLst/>
            <a:cxnLst/>
            <a:rect l="0" t="0" r="r" b="b"/>
            <a:pathLst>
              <a:path w="13836" h="3622">
                <a:moveTo>
                  <a:pt x="0" y="0"/>
                </a:moveTo>
                <a:lnTo>
                  <a:pt x="13836" y="0"/>
                </a:lnTo>
                <a:lnTo>
                  <a:pt x="13836" y="3622"/>
                </a:lnTo>
                <a:lnTo>
                  <a:pt x="0" y="36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reeform 162"/>
          <p:cNvSpPr/>
          <p:nvPr/>
        </p:nvSpPr>
        <p:spPr>
          <a:xfrm>
            <a:off x="267120" y="3777120"/>
            <a:ext cx="33840" cy="1303920"/>
          </a:xfrm>
          <a:custGeom>
            <a:avLst/>
            <a:gdLst/>
            <a:ahLst/>
            <a:cxnLst/>
            <a:rect l="0" t="0" r="r" b="b"/>
            <a:pathLst>
              <a:path w="94" h="3622">
                <a:moveTo>
                  <a:pt x="0" y="0"/>
                </a:moveTo>
                <a:lnTo>
                  <a:pt x="94" y="0"/>
                </a:lnTo>
                <a:lnTo>
                  <a:pt x="94" y="3622"/>
                </a:lnTo>
                <a:lnTo>
                  <a:pt x="0" y="3622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4" name="Picture 163"/>
          <p:cNvPicPr/>
          <p:nvPr/>
        </p:nvPicPr>
        <p:blipFill>
          <a:blip r:embed="rId14"/>
          <a:stretch/>
        </p:blipFill>
        <p:spPr>
          <a:xfrm>
            <a:off x="501480" y="4011120"/>
            <a:ext cx="25848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164"/>
          <p:cNvPicPr/>
          <p:nvPr/>
        </p:nvPicPr>
        <p:blipFill>
          <a:blip r:embed="rId15"/>
          <a:stretch/>
        </p:blipFill>
        <p:spPr>
          <a:xfrm>
            <a:off x="543240" y="41364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165"/>
          <p:cNvSpPr txBox="1"/>
          <p:nvPr/>
        </p:nvSpPr>
        <p:spPr>
          <a:xfrm>
            <a:off x="8586000" y="3225600"/>
            <a:ext cx="481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learning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885960" y="3998160"/>
            <a:ext cx="774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Purpose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885960" y="4296600"/>
            <a:ext cx="3436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Automate the detection of subtle hidden physics 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reeform 168"/>
          <p:cNvSpPr/>
          <p:nvPr/>
        </p:nvSpPr>
        <p:spPr>
          <a:xfrm>
            <a:off x="5448240" y="3777120"/>
            <a:ext cx="4980960" cy="1303920"/>
          </a:xfrm>
          <a:custGeom>
            <a:avLst/>
            <a:gdLst/>
            <a:ahLst/>
            <a:cxnLst/>
            <a:rect l="0" t="0" r="r" b="b"/>
            <a:pathLst>
              <a:path w="13836" h="3622">
                <a:moveTo>
                  <a:pt x="0" y="0"/>
                </a:moveTo>
                <a:lnTo>
                  <a:pt x="13836" y="0"/>
                </a:lnTo>
                <a:lnTo>
                  <a:pt x="13836" y="3622"/>
                </a:lnTo>
                <a:lnTo>
                  <a:pt x="0" y="36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reeform 169"/>
          <p:cNvSpPr/>
          <p:nvPr/>
        </p:nvSpPr>
        <p:spPr>
          <a:xfrm>
            <a:off x="5448240" y="3777120"/>
            <a:ext cx="33840" cy="1303920"/>
          </a:xfrm>
          <a:custGeom>
            <a:avLst/>
            <a:gdLst/>
            <a:ahLst/>
            <a:cxnLst/>
            <a:rect l="0" t="0" r="r" b="b"/>
            <a:pathLst>
              <a:path w="94" h="3622">
                <a:moveTo>
                  <a:pt x="0" y="0"/>
                </a:moveTo>
                <a:lnTo>
                  <a:pt x="94" y="0"/>
                </a:lnTo>
                <a:lnTo>
                  <a:pt x="94" y="3622"/>
                </a:lnTo>
                <a:lnTo>
                  <a:pt x="0" y="3622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1" name="Picture 170"/>
          <p:cNvPicPr/>
          <p:nvPr/>
        </p:nvPicPr>
        <p:blipFill>
          <a:blip r:embed="rId16"/>
          <a:stretch/>
        </p:blipFill>
        <p:spPr>
          <a:xfrm>
            <a:off x="5682600" y="4011120"/>
            <a:ext cx="16668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171"/>
          <p:cNvPicPr/>
          <p:nvPr/>
        </p:nvPicPr>
        <p:blipFill>
          <a:blip r:embed="rId17"/>
          <a:stretch/>
        </p:blipFill>
        <p:spPr>
          <a:xfrm>
            <a:off x="5699160" y="413640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Box 172"/>
          <p:cNvSpPr txBox="1"/>
          <p:nvPr/>
        </p:nvSpPr>
        <p:spPr>
          <a:xfrm>
            <a:off x="885960" y="4497120"/>
            <a:ext cx="3480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experimental systems across all experimental runs.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5983200" y="3998160"/>
            <a:ext cx="7794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Beneﬁts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5983200" y="4296600"/>
            <a:ext cx="3864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AI assists experimentalists in studying signiﬁcant and yet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983200" y="4497120"/>
            <a:ext cx="3907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unapparent details in system designs, enabling necessary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5983200" y="4697640"/>
            <a:ext cx="2802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alterations when engineering the system.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4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icture 178"/>
          <p:cNvPicPr/>
          <p:nvPr/>
        </p:nvPicPr>
        <p:blipFill>
          <a:blip r:embed="rId2"/>
          <a:stretch/>
        </p:blipFill>
        <p:spPr>
          <a:xfrm>
            <a:off x="0" y="0"/>
            <a:ext cx="10696320" cy="616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Picture 179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Freeform 180"/>
          <p:cNvSpPr/>
          <p:nvPr/>
        </p:nvSpPr>
        <p:spPr>
          <a:xfrm>
            <a:off x="284040" y="835560"/>
            <a:ext cx="10145160" cy="869400"/>
          </a:xfrm>
          <a:custGeom>
            <a:avLst/>
            <a:gdLst/>
            <a:ahLst/>
            <a:cxnLst/>
            <a:rect l="0" t="0" r="r" b="b"/>
            <a:pathLst>
              <a:path w="28181" h="2415">
                <a:moveTo>
                  <a:pt x="0" y="2229"/>
                </a:moveTo>
                <a:lnTo>
                  <a:pt x="0" y="186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1"/>
                  <a:pt x="28032" y="3"/>
                </a:cubicBezTo>
                <a:cubicBezTo>
                  <a:pt x="28044" y="6"/>
                  <a:pt x="28055" y="9"/>
                  <a:pt x="28067" y="14"/>
                </a:cubicBezTo>
                <a:cubicBezTo>
                  <a:pt x="28078" y="19"/>
                  <a:pt x="28089" y="24"/>
                  <a:pt x="28099" y="31"/>
                </a:cubicBezTo>
                <a:cubicBezTo>
                  <a:pt x="28109" y="38"/>
                  <a:pt x="28118" y="46"/>
                  <a:pt x="28127" y="54"/>
                </a:cubicBezTo>
                <a:cubicBezTo>
                  <a:pt x="28136" y="63"/>
                  <a:pt x="28143" y="72"/>
                  <a:pt x="28150" y="82"/>
                </a:cubicBezTo>
                <a:cubicBezTo>
                  <a:pt x="28157" y="92"/>
                  <a:pt x="28163" y="103"/>
                  <a:pt x="28167" y="114"/>
                </a:cubicBezTo>
                <a:cubicBezTo>
                  <a:pt x="28172" y="126"/>
                  <a:pt x="28175" y="137"/>
                  <a:pt x="28178" y="149"/>
                </a:cubicBezTo>
                <a:cubicBezTo>
                  <a:pt x="28180" y="161"/>
                  <a:pt x="28181" y="173"/>
                  <a:pt x="28181" y="186"/>
                </a:cubicBezTo>
                <a:lnTo>
                  <a:pt x="28181" y="2229"/>
                </a:lnTo>
                <a:cubicBezTo>
                  <a:pt x="28181" y="2241"/>
                  <a:pt x="28180" y="2254"/>
                  <a:pt x="28178" y="2265"/>
                </a:cubicBezTo>
                <a:cubicBezTo>
                  <a:pt x="28175" y="2277"/>
                  <a:pt x="28172" y="2289"/>
                  <a:pt x="28167" y="2300"/>
                </a:cubicBezTo>
                <a:cubicBezTo>
                  <a:pt x="28163" y="2312"/>
                  <a:pt x="28157" y="2322"/>
                  <a:pt x="28150" y="2332"/>
                </a:cubicBezTo>
                <a:cubicBezTo>
                  <a:pt x="28143" y="2343"/>
                  <a:pt x="28136" y="2352"/>
                  <a:pt x="28127" y="2361"/>
                </a:cubicBezTo>
                <a:cubicBezTo>
                  <a:pt x="28118" y="2369"/>
                  <a:pt x="28109" y="2377"/>
                  <a:pt x="28099" y="2384"/>
                </a:cubicBezTo>
                <a:cubicBezTo>
                  <a:pt x="28089" y="2390"/>
                  <a:pt x="28078" y="2396"/>
                  <a:pt x="28067" y="2401"/>
                </a:cubicBezTo>
                <a:cubicBezTo>
                  <a:pt x="28055" y="2405"/>
                  <a:pt x="28044" y="2409"/>
                  <a:pt x="28032" y="2411"/>
                </a:cubicBezTo>
                <a:cubicBezTo>
                  <a:pt x="28020" y="2414"/>
                  <a:pt x="28008" y="2415"/>
                  <a:pt x="27996" y="2415"/>
                </a:cubicBezTo>
                <a:lnTo>
                  <a:pt x="139" y="2415"/>
                </a:lnTo>
                <a:cubicBezTo>
                  <a:pt x="130" y="2415"/>
                  <a:pt x="121" y="2414"/>
                  <a:pt x="112" y="2411"/>
                </a:cubicBezTo>
                <a:cubicBezTo>
                  <a:pt x="103" y="2409"/>
                  <a:pt x="94" y="2405"/>
                  <a:pt x="86" y="2401"/>
                </a:cubicBezTo>
                <a:cubicBezTo>
                  <a:pt x="77" y="2396"/>
                  <a:pt x="69" y="2390"/>
                  <a:pt x="62" y="2384"/>
                </a:cubicBezTo>
                <a:cubicBezTo>
                  <a:pt x="54" y="2377"/>
                  <a:pt x="47" y="2369"/>
                  <a:pt x="41" y="2361"/>
                </a:cubicBezTo>
                <a:cubicBezTo>
                  <a:pt x="34" y="2352"/>
                  <a:pt x="28" y="2343"/>
                  <a:pt x="23" y="2332"/>
                </a:cubicBezTo>
                <a:cubicBezTo>
                  <a:pt x="18" y="2322"/>
                  <a:pt x="14" y="2312"/>
                  <a:pt x="10" y="2300"/>
                </a:cubicBezTo>
                <a:cubicBezTo>
                  <a:pt x="7" y="2289"/>
                  <a:pt x="4" y="2277"/>
                  <a:pt x="2" y="2265"/>
                </a:cubicBezTo>
                <a:cubicBezTo>
                  <a:pt x="1" y="2254"/>
                  <a:pt x="0" y="2241"/>
                  <a:pt x="0" y="222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reeform 181"/>
          <p:cNvSpPr/>
          <p:nvPr/>
        </p:nvSpPr>
        <p:spPr>
          <a:xfrm>
            <a:off x="267120" y="835560"/>
            <a:ext cx="67320" cy="869400"/>
          </a:xfrm>
          <a:custGeom>
            <a:avLst/>
            <a:gdLst/>
            <a:ahLst/>
            <a:cxnLst/>
            <a:rect l="0" t="0" r="r" b="b"/>
            <a:pathLst>
              <a:path w="187" h="2415">
                <a:moveTo>
                  <a:pt x="0" y="0"/>
                </a:moveTo>
                <a:lnTo>
                  <a:pt x="187" y="0"/>
                </a:lnTo>
                <a:lnTo>
                  <a:pt x="187" y="2415"/>
                </a:lnTo>
                <a:lnTo>
                  <a:pt x="0" y="2415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reeform 182"/>
          <p:cNvSpPr/>
          <p:nvPr/>
        </p:nvSpPr>
        <p:spPr>
          <a:xfrm>
            <a:off x="267120" y="5214240"/>
            <a:ext cx="10162080" cy="685800"/>
          </a:xfrm>
          <a:custGeom>
            <a:avLst/>
            <a:gdLst/>
            <a:ahLst/>
            <a:cxnLst/>
            <a:rect l="0" t="0" r="r" b="b"/>
            <a:pathLst>
              <a:path w="28228" h="1905">
                <a:moveTo>
                  <a:pt x="0" y="1719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9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28043" y="0"/>
                </a:lnTo>
                <a:cubicBezTo>
                  <a:pt x="28055" y="0"/>
                  <a:pt x="28067" y="2"/>
                  <a:pt x="28079" y="4"/>
                </a:cubicBezTo>
                <a:cubicBezTo>
                  <a:pt x="28091" y="6"/>
                  <a:pt x="28102" y="10"/>
                  <a:pt x="28114" y="15"/>
                </a:cubicBezTo>
                <a:cubicBezTo>
                  <a:pt x="28125" y="19"/>
                  <a:pt x="28136" y="25"/>
                  <a:pt x="28146" y="32"/>
                </a:cubicBezTo>
                <a:cubicBezTo>
                  <a:pt x="28156" y="39"/>
                  <a:pt x="28165" y="46"/>
                  <a:pt x="28174" y="55"/>
                </a:cubicBezTo>
                <a:cubicBezTo>
                  <a:pt x="28183" y="63"/>
                  <a:pt x="28190" y="73"/>
                  <a:pt x="28197" y="83"/>
                </a:cubicBezTo>
                <a:cubicBezTo>
                  <a:pt x="28204" y="93"/>
                  <a:pt x="28210" y="104"/>
                  <a:pt x="28214" y="115"/>
                </a:cubicBezTo>
                <a:cubicBezTo>
                  <a:pt x="28219" y="126"/>
                  <a:pt x="28222" y="138"/>
                  <a:pt x="28225" y="150"/>
                </a:cubicBezTo>
                <a:cubicBezTo>
                  <a:pt x="28227" y="162"/>
                  <a:pt x="28228" y="174"/>
                  <a:pt x="28228" y="186"/>
                </a:cubicBezTo>
                <a:lnTo>
                  <a:pt x="28228" y="1719"/>
                </a:lnTo>
                <a:cubicBezTo>
                  <a:pt x="28228" y="1731"/>
                  <a:pt x="28227" y="1743"/>
                  <a:pt x="28225" y="1755"/>
                </a:cubicBezTo>
                <a:cubicBezTo>
                  <a:pt x="28222" y="1767"/>
                  <a:pt x="28219" y="1779"/>
                  <a:pt x="28214" y="1790"/>
                </a:cubicBezTo>
                <a:cubicBezTo>
                  <a:pt x="28210" y="1802"/>
                  <a:pt x="28204" y="1812"/>
                  <a:pt x="28197" y="1822"/>
                </a:cubicBezTo>
                <a:cubicBezTo>
                  <a:pt x="28190" y="1833"/>
                  <a:pt x="28183" y="1842"/>
                  <a:pt x="28174" y="1851"/>
                </a:cubicBezTo>
                <a:cubicBezTo>
                  <a:pt x="28165" y="1859"/>
                  <a:pt x="28156" y="1867"/>
                  <a:pt x="28146" y="1874"/>
                </a:cubicBezTo>
                <a:cubicBezTo>
                  <a:pt x="28136" y="1880"/>
                  <a:pt x="28125" y="1886"/>
                  <a:pt x="28114" y="1891"/>
                </a:cubicBezTo>
                <a:cubicBezTo>
                  <a:pt x="28102" y="1895"/>
                  <a:pt x="28091" y="1899"/>
                  <a:pt x="28079" y="1901"/>
                </a:cubicBezTo>
                <a:cubicBezTo>
                  <a:pt x="28067" y="1904"/>
                  <a:pt x="28055" y="1905"/>
                  <a:pt x="28043" y="1905"/>
                </a:cubicBezTo>
                <a:lnTo>
                  <a:pt x="186" y="1905"/>
                </a:lnTo>
                <a:cubicBezTo>
                  <a:pt x="174" y="1905"/>
                  <a:pt x="162" y="1904"/>
                  <a:pt x="150" y="1901"/>
                </a:cubicBezTo>
                <a:cubicBezTo>
                  <a:pt x="138" y="1899"/>
                  <a:pt x="126" y="1895"/>
                  <a:pt x="115" y="1891"/>
                </a:cubicBezTo>
                <a:cubicBezTo>
                  <a:pt x="104" y="1886"/>
                  <a:pt x="93" y="1880"/>
                  <a:pt x="83" y="1874"/>
                </a:cubicBezTo>
                <a:cubicBezTo>
                  <a:pt x="73" y="1867"/>
                  <a:pt x="63" y="1859"/>
                  <a:pt x="55" y="1851"/>
                </a:cubicBezTo>
                <a:cubicBezTo>
                  <a:pt x="46" y="1842"/>
                  <a:pt x="38" y="1833"/>
                  <a:pt x="32" y="1822"/>
                </a:cubicBezTo>
                <a:cubicBezTo>
                  <a:pt x="25" y="1812"/>
                  <a:pt x="19" y="1802"/>
                  <a:pt x="14" y="1790"/>
                </a:cubicBezTo>
                <a:cubicBezTo>
                  <a:pt x="10" y="1779"/>
                  <a:pt x="6" y="1767"/>
                  <a:pt x="4" y="1755"/>
                </a:cubicBezTo>
                <a:cubicBezTo>
                  <a:pt x="2" y="1743"/>
                  <a:pt x="0" y="1731"/>
                  <a:pt x="0" y="1719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334440" y="135000"/>
            <a:ext cx="6237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Project Overview: Ultra-Fast Spinning Rotor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501480" y="1056600"/>
            <a:ext cx="6684522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 dirty="0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Collaboration with experimentalists to develop the </a:t>
            </a:r>
            <a:r>
              <a:rPr lang="en-US" sz="1320" b="1" u="none" strike="noStrike" dirty="0">
                <a:solidFill>
                  <a:srgbClr val="1C3F94"/>
                </a:solidFill>
                <a:effectLst/>
                <a:uFillTx/>
                <a:latin typeface="DejaVuSans"/>
                <a:ea typeface="DejaVuSans"/>
              </a:rPr>
              <a:t>world's fastest spinning levitating rotor</a:t>
            </a:r>
            <a:r>
              <a:rPr lang="en-US" sz="1320" b="0" u="none" strike="noStrike" dirty="0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 for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reeform 185"/>
          <p:cNvSpPr/>
          <p:nvPr/>
        </p:nvSpPr>
        <p:spPr>
          <a:xfrm>
            <a:off x="284040" y="1905120"/>
            <a:ext cx="4964040" cy="1454400"/>
          </a:xfrm>
          <a:custGeom>
            <a:avLst/>
            <a:gdLst/>
            <a:ahLst/>
            <a:cxnLst/>
            <a:rect l="0" t="0" r="r" b="b"/>
            <a:pathLst>
              <a:path w="13789" h="4040">
                <a:moveTo>
                  <a:pt x="0" y="3854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3604" y="0"/>
                </a:lnTo>
                <a:cubicBezTo>
                  <a:pt x="13616" y="0"/>
                  <a:pt x="13628" y="1"/>
                  <a:pt x="13640" y="4"/>
                </a:cubicBezTo>
                <a:cubicBezTo>
                  <a:pt x="13652" y="6"/>
                  <a:pt x="13663" y="10"/>
                  <a:pt x="13675" y="14"/>
                </a:cubicBezTo>
                <a:cubicBezTo>
                  <a:pt x="13686" y="19"/>
                  <a:pt x="13697" y="25"/>
                  <a:pt x="13707" y="31"/>
                </a:cubicBezTo>
                <a:cubicBezTo>
                  <a:pt x="13717" y="38"/>
                  <a:pt x="13726" y="46"/>
                  <a:pt x="13735" y="54"/>
                </a:cubicBezTo>
                <a:cubicBezTo>
                  <a:pt x="13744" y="63"/>
                  <a:pt x="13751" y="72"/>
                  <a:pt x="13758" y="83"/>
                </a:cubicBezTo>
                <a:cubicBezTo>
                  <a:pt x="13765" y="93"/>
                  <a:pt x="13770" y="103"/>
                  <a:pt x="13775" y="115"/>
                </a:cubicBezTo>
                <a:cubicBezTo>
                  <a:pt x="13780" y="126"/>
                  <a:pt x="13783" y="138"/>
                  <a:pt x="13786" y="150"/>
                </a:cubicBezTo>
                <a:cubicBezTo>
                  <a:pt x="13788" y="162"/>
                  <a:pt x="13789" y="174"/>
                  <a:pt x="13789" y="186"/>
                </a:cubicBezTo>
                <a:lnTo>
                  <a:pt x="13789" y="3854"/>
                </a:lnTo>
                <a:cubicBezTo>
                  <a:pt x="13789" y="3867"/>
                  <a:pt x="13788" y="3879"/>
                  <a:pt x="13786" y="3891"/>
                </a:cubicBezTo>
                <a:cubicBezTo>
                  <a:pt x="13783" y="3903"/>
                  <a:pt x="13780" y="3914"/>
                  <a:pt x="13775" y="3926"/>
                </a:cubicBezTo>
                <a:cubicBezTo>
                  <a:pt x="13770" y="3937"/>
                  <a:pt x="13765" y="3947"/>
                  <a:pt x="13758" y="3958"/>
                </a:cubicBezTo>
                <a:cubicBezTo>
                  <a:pt x="13751" y="3968"/>
                  <a:pt x="13744" y="3977"/>
                  <a:pt x="13735" y="3986"/>
                </a:cubicBezTo>
                <a:cubicBezTo>
                  <a:pt x="13726" y="3994"/>
                  <a:pt x="13717" y="4002"/>
                  <a:pt x="13707" y="4009"/>
                </a:cubicBezTo>
                <a:cubicBezTo>
                  <a:pt x="13697" y="4016"/>
                  <a:pt x="13686" y="4021"/>
                  <a:pt x="13675" y="4026"/>
                </a:cubicBezTo>
                <a:cubicBezTo>
                  <a:pt x="13663" y="4031"/>
                  <a:pt x="13652" y="4034"/>
                  <a:pt x="13640" y="4037"/>
                </a:cubicBezTo>
                <a:cubicBezTo>
                  <a:pt x="13628" y="4039"/>
                  <a:pt x="13616" y="4040"/>
                  <a:pt x="13604" y="4040"/>
                </a:cubicBezTo>
                <a:lnTo>
                  <a:pt x="139" y="4040"/>
                </a:lnTo>
                <a:cubicBezTo>
                  <a:pt x="130" y="4040"/>
                  <a:pt x="121" y="4039"/>
                  <a:pt x="112" y="4037"/>
                </a:cubicBezTo>
                <a:cubicBezTo>
                  <a:pt x="103" y="4034"/>
                  <a:pt x="94" y="4031"/>
                  <a:pt x="86" y="4026"/>
                </a:cubicBezTo>
                <a:cubicBezTo>
                  <a:pt x="77" y="4021"/>
                  <a:pt x="69" y="4016"/>
                  <a:pt x="62" y="4009"/>
                </a:cubicBezTo>
                <a:cubicBezTo>
                  <a:pt x="54" y="4002"/>
                  <a:pt x="47" y="3994"/>
                  <a:pt x="41" y="3986"/>
                </a:cubicBezTo>
                <a:cubicBezTo>
                  <a:pt x="34" y="3977"/>
                  <a:pt x="28" y="3968"/>
                  <a:pt x="23" y="3958"/>
                </a:cubicBezTo>
                <a:cubicBezTo>
                  <a:pt x="18" y="3947"/>
                  <a:pt x="14" y="3937"/>
                  <a:pt x="10" y="3926"/>
                </a:cubicBezTo>
                <a:cubicBezTo>
                  <a:pt x="7" y="3914"/>
                  <a:pt x="4" y="3903"/>
                  <a:pt x="2" y="3891"/>
                </a:cubicBezTo>
                <a:cubicBezTo>
                  <a:pt x="1" y="3879"/>
                  <a:pt x="0" y="3867"/>
                  <a:pt x="0" y="38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reeform 186"/>
          <p:cNvSpPr/>
          <p:nvPr/>
        </p:nvSpPr>
        <p:spPr>
          <a:xfrm>
            <a:off x="267120" y="1905120"/>
            <a:ext cx="67320" cy="1454400"/>
          </a:xfrm>
          <a:custGeom>
            <a:avLst/>
            <a:gdLst/>
            <a:ahLst/>
            <a:cxnLst/>
            <a:rect l="0" t="0" r="r" b="b"/>
            <a:pathLst>
              <a:path w="187" h="4040">
                <a:moveTo>
                  <a:pt x="0" y="0"/>
                </a:moveTo>
                <a:lnTo>
                  <a:pt x="187" y="0"/>
                </a:lnTo>
                <a:lnTo>
                  <a:pt x="187" y="4040"/>
                </a:lnTo>
                <a:lnTo>
                  <a:pt x="0" y="40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8" name="Picture 187"/>
          <p:cNvPicPr/>
          <p:nvPr/>
        </p:nvPicPr>
        <p:blipFill>
          <a:blip r:embed="rId4"/>
          <a:stretch/>
        </p:blipFill>
        <p:spPr>
          <a:xfrm>
            <a:off x="468000" y="20725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188"/>
          <p:cNvPicPr/>
          <p:nvPr/>
        </p:nvPicPr>
        <p:blipFill>
          <a:blip r:embed="rId5"/>
          <a:stretch/>
        </p:blipFill>
        <p:spPr>
          <a:xfrm>
            <a:off x="576720" y="219780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Box 189"/>
          <p:cNvSpPr txBox="1"/>
          <p:nvPr/>
        </p:nvSpPr>
        <p:spPr>
          <a:xfrm>
            <a:off x="501480" y="1290600"/>
            <a:ext cx="34020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hypersensitive environmental detection.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reeform 190"/>
          <p:cNvSpPr/>
          <p:nvPr/>
        </p:nvSpPr>
        <p:spPr>
          <a:xfrm>
            <a:off x="860400" y="2665440"/>
            <a:ext cx="42480" cy="42480"/>
          </a:xfrm>
          <a:custGeom>
            <a:avLst/>
            <a:gdLst/>
            <a:ahLst/>
            <a:cxnLst/>
            <a:rect l="0" t="0" r="r" b="b"/>
            <a:pathLst>
              <a:path w="118" h="118">
                <a:moveTo>
                  <a:pt x="118" y="58"/>
                </a:moveTo>
                <a:cubicBezTo>
                  <a:pt x="118" y="66"/>
                  <a:pt x="116" y="74"/>
                  <a:pt x="113" y="82"/>
                </a:cubicBezTo>
                <a:cubicBezTo>
                  <a:pt x="110" y="89"/>
                  <a:pt x="106" y="95"/>
                  <a:pt x="100" y="101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6" y="118"/>
                  <a:pt x="58" y="118"/>
                </a:cubicBezTo>
                <a:cubicBezTo>
                  <a:pt x="51" y="118"/>
                  <a:pt x="43" y="116"/>
                  <a:pt x="36" y="113"/>
                </a:cubicBezTo>
                <a:cubicBezTo>
                  <a:pt x="29" y="110"/>
                  <a:pt x="23" y="106"/>
                  <a:pt x="17" y="101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4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8" y="0"/>
                </a:cubicBezTo>
                <a:cubicBezTo>
                  <a:pt x="66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1019520" y="2184840"/>
            <a:ext cx="1270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Collaboration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reeform 192"/>
          <p:cNvSpPr/>
          <p:nvPr/>
        </p:nvSpPr>
        <p:spPr>
          <a:xfrm>
            <a:off x="860400" y="286632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5"/>
                  <a:pt x="116" y="73"/>
                  <a:pt x="113" y="80"/>
                </a:cubicBezTo>
                <a:cubicBezTo>
                  <a:pt x="110" y="87"/>
                  <a:pt x="106" y="93"/>
                  <a:pt x="100" y="99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99"/>
                </a:cubicBezTo>
                <a:cubicBezTo>
                  <a:pt x="12" y="93"/>
                  <a:pt x="8" y="87"/>
                  <a:pt x="5" y="80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3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3"/>
                  <a:pt x="118" y="50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1002960" y="2608560"/>
            <a:ext cx="236122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Working with engineers &amp; experimentalists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reeform 194"/>
          <p:cNvSpPr/>
          <p:nvPr/>
        </p:nvSpPr>
        <p:spPr>
          <a:xfrm>
            <a:off x="860400" y="30668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9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8"/>
                  <a:pt x="94" y="12"/>
                  <a:pt x="100" y="18"/>
                </a:cubicBezTo>
                <a:cubicBezTo>
                  <a:pt x="106" y="23"/>
                  <a:pt x="110" y="29"/>
                  <a:pt x="113" y="37"/>
                </a:cubicBezTo>
                <a:cubicBezTo>
                  <a:pt x="116" y="44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1002960" y="2809080"/>
            <a:ext cx="3636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Combining theoretical physics with experimental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reeform 196"/>
          <p:cNvSpPr/>
          <p:nvPr/>
        </p:nvSpPr>
        <p:spPr>
          <a:xfrm>
            <a:off x="5465160" y="1905120"/>
            <a:ext cx="4964040" cy="1454400"/>
          </a:xfrm>
          <a:custGeom>
            <a:avLst/>
            <a:gdLst/>
            <a:ahLst/>
            <a:cxnLst/>
            <a:rect l="0" t="0" r="r" b="b"/>
            <a:pathLst>
              <a:path w="13789" h="4040">
                <a:moveTo>
                  <a:pt x="0" y="3854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3604" y="0"/>
                </a:lnTo>
                <a:cubicBezTo>
                  <a:pt x="13616" y="0"/>
                  <a:pt x="13628" y="1"/>
                  <a:pt x="13640" y="4"/>
                </a:cubicBezTo>
                <a:cubicBezTo>
                  <a:pt x="13652" y="6"/>
                  <a:pt x="13663" y="10"/>
                  <a:pt x="13675" y="14"/>
                </a:cubicBezTo>
                <a:cubicBezTo>
                  <a:pt x="13686" y="19"/>
                  <a:pt x="13697" y="25"/>
                  <a:pt x="13707" y="31"/>
                </a:cubicBezTo>
                <a:cubicBezTo>
                  <a:pt x="13717" y="38"/>
                  <a:pt x="13726" y="46"/>
                  <a:pt x="13735" y="54"/>
                </a:cubicBezTo>
                <a:cubicBezTo>
                  <a:pt x="13744" y="63"/>
                  <a:pt x="13751" y="72"/>
                  <a:pt x="13758" y="83"/>
                </a:cubicBezTo>
                <a:cubicBezTo>
                  <a:pt x="13765" y="93"/>
                  <a:pt x="13771" y="103"/>
                  <a:pt x="13775" y="115"/>
                </a:cubicBezTo>
                <a:cubicBezTo>
                  <a:pt x="13780" y="126"/>
                  <a:pt x="13783" y="138"/>
                  <a:pt x="13786" y="150"/>
                </a:cubicBezTo>
                <a:cubicBezTo>
                  <a:pt x="13788" y="162"/>
                  <a:pt x="13789" y="174"/>
                  <a:pt x="13789" y="186"/>
                </a:cubicBezTo>
                <a:lnTo>
                  <a:pt x="13789" y="3854"/>
                </a:lnTo>
                <a:cubicBezTo>
                  <a:pt x="13789" y="3867"/>
                  <a:pt x="13788" y="3879"/>
                  <a:pt x="13786" y="3891"/>
                </a:cubicBezTo>
                <a:cubicBezTo>
                  <a:pt x="13783" y="3903"/>
                  <a:pt x="13780" y="3914"/>
                  <a:pt x="13775" y="3926"/>
                </a:cubicBezTo>
                <a:cubicBezTo>
                  <a:pt x="13771" y="3937"/>
                  <a:pt x="13765" y="3947"/>
                  <a:pt x="13758" y="3958"/>
                </a:cubicBezTo>
                <a:cubicBezTo>
                  <a:pt x="13751" y="3968"/>
                  <a:pt x="13744" y="3977"/>
                  <a:pt x="13735" y="3986"/>
                </a:cubicBezTo>
                <a:cubicBezTo>
                  <a:pt x="13726" y="3994"/>
                  <a:pt x="13717" y="4002"/>
                  <a:pt x="13707" y="4009"/>
                </a:cubicBezTo>
                <a:cubicBezTo>
                  <a:pt x="13697" y="4016"/>
                  <a:pt x="13686" y="4021"/>
                  <a:pt x="13675" y="4026"/>
                </a:cubicBezTo>
                <a:cubicBezTo>
                  <a:pt x="13663" y="4031"/>
                  <a:pt x="13652" y="4034"/>
                  <a:pt x="13640" y="4037"/>
                </a:cubicBezTo>
                <a:cubicBezTo>
                  <a:pt x="13628" y="4039"/>
                  <a:pt x="13616" y="4040"/>
                  <a:pt x="13604" y="4040"/>
                </a:cubicBezTo>
                <a:lnTo>
                  <a:pt x="139" y="4040"/>
                </a:lnTo>
                <a:cubicBezTo>
                  <a:pt x="130" y="4040"/>
                  <a:pt x="121" y="4039"/>
                  <a:pt x="112" y="4037"/>
                </a:cubicBezTo>
                <a:cubicBezTo>
                  <a:pt x="103" y="4034"/>
                  <a:pt x="94" y="4031"/>
                  <a:pt x="86" y="4026"/>
                </a:cubicBezTo>
                <a:cubicBezTo>
                  <a:pt x="77" y="4021"/>
                  <a:pt x="69" y="4016"/>
                  <a:pt x="62" y="4009"/>
                </a:cubicBezTo>
                <a:cubicBezTo>
                  <a:pt x="54" y="4002"/>
                  <a:pt x="47" y="3994"/>
                  <a:pt x="41" y="3986"/>
                </a:cubicBezTo>
                <a:cubicBezTo>
                  <a:pt x="34" y="3977"/>
                  <a:pt x="28" y="3968"/>
                  <a:pt x="23" y="3958"/>
                </a:cubicBezTo>
                <a:cubicBezTo>
                  <a:pt x="18" y="3947"/>
                  <a:pt x="14" y="3937"/>
                  <a:pt x="10" y="3926"/>
                </a:cubicBezTo>
                <a:cubicBezTo>
                  <a:pt x="7" y="3914"/>
                  <a:pt x="4" y="3903"/>
                  <a:pt x="3" y="3891"/>
                </a:cubicBezTo>
                <a:cubicBezTo>
                  <a:pt x="1" y="3879"/>
                  <a:pt x="0" y="3867"/>
                  <a:pt x="0" y="38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reeform 197"/>
          <p:cNvSpPr/>
          <p:nvPr/>
        </p:nvSpPr>
        <p:spPr>
          <a:xfrm>
            <a:off x="5448240" y="1905120"/>
            <a:ext cx="67320" cy="1454400"/>
          </a:xfrm>
          <a:custGeom>
            <a:avLst/>
            <a:gdLst/>
            <a:ahLst/>
            <a:cxnLst/>
            <a:rect l="0" t="0" r="r" b="b"/>
            <a:pathLst>
              <a:path w="187" h="4040">
                <a:moveTo>
                  <a:pt x="0" y="0"/>
                </a:moveTo>
                <a:lnTo>
                  <a:pt x="187" y="0"/>
                </a:lnTo>
                <a:lnTo>
                  <a:pt x="187" y="4040"/>
                </a:lnTo>
                <a:lnTo>
                  <a:pt x="0" y="40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9" name="Picture 198"/>
          <p:cNvPicPr/>
          <p:nvPr/>
        </p:nvPicPr>
        <p:blipFill>
          <a:blip r:embed="rId4"/>
          <a:stretch/>
        </p:blipFill>
        <p:spPr>
          <a:xfrm>
            <a:off x="5649120" y="20725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199"/>
          <p:cNvPicPr/>
          <p:nvPr/>
        </p:nvPicPr>
        <p:blipFill>
          <a:blip r:embed="rId6"/>
          <a:stretch/>
        </p:blipFill>
        <p:spPr>
          <a:xfrm>
            <a:off x="5774400" y="21978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Box 200"/>
          <p:cNvSpPr txBox="1"/>
          <p:nvPr/>
        </p:nvSpPr>
        <p:spPr>
          <a:xfrm>
            <a:off x="1002960" y="3009600"/>
            <a:ext cx="3831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Iterative research approach with experimental validation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reeform 201"/>
          <p:cNvSpPr/>
          <p:nvPr/>
        </p:nvSpPr>
        <p:spPr>
          <a:xfrm>
            <a:off x="6041880" y="2665440"/>
            <a:ext cx="42120" cy="42480"/>
          </a:xfrm>
          <a:custGeom>
            <a:avLst/>
            <a:gdLst/>
            <a:ahLst/>
            <a:cxnLst/>
            <a:rect l="0" t="0" r="r" b="b"/>
            <a:pathLst>
              <a:path w="117" h="118">
                <a:moveTo>
                  <a:pt x="117" y="58"/>
                </a:moveTo>
                <a:cubicBezTo>
                  <a:pt x="117" y="66"/>
                  <a:pt x="115" y="74"/>
                  <a:pt x="112" y="82"/>
                </a:cubicBezTo>
                <a:cubicBezTo>
                  <a:pt x="109" y="89"/>
                  <a:pt x="105" y="95"/>
                  <a:pt x="100" y="101"/>
                </a:cubicBezTo>
                <a:cubicBezTo>
                  <a:pt x="93" y="106"/>
                  <a:pt x="87" y="110"/>
                  <a:pt x="80" y="113"/>
                </a:cubicBezTo>
                <a:cubicBezTo>
                  <a:pt x="73" y="116"/>
                  <a:pt x="65" y="118"/>
                  <a:pt x="58" y="118"/>
                </a:cubicBezTo>
                <a:cubicBezTo>
                  <a:pt x="50" y="118"/>
                  <a:pt x="42" y="116"/>
                  <a:pt x="35" y="113"/>
                </a:cubicBezTo>
                <a:cubicBezTo>
                  <a:pt x="28" y="110"/>
                  <a:pt x="22" y="106"/>
                  <a:pt x="17" y="101"/>
                </a:cubicBezTo>
                <a:cubicBezTo>
                  <a:pt x="11" y="95"/>
                  <a:pt x="7" y="89"/>
                  <a:pt x="4" y="82"/>
                </a:cubicBezTo>
                <a:cubicBezTo>
                  <a:pt x="1" y="74"/>
                  <a:pt x="0" y="66"/>
                  <a:pt x="0" y="58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2" y="2"/>
                  <a:pt x="50" y="0"/>
                  <a:pt x="58" y="0"/>
                </a:cubicBezTo>
                <a:cubicBezTo>
                  <a:pt x="65" y="0"/>
                  <a:pt x="73" y="2"/>
                  <a:pt x="80" y="5"/>
                </a:cubicBezTo>
                <a:cubicBezTo>
                  <a:pt x="87" y="8"/>
                  <a:pt x="93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6200640" y="2184840"/>
            <a:ext cx="1341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Device Design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reeform 203"/>
          <p:cNvSpPr/>
          <p:nvPr/>
        </p:nvSpPr>
        <p:spPr>
          <a:xfrm>
            <a:off x="6041880" y="2866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5" y="73"/>
                  <a:pt x="112" y="80"/>
                </a:cubicBezTo>
                <a:cubicBezTo>
                  <a:pt x="109" y="87"/>
                  <a:pt x="105" y="93"/>
                  <a:pt x="100" y="99"/>
                </a:cubicBezTo>
                <a:cubicBezTo>
                  <a:pt x="93" y="105"/>
                  <a:pt x="87" y="109"/>
                  <a:pt x="80" y="112"/>
                </a:cubicBezTo>
                <a:cubicBezTo>
                  <a:pt x="73" y="115"/>
                  <a:pt x="65" y="117"/>
                  <a:pt x="58" y="117"/>
                </a:cubicBezTo>
                <a:cubicBezTo>
                  <a:pt x="50" y="117"/>
                  <a:pt x="42" y="115"/>
                  <a:pt x="35" y="112"/>
                </a:cubicBezTo>
                <a:cubicBezTo>
                  <a:pt x="28" y="109"/>
                  <a:pt x="22" y="105"/>
                  <a:pt x="17" y="99"/>
                </a:cubicBezTo>
                <a:cubicBezTo>
                  <a:pt x="11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50" y="0"/>
                  <a:pt x="58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7"/>
                  <a:pt x="93" y="11"/>
                  <a:pt x="100" y="17"/>
                </a:cubicBezTo>
                <a:cubicBezTo>
                  <a:pt x="105" y="22"/>
                  <a:pt x="109" y="28"/>
                  <a:pt x="112" y="35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6184080" y="2608560"/>
            <a:ext cx="2567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4 arms and 6 electrodes conﬁguration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reeform 205"/>
          <p:cNvSpPr/>
          <p:nvPr/>
        </p:nvSpPr>
        <p:spPr>
          <a:xfrm>
            <a:off x="6041880" y="3066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3" y="105"/>
                  <a:pt x="87" y="109"/>
                  <a:pt x="80" y="112"/>
                </a:cubicBezTo>
                <a:cubicBezTo>
                  <a:pt x="73" y="115"/>
                  <a:pt x="65" y="117"/>
                  <a:pt x="58" y="117"/>
                </a:cubicBezTo>
                <a:cubicBezTo>
                  <a:pt x="50" y="117"/>
                  <a:pt x="42" y="115"/>
                  <a:pt x="35" y="112"/>
                </a:cubicBezTo>
                <a:cubicBezTo>
                  <a:pt x="28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3"/>
                  <a:pt x="17" y="18"/>
                </a:cubicBezTo>
                <a:cubicBezTo>
                  <a:pt x="22" y="12"/>
                  <a:pt x="28" y="8"/>
                  <a:pt x="35" y="4"/>
                </a:cubicBezTo>
                <a:cubicBezTo>
                  <a:pt x="42" y="1"/>
                  <a:pt x="50" y="0"/>
                  <a:pt x="58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8"/>
                  <a:pt x="93" y="12"/>
                  <a:pt x="100" y="18"/>
                </a:cubicBezTo>
                <a:cubicBezTo>
                  <a:pt x="105" y="23"/>
                  <a:pt x="109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6184080" y="2809080"/>
            <a:ext cx="3387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Levitation on a surface generating magnetic ﬁelds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reeform 207"/>
          <p:cNvSpPr/>
          <p:nvPr/>
        </p:nvSpPr>
        <p:spPr>
          <a:xfrm>
            <a:off x="284040" y="3559680"/>
            <a:ext cx="4964040" cy="1454400"/>
          </a:xfrm>
          <a:custGeom>
            <a:avLst/>
            <a:gdLst/>
            <a:ahLst/>
            <a:cxnLst/>
            <a:rect l="0" t="0" r="r" b="b"/>
            <a:pathLst>
              <a:path w="13789" h="4040">
                <a:moveTo>
                  <a:pt x="0" y="3855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1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3604" y="0"/>
                </a:lnTo>
                <a:cubicBezTo>
                  <a:pt x="13616" y="0"/>
                  <a:pt x="13628" y="1"/>
                  <a:pt x="13640" y="4"/>
                </a:cubicBezTo>
                <a:cubicBezTo>
                  <a:pt x="13652" y="6"/>
                  <a:pt x="13663" y="10"/>
                  <a:pt x="13675" y="14"/>
                </a:cubicBezTo>
                <a:cubicBezTo>
                  <a:pt x="13686" y="19"/>
                  <a:pt x="13697" y="25"/>
                  <a:pt x="13707" y="32"/>
                </a:cubicBezTo>
                <a:cubicBezTo>
                  <a:pt x="13717" y="38"/>
                  <a:pt x="13726" y="46"/>
                  <a:pt x="13735" y="55"/>
                </a:cubicBezTo>
                <a:cubicBezTo>
                  <a:pt x="13744" y="63"/>
                  <a:pt x="13751" y="73"/>
                  <a:pt x="13758" y="83"/>
                </a:cubicBezTo>
                <a:cubicBezTo>
                  <a:pt x="13765" y="93"/>
                  <a:pt x="13770" y="104"/>
                  <a:pt x="13775" y="115"/>
                </a:cubicBezTo>
                <a:cubicBezTo>
                  <a:pt x="13780" y="126"/>
                  <a:pt x="13783" y="138"/>
                  <a:pt x="13786" y="150"/>
                </a:cubicBezTo>
                <a:cubicBezTo>
                  <a:pt x="13788" y="162"/>
                  <a:pt x="13789" y="174"/>
                  <a:pt x="13789" y="186"/>
                </a:cubicBezTo>
                <a:lnTo>
                  <a:pt x="13789" y="3855"/>
                </a:lnTo>
                <a:cubicBezTo>
                  <a:pt x="13789" y="3867"/>
                  <a:pt x="13788" y="3879"/>
                  <a:pt x="13786" y="3891"/>
                </a:cubicBezTo>
                <a:cubicBezTo>
                  <a:pt x="13783" y="3903"/>
                  <a:pt x="13780" y="3914"/>
                  <a:pt x="13775" y="3926"/>
                </a:cubicBezTo>
                <a:cubicBezTo>
                  <a:pt x="13770" y="3937"/>
                  <a:pt x="13765" y="3948"/>
                  <a:pt x="13758" y="3958"/>
                </a:cubicBezTo>
                <a:cubicBezTo>
                  <a:pt x="13751" y="3968"/>
                  <a:pt x="13744" y="3977"/>
                  <a:pt x="13735" y="3986"/>
                </a:cubicBezTo>
                <a:cubicBezTo>
                  <a:pt x="13726" y="3995"/>
                  <a:pt x="13717" y="4002"/>
                  <a:pt x="13707" y="4009"/>
                </a:cubicBezTo>
                <a:cubicBezTo>
                  <a:pt x="13697" y="4016"/>
                  <a:pt x="13686" y="4022"/>
                  <a:pt x="13675" y="4026"/>
                </a:cubicBezTo>
                <a:cubicBezTo>
                  <a:pt x="13663" y="4031"/>
                  <a:pt x="13652" y="4034"/>
                  <a:pt x="13640" y="4037"/>
                </a:cubicBezTo>
                <a:cubicBezTo>
                  <a:pt x="13628" y="4039"/>
                  <a:pt x="13616" y="4040"/>
                  <a:pt x="13604" y="4040"/>
                </a:cubicBezTo>
                <a:lnTo>
                  <a:pt x="139" y="4040"/>
                </a:lnTo>
                <a:cubicBezTo>
                  <a:pt x="130" y="4040"/>
                  <a:pt x="121" y="4039"/>
                  <a:pt x="112" y="4037"/>
                </a:cubicBezTo>
                <a:cubicBezTo>
                  <a:pt x="103" y="4034"/>
                  <a:pt x="94" y="4031"/>
                  <a:pt x="86" y="4026"/>
                </a:cubicBezTo>
                <a:cubicBezTo>
                  <a:pt x="77" y="4022"/>
                  <a:pt x="69" y="4016"/>
                  <a:pt x="62" y="4009"/>
                </a:cubicBezTo>
                <a:cubicBezTo>
                  <a:pt x="54" y="4002"/>
                  <a:pt x="47" y="3995"/>
                  <a:pt x="41" y="3986"/>
                </a:cubicBezTo>
                <a:cubicBezTo>
                  <a:pt x="34" y="3977"/>
                  <a:pt x="28" y="3968"/>
                  <a:pt x="23" y="3958"/>
                </a:cubicBezTo>
                <a:cubicBezTo>
                  <a:pt x="18" y="3948"/>
                  <a:pt x="14" y="3937"/>
                  <a:pt x="10" y="3926"/>
                </a:cubicBezTo>
                <a:cubicBezTo>
                  <a:pt x="7" y="3914"/>
                  <a:pt x="4" y="3903"/>
                  <a:pt x="2" y="3891"/>
                </a:cubicBezTo>
                <a:cubicBezTo>
                  <a:pt x="1" y="3879"/>
                  <a:pt x="0" y="3867"/>
                  <a:pt x="0" y="38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reeform 208"/>
          <p:cNvSpPr/>
          <p:nvPr/>
        </p:nvSpPr>
        <p:spPr>
          <a:xfrm>
            <a:off x="267120" y="3559680"/>
            <a:ext cx="67320" cy="1454400"/>
          </a:xfrm>
          <a:custGeom>
            <a:avLst/>
            <a:gdLst/>
            <a:ahLst/>
            <a:cxnLst/>
            <a:rect l="0" t="0" r="r" b="b"/>
            <a:pathLst>
              <a:path w="187" h="4040">
                <a:moveTo>
                  <a:pt x="0" y="0"/>
                </a:moveTo>
                <a:lnTo>
                  <a:pt x="187" y="0"/>
                </a:lnTo>
                <a:lnTo>
                  <a:pt x="187" y="4040"/>
                </a:lnTo>
                <a:lnTo>
                  <a:pt x="0" y="40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10" name="Picture 209"/>
          <p:cNvPicPr/>
          <p:nvPr/>
        </p:nvPicPr>
        <p:blipFill>
          <a:blip r:embed="rId7"/>
          <a:stretch/>
        </p:blipFill>
        <p:spPr>
          <a:xfrm>
            <a:off x="468000" y="372708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Picture 210"/>
          <p:cNvPicPr/>
          <p:nvPr/>
        </p:nvPicPr>
        <p:blipFill>
          <a:blip r:embed="rId8"/>
          <a:stretch/>
        </p:blipFill>
        <p:spPr>
          <a:xfrm>
            <a:off x="593280" y="38523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Box 211"/>
          <p:cNvSpPr txBox="1"/>
          <p:nvPr/>
        </p:nvSpPr>
        <p:spPr>
          <a:xfrm>
            <a:off x="6184080" y="3009600"/>
            <a:ext cx="3186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Electrostatic forces from arm-electrode overlap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reeform 212"/>
          <p:cNvSpPr/>
          <p:nvPr/>
        </p:nvSpPr>
        <p:spPr>
          <a:xfrm>
            <a:off x="860400" y="432036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5" y="36"/>
                </a:cubicBezTo>
                <a:cubicBezTo>
                  <a:pt x="8" y="29"/>
                  <a:pt x="12" y="23"/>
                  <a:pt x="17" y="18"/>
                </a:cubicBezTo>
                <a:cubicBezTo>
                  <a:pt x="23" y="12"/>
                  <a:pt x="29" y="8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8"/>
                  <a:pt x="94" y="12"/>
                  <a:pt x="100" y="18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4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1019520" y="3839400"/>
            <a:ext cx="1169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Applications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reeform 214"/>
          <p:cNvSpPr/>
          <p:nvPr/>
        </p:nvSpPr>
        <p:spPr>
          <a:xfrm>
            <a:off x="860400" y="452088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1002960" y="4263120"/>
            <a:ext cx="2665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Ultra-sensitive environmental detection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reeform 216"/>
          <p:cNvSpPr/>
          <p:nvPr/>
        </p:nvSpPr>
        <p:spPr>
          <a:xfrm>
            <a:off x="860400" y="47214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4" y="105"/>
                  <a:pt x="88" y="110"/>
                  <a:pt x="81" y="113"/>
                </a:cubicBezTo>
                <a:cubicBezTo>
                  <a:pt x="74" y="115"/>
                  <a:pt x="66" y="117"/>
                  <a:pt x="58" y="117"/>
                </a:cubicBezTo>
                <a:cubicBezTo>
                  <a:pt x="51" y="117"/>
                  <a:pt x="43" y="115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8" y="50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002960" y="4463640"/>
            <a:ext cx="3272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Gyroscopes with improved detection capabilities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reeform 218"/>
          <p:cNvSpPr/>
          <p:nvPr/>
        </p:nvSpPr>
        <p:spPr>
          <a:xfrm>
            <a:off x="5465160" y="3559680"/>
            <a:ext cx="4964040" cy="1454400"/>
          </a:xfrm>
          <a:custGeom>
            <a:avLst/>
            <a:gdLst/>
            <a:ahLst/>
            <a:cxnLst/>
            <a:rect l="0" t="0" r="r" b="b"/>
            <a:pathLst>
              <a:path w="13789" h="4040">
                <a:moveTo>
                  <a:pt x="0" y="3855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1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3604" y="0"/>
                </a:lnTo>
                <a:cubicBezTo>
                  <a:pt x="13616" y="0"/>
                  <a:pt x="13628" y="1"/>
                  <a:pt x="13640" y="4"/>
                </a:cubicBezTo>
                <a:cubicBezTo>
                  <a:pt x="13652" y="6"/>
                  <a:pt x="13663" y="10"/>
                  <a:pt x="13675" y="14"/>
                </a:cubicBezTo>
                <a:cubicBezTo>
                  <a:pt x="13686" y="19"/>
                  <a:pt x="13697" y="25"/>
                  <a:pt x="13707" y="32"/>
                </a:cubicBezTo>
                <a:cubicBezTo>
                  <a:pt x="13717" y="38"/>
                  <a:pt x="13726" y="46"/>
                  <a:pt x="13735" y="55"/>
                </a:cubicBezTo>
                <a:cubicBezTo>
                  <a:pt x="13744" y="63"/>
                  <a:pt x="13751" y="73"/>
                  <a:pt x="13758" y="83"/>
                </a:cubicBezTo>
                <a:cubicBezTo>
                  <a:pt x="13765" y="93"/>
                  <a:pt x="13771" y="104"/>
                  <a:pt x="13775" y="115"/>
                </a:cubicBezTo>
                <a:cubicBezTo>
                  <a:pt x="13780" y="126"/>
                  <a:pt x="13783" y="138"/>
                  <a:pt x="13786" y="150"/>
                </a:cubicBezTo>
                <a:cubicBezTo>
                  <a:pt x="13788" y="162"/>
                  <a:pt x="13789" y="174"/>
                  <a:pt x="13789" y="186"/>
                </a:cubicBezTo>
                <a:lnTo>
                  <a:pt x="13789" y="3855"/>
                </a:lnTo>
                <a:cubicBezTo>
                  <a:pt x="13789" y="3867"/>
                  <a:pt x="13788" y="3879"/>
                  <a:pt x="13786" y="3891"/>
                </a:cubicBezTo>
                <a:cubicBezTo>
                  <a:pt x="13783" y="3903"/>
                  <a:pt x="13780" y="3914"/>
                  <a:pt x="13775" y="3926"/>
                </a:cubicBezTo>
                <a:cubicBezTo>
                  <a:pt x="13771" y="3937"/>
                  <a:pt x="13765" y="3948"/>
                  <a:pt x="13758" y="3958"/>
                </a:cubicBezTo>
                <a:cubicBezTo>
                  <a:pt x="13751" y="3968"/>
                  <a:pt x="13744" y="3977"/>
                  <a:pt x="13735" y="3986"/>
                </a:cubicBezTo>
                <a:cubicBezTo>
                  <a:pt x="13726" y="3995"/>
                  <a:pt x="13717" y="4002"/>
                  <a:pt x="13707" y="4009"/>
                </a:cubicBezTo>
                <a:cubicBezTo>
                  <a:pt x="13697" y="4016"/>
                  <a:pt x="13686" y="4022"/>
                  <a:pt x="13675" y="4026"/>
                </a:cubicBezTo>
                <a:cubicBezTo>
                  <a:pt x="13663" y="4031"/>
                  <a:pt x="13652" y="4034"/>
                  <a:pt x="13640" y="4037"/>
                </a:cubicBezTo>
                <a:cubicBezTo>
                  <a:pt x="13628" y="4039"/>
                  <a:pt x="13616" y="4040"/>
                  <a:pt x="13604" y="4040"/>
                </a:cubicBezTo>
                <a:lnTo>
                  <a:pt x="139" y="4040"/>
                </a:lnTo>
                <a:cubicBezTo>
                  <a:pt x="130" y="4040"/>
                  <a:pt x="121" y="4039"/>
                  <a:pt x="112" y="4037"/>
                </a:cubicBezTo>
                <a:cubicBezTo>
                  <a:pt x="103" y="4034"/>
                  <a:pt x="94" y="4031"/>
                  <a:pt x="86" y="4026"/>
                </a:cubicBezTo>
                <a:cubicBezTo>
                  <a:pt x="77" y="4022"/>
                  <a:pt x="69" y="4016"/>
                  <a:pt x="62" y="4009"/>
                </a:cubicBezTo>
                <a:cubicBezTo>
                  <a:pt x="54" y="4002"/>
                  <a:pt x="47" y="3995"/>
                  <a:pt x="41" y="3986"/>
                </a:cubicBezTo>
                <a:cubicBezTo>
                  <a:pt x="34" y="3977"/>
                  <a:pt x="28" y="3968"/>
                  <a:pt x="23" y="3958"/>
                </a:cubicBezTo>
                <a:cubicBezTo>
                  <a:pt x="18" y="3948"/>
                  <a:pt x="14" y="3937"/>
                  <a:pt x="10" y="3926"/>
                </a:cubicBezTo>
                <a:cubicBezTo>
                  <a:pt x="7" y="3914"/>
                  <a:pt x="4" y="3903"/>
                  <a:pt x="3" y="3891"/>
                </a:cubicBezTo>
                <a:cubicBezTo>
                  <a:pt x="1" y="3879"/>
                  <a:pt x="0" y="3867"/>
                  <a:pt x="0" y="38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reeform 219"/>
          <p:cNvSpPr/>
          <p:nvPr/>
        </p:nvSpPr>
        <p:spPr>
          <a:xfrm>
            <a:off x="5448240" y="3559680"/>
            <a:ext cx="67320" cy="1454400"/>
          </a:xfrm>
          <a:custGeom>
            <a:avLst/>
            <a:gdLst/>
            <a:ahLst/>
            <a:cxnLst/>
            <a:rect l="0" t="0" r="r" b="b"/>
            <a:pathLst>
              <a:path w="187" h="4040">
                <a:moveTo>
                  <a:pt x="0" y="0"/>
                </a:moveTo>
                <a:lnTo>
                  <a:pt x="187" y="0"/>
                </a:lnTo>
                <a:lnTo>
                  <a:pt x="187" y="4040"/>
                </a:lnTo>
                <a:lnTo>
                  <a:pt x="0" y="40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1" name="Picture 220"/>
          <p:cNvPicPr/>
          <p:nvPr/>
        </p:nvPicPr>
        <p:blipFill>
          <a:blip r:embed="rId7"/>
          <a:stretch/>
        </p:blipFill>
        <p:spPr>
          <a:xfrm>
            <a:off x="5649120" y="372708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221"/>
          <p:cNvPicPr/>
          <p:nvPr/>
        </p:nvPicPr>
        <p:blipFill>
          <a:blip r:embed="rId9"/>
          <a:stretch/>
        </p:blipFill>
        <p:spPr>
          <a:xfrm>
            <a:off x="5774400" y="38523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Box 222"/>
          <p:cNvSpPr txBox="1"/>
          <p:nvPr/>
        </p:nvSpPr>
        <p:spPr>
          <a:xfrm>
            <a:off x="1002960" y="4664160"/>
            <a:ext cx="281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High-precision rotational sensing systems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reeform 223"/>
          <p:cNvSpPr/>
          <p:nvPr/>
        </p:nvSpPr>
        <p:spPr>
          <a:xfrm>
            <a:off x="6041880" y="4320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3" y="105"/>
                  <a:pt x="87" y="109"/>
                  <a:pt x="80" y="112"/>
                </a:cubicBezTo>
                <a:cubicBezTo>
                  <a:pt x="73" y="115"/>
                  <a:pt x="65" y="117"/>
                  <a:pt x="58" y="117"/>
                </a:cubicBezTo>
                <a:cubicBezTo>
                  <a:pt x="50" y="117"/>
                  <a:pt x="42" y="115"/>
                  <a:pt x="35" y="112"/>
                </a:cubicBezTo>
                <a:cubicBezTo>
                  <a:pt x="28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6"/>
                </a:cubicBezTo>
                <a:cubicBezTo>
                  <a:pt x="7" y="29"/>
                  <a:pt x="11" y="23"/>
                  <a:pt x="17" y="18"/>
                </a:cubicBezTo>
                <a:cubicBezTo>
                  <a:pt x="22" y="12"/>
                  <a:pt x="28" y="8"/>
                  <a:pt x="35" y="4"/>
                </a:cubicBezTo>
                <a:cubicBezTo>
                  <a:pt x="42" y="1"/>
                  <a:pt x="50" y="0"/>
                  <a:pt x="58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8"/>
                  <a:pt x="93" y="12"/>
                  <a:pt x="100" y="18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6200640" y="3839400"/>
            <a:ext cx="1889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Technical Challenge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reeform 225"/>
          <p:cNvSpPr/>
          <p:nvPr/>
        </p:nvSpPr>
        <p:spPr>
          <a:xfrm>
            <a:off x="6041880" y="4520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3" y="105"/>
                  <a:pt x="87" y="109"/>
                  <a:pt x="80" y="112"/>
                </a:cubicBezTo>
                <a:cubicBezTo>
                  <a:pt x="73" y="115"/>
                  <a:pt x="65" y="117"/>
                  <a:pt x="58" y="117"/>
                </a:cubicBezTo>
                <a:cubicBezTo>
                  <a:pt x="50" y="117"/>
                  <a:pt x="42" y="115"/>
                  <a:pt x="35" y="112"/>
                </a:cubicBezTo>
                <a:cubicBezTo>
                  <a:pt x="28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50" y="0"/>
                  <a:pt x="58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7"/>
                  <a:pt x="93" y="11"/>
                  <a:pt x="100" y="17"/>
                </a:cubicBezTo>
                <a:cubicBezTo>
                  <a:pt x="105" y="22"/>
                  <a:pt x="109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6184080" y="4263120"/>
            <a:ext cx="4132542" cy="3231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Wobbling behavior at high speeds (500 RMP). Decay in rotational velocities. </a:t>
            </a:r>
            <a:endParaRPr lang="en-US" sz="1050" dirty="0">
              <a:solidFill>
                <a:srgbClr val="374151"/>
              </a:solidFill>
              <a:latin typeface="DejaVuSans"/>
              <a:ea typeface="DejaVuSans"/>
            </a:endParaRPr>
          </a:p>
          <a:p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reeform 227"/>
          <p:cNvSpPr/>
          <p:nvPr/>
        </p:nvSpPr>
        <p:spPr>
          <a:xfrm>
            <a:off x="6041880" y="4721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3" y="105"/>
                  <a:pt x="87" y="110"/>
                  <a:pt x="80" y="113"/>
                </a:cubicBezTo>
                <a:cubicBezTo>
                  <a:pt x="73" y="115"/>
                  <a:pt x="65" y="117"/>
                  <a:pt x="58" y="117"/>
                </a:cubicBezTo>
                <a:cubicBezTo>
                  <a:pt x="50" y="117"/>
                  <a:pt x="42" y="115"/>
                  <a:pt x="35" y="113"/>
                </a:cubicBezTo>
                <a:cubicBezTo>
                  <a:pt x="28" y="110"/>
                  <a:pt x="22" y="105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50" y="0"/>
                  <a:pt x="58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7"/>
                  <a:pt x="93" y="11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6184080" y="4463640"/>
            <a:ext cx="2901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Three axes of rigid body modes discovered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0" name="Picture 229"/>
          <p:cNvPicPr/>
          <p:nvPr/>
        </p:nvPicPr>
        <p:blipFill>
          <a:blip r:embed="rId10"/>
          <a:stretch/>
        </p:blipFill>
        <p:spPr>
          <a:xfrm>
            <a:off x="401040" y="53481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Picture 230"/>
          <p:cNvPicPr/>
          <p:nvPr/>
        </p:nvPicPr>
        <p:blipFill>
          <a:blip r:embed="rId11"/>
          <a:stretch/>
        </p:blipFill>
        <p:spPr>
          <a:xfrm>
            <a:off x="551520" y="547380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Box 231"/>
          <p:cNvSpPr txBox="1"/>
          <p:nvPr/>
        </p:nvSpPr>
        <p:spPr>
          <a:xfrm>
            <a:off x="6184080" y="4664160"/>
            <a:ext cx="3573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Investigating missing physics through PIML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952560" y="5467680"/>
            <a:ext cx="8172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Our goal: Use PIML to identify missing physics and improve the performance of the ultra-fast spinning rotor.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10110600" y="5851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5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Freeform 234"/>
          <p:cNvSpPr/>
          <p:nvPr/>
        </p:nvSpPr>
        <p:spPr>
          <a:xfrm>
            <a:off x="0" y="295047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6" name="Picture 235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Freeform 236"/>
          <p:cNvSpPr/>
          <p:nvPr/>
        </p:nvSpPr>
        <p:spPr>
          <a:xfrm>
            <a:off x="267120" y="835560"/>
            <a:ext cx="4880880" cy="1604880"/>
          </a:xfrm>
          <a:custGeom>
            <a:avLst/>
            <a:gdLst/>
            <a:ahLst/>
            <a:cxnLst/>
            <a:rect l="0" t="0" r="r" b="b"/>
            <a:pathLst>
              <a:path w="13558" h="4458">
                <a:moveTo>
                  <a:pt x="0" y="0"/>
                </a:moveTo>
                <a:lnTo>
                  <a:pt x="13558" y="0"/>
                </a:lnTo>
                <a:lnTo>
                  <a:pt x="13558" y="4458"/>
                </a:lnTo>
                <a:lnTo>
                  <a:pt x="0" y="4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reeform 237"/>
          <p:cNvSpPr/>
          <p:nvPr/>
        </p:nvSpPr>
        <p:spPr>
          <a:xfrm>
            <a:off x="267120" y="835560"/>
            <a:ext cx="33840" cy="1604880"/>
          </a:xfrm>
          <a:custGeom>
            <a:avLst/>
            <a:gdLst/>
            <a:ahLst/>
            <a:cxnLst/>
            <a:rect l="0" t="0" r="r" b="b"/>
            <a:pathLst>
              <a:path w="94" h="4458">
                <a:moveTo>
                  <a:pt x="0" y="0"/>
                </a:moveTo>
                <a:lnTo>
                  <a:pt x="94" y="0"/>
                </a:lnTo>
                <a:lnTo>
                  <a:pt x="94" y="4458"/>
                </a:lnTo>
                <a:lnTo>
                  <a:pt x="0" y="4458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9" name="Picture 238"/>
          <p:cNvPicPr/>
          <p:nvPr/>
        </p:nvPicPr>
        <p:blipFill>
          <a:blip r:embed="rId4"/>
          <a:stretch/>
        </p:blipFill>
        <p:spPr>
          <a:xfrm>
            <a:off x="501480" y="103608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Picture 239"/>
          <p:cNvPicPr/>
          <p:nvPr/>
        </p:nvPicPr>
        <p:blipFill>
          <a:blip r:embed="rId5"/>
          <a:stretch/>
        </p:blipFill>
        <p:spPr>
          <a:xfrm>
            <a:off x="576720" y="112824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Box 240"/>
          <p:cNvSpPr txBox="1"/>
          <p:nvPr/>
        </p:nvSpPr>
        <p:spPr>
          <a:xfrm>
            <a:off x="334440" y="135000"/>
            <a:ext cx="2912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The Physical System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reeform 241"/>
          <p:cNvSpPr/>
          <p:nvPr/>
        </p:nvSpPr>
        <p:spPr>
          <a:xfrm>
            <a:off x="559800" y="1579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5" y="73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69480" y="1106640"/>
            <a:ext cx="1937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System Components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reeform 243"/>
          <p:cNvSpPr/>
          <p:nvPr/>
        </p:nvSpPr>
        <p:spPr>
          <a:xfrm>
            <a:off x="559800" y="18468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6"/>
                </a:cubicBezTo>
                <a:cubicBezTo>
                  <a:pt x="7" y="28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6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702000" y="1522080"/>
            <a:ext cx="1386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Rotator with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4 arms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reeform 245"/>
          <p:cNvSpPr/>
          <p:nvPr/>
        </p:nvSpPr>
        <p:spPr>
          <a:xfrm>
            <a:off x="559800" y="21139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99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3" y="106"/>
                  <a:pt x="18" y="99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8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2" y="23"/>
                  <a:pt x="18" y="17"/>
                </a:cubicBezTo>
                <a:cubicBezTo>
                  <a:pt x="23" y="12"/>
                  <a:pt x="29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TextBox 246"/>
          <p:cNvSpPr txBox="1"/>
          <p:nvPr/>
        </p:nvSpPr>
        <p:spPr>
          <a:xfrm>
            <a:off x="702000" y="1789560"/>
            <a:ext cx="1805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Surrounding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6 electrodes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reeform 247"/>
          <p:cNvSpPr/>
          <p:nvPr/>
        </p:nvSpPr>
        <p:spPr>
          <a:xfrm>
            <a:off x="267120" y="2891160"/>
            <a:ext cx="4880880" cy="1337400"/>
          </a:xfrm>
          <a:custGeom>
            <a:avLst/>
            <a:gdLst/>
            <a:ahLst/>
            <a:cxnLst/>
            <a:rect l="0" t="0" r="r" b="b"/>
            <a:pathLst>
              <a:path w="13558" h="3715">
                <a:moveTo>
                  <a:pt x="0" y="0"/>
                </a:moveTo>
                <a:lnTo>
                  <a:pt x="13558" y="0"/>
                </a:lnTo>
                <a:lnTo>
                  <a:pt x="13558" y="3715"/>
                </a:lnTo>
                <a:lnTo>
                  <a:pt x="0" y="37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reeform 248"/>
          <p:cNvSpPr/>
          <p:nvPr/>
        </p:nvSpPr>
        <p:spPr>
          <a:xfrm>
            <a:off x="267120" y="2891160"/>
            <a:ext cx="33840" cy="1337400"/>
          </a:xfrm>
          <a:custGeom>
            <a:avLst/>
            <a:gdLst/>
            <a:ahLst/>
            <a:cxnLst/>
            <a:rect l="0" t="0" r="r" b="b"/>
            <a:pathLst>
              <a:path w="94" h="3715">
                <a:moveTo>
                  <a:pt x="0" y="0"/>
                </a:moveTo>
                <a:lnTo>
                  <a:pt x="94" y="0"/>
                </a:lnTo>
                <a:lnTo>
                  <a:pt x="94" y="3715"/>
                </a:lnTo>
                <a:lnTo>
                  <a:pt x="0" y="371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50" name="Picture 249"/>
          <p:cNvPicPr/>
          <p:nvPr/>
        </p:nvPicPr>
        <p:blipFill>
          <a:blip r:embed="rId6"/>
          <a:stretch/>
        </p:blipFill>
        <p:spPr>
          <a:xfrm>
            <a:off x="501480" y="309204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250"/>
          <p:cNvPicPr/>
          <p:nvPr/>
        </p:nvPicPr>
        <p:blipFill>
          <a:blip r:embed="rId7"/>
          <a:stretch/>
        </p:blipFill>
        <p:spPr>
          <a:xfrm>
            <a:off x="610200" y="3183840"/>
            <a:ext cx="11664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Box 251"/>
          <p:cNvSpPr txBox="1"/>
          <p:nvPr/>
        </p:nvSpPr>
        <p:spPr>
          <a:xfrm>
            <a:off x="702000" y="2057040"/>
            <a:ext cx="3317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Levitation on a magnetic ﬁeld generating surface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reeform 252"/>
          <p:cNvSpPr/>
          <p:nvPr/>
        </p:nvSpPr>
        <p:spPr>
          <a:xfrm>
            <a:off x="559800" y="36349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9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3" y="106"/>
                  <a:pt x="18" y="100"/>
                </a:cubicBezTo>
                <a:cubicBezTo>
                  <a:pt x="12" y="95"/>
                  <a:pt x="7" y="89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2" y="23"/>
                  <a:pt x="18" y="17"/>
                </a:cubicBezTo>
                <a:cubicBezTo>
                  <a:pt x="23" y="12"/>
                  <a:pt x="29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969480" y="3162600"/>
            <a:ext cx="2888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Electrostatic Force Generation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reeform 254"/>
          <p:cNvSpPr/>
          <p:nvPr/>
        </p:nvSpPr>
        <p:spPr>
          <a:xfrm>
            <a:off x="559800" y="3902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3" y="106"/>
                  <a:pt x="18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2" y="23"/>
                  <a:pt x="18" y="18"/>
                </a:cubicBezTo>
                <a:cubicBezTo>
                  <a:pt x="23" y="13"/>
                  <a:pt x="29" y="8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8"/>
                  <a:pt x="94" y="13"/>
                  <a:pt x="100" y="18"/>
                </a:cubicBezTo>
                <a:cubicBezTo>
                  <a:pt x="105" y="23"/>
                  <a:pt x="109" y="30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702000" y="3578040"/>
            <a:ext cx="3278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Overlapping areas between arms and electrodes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reeform 256"/>
          <p:cNvSpPr/>
          <p:nvPr/>
        </p:nvSpPr>
        <p:spPr>
          <a:xfrm>
            <a:off x="267120" y="4679640"/>
            <a:ext cx="4880880" cy="1337400"/>
          </a:xfrm>
          <a:custGeom>
            <a:avLst/>
            <a:gdLst/>
            <a:ahLst/>
            <a:cxnLst/>
            <a:rect l="0" t="0" r="r" b="b"/>
            <a:pathLst>
              <a:path w="13558" h="3715">
                <a:moveTo>
                  <a:pt x="0" y="0"/>
                </a:moveTo>
                <a:lnTo>
                  <a:pt x="13558" y="0"/>
                </a:lnTo>
                <a:lnTo>
                  <a:pt x="13558" y="3715"/>
                </a:lnTo>
                <a:lnTo>
                  <a:pt x="0" y="37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reeform 257"/>
          <p:cNvSpPr/>
          <p:nvPr/>
        </p:nvSpPr>
        <p:spPr>
          <a:xfrm>
            <a:off x="267120" y="4679640"/>
            <a:ext cx="33840" cy="1337400"/>
          </a:xfrm>
          <a:custGeom>
            <a:avLst/>
            <a:gdLst/>
            <a:ahLst/>
            <a:cxnLst/>
            <a:rect l="0" t="0" r="r" b="b"/>
            <a:pathLst>
              <a:path w="94" h="3715">
                <a:moveTo>
                  <a:pt x="0" y="0"/>
                </a:moveTo>
                <a:lnTo>
                  <a:pt x="94" y="0"/>
                </a:lnTo>
                <a:lnTo>
                  <a:pt x="94" y="3715"/>
                </a:lnTo>
                <a:lnTo>
                  <a:pt x="0" y="3715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59" name="Picture 258"/>
          <p:cNvPicPr/>
          <p:nvPr/>
        </p:nvPicPr>
        <p:blipFill>
          <a:blip r:embed="rId8"/>
          <a:stretch/>
        </p:blipFill>
        <p:spPr>
          <a:xfrm>
            <a:off x="501480" y="488016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Picture 259"/>
          <p:cNvPicPr/>
          <p:nvPr/>
        </p:nvPicPr>
        <p:blipFill>
          <a:blip r:embed="rId9"/>
          <a:stretch/>
        </p:blipFill>
        <p:spPr>
          <a:xfrm>
            <a:off x="593280" y="497232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Box 260"/>
          <p:cNvSpPr txBox="1"/>
          <p:nvPr/>
        </p:nvSpPr>
        <p:spPr>
          <a:xfrm>
            <a:off x="702000" y="3845520"/>
            <a:ext cx="3328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Electrostatic forces generated at these interfaces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reeform 261"/>
          <p:cNvSpPr/>
          <p:nvPr/>
        </p:nvSpPr>
        <p:spPr>
          <a:xfrm>
            <a:off x="559800" y="5423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5" y="73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TextBox 262"/>
          <p:cNvSpPr txBox="1"/>
          <p:nvPr/>
        </p:nvSpPr>
        <p:spPr>
          <a:xfrm>
            <a:off x="969480" y="4950720"/>
            <a:ext cx="1776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Torque Generation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reeform 263"/>
          <p:cNvSpPr/>
          <p:nvPr/>
        </p:nvSpPr>
        <p:spPr>
          <a:xfrm>
            <a:off x="559800" y="5690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6"/>
                </a:cubicBezTo>
                <a:cubicBezTo>
                  <a:pt x="7" y="29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702000" y="5366160"/>
            <a:ext cx="3190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Electrostatic forces create rotational imbalance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reeform 265"/>
          <p:cNvSpPr/>
          <p:nvPr/>
        </p:nvSpPr>
        <p:spPr>
          <a:xfrm>
            <a:off x="5548680" y="852120"/>
            <a:ext cx="4769493" cy="3150720"/>
          </a:xfrm>
          <a:custGeom>
            <a:avLst/>
            <a:gdLst/>
            <a:ahLst/>
            <a:cxnLst/>
            <a:rect l="0" t="0" r="r" b="b"/>
            <a:pathLst>
              <a:path w="13557" h="14347">
                <a:moveTo>
                  <a:pt x="0" y="14161"/>
                </a:moveTo>
                <a:lnTo>
                  <a:pt x="0" y="140"/>
                </a:lnTo>
                <a:cubicBezTo>
                  <a:pt x="0" y="130"/>
                  <a:pt x="1" y="121"/>
                  <a:pt x="4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5"/>
                  <a:pt x="46" y="47"/>
                  <a:pt x="54" y="41"/>
                </a:cubicBezTo>
                <a:cubicBezTo>
                  <a:pt x="63" y="35"/>
                  <a:pt x="72" y="29"/>
                  <a:pt x="83" y="24"/>
                </a:cubicBezTo>
                <a:cubicBezTo>
                  <a:pt x="93" y="19"/>
                  <a:pt x="103" y="14"/>
                  <a:pt x="115" y="11"/>
                </a:cubicBezTo>
                <a:cubicBezTo>
                  <a:pt x="126" y="7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5"/>
                  <a:pt x="13431" y="7"/>
                  <a:pt x="13443" y="11"/>
                </a:cubicBezTo>
                <a:cubicBezTo>
                  <a:pt x="13454" y="14"/>
                  <a:pt x="13465" y="19"/>
                  <a:pt x="13475" y="24"/>
                </a:cubicBezTo>
                <a:cubicBezTo>
                  <a:pt x="13485" y="29"/>
                  <a:pt x="13494" y="35"/>
                  <a:pt x="13503" y="41"/>
                </a:cubicBezTo>
                <a:cubicBezTo>
                  <a:pt x="13512" y="47"/>
                  <a:pt x="13519" y="55"/>
                  <a:pt x="13526" y="62"/>
                </a:cubicBezTo>
                <a:cubicBezTo>
                  <a:pt x="13533" y="70"/>
                  <a:pt x="13539" y="78"/>
                  <a:pt x="13543" y="86"/>
                </a:cubicBezTo>
                <a:cubicBezTo>
                  <a:pt x="13548" y="95"/>
                  <a:pt x="13551" y="103"/>
                  <a:pt x="13554" y="112"/>
                </a:cubicBezTo>
                <a:cubicBezTo>
                  <a:pt x="13556" y="121"/>
                  <a:pt x="13557" y="130"/>
                  <a:pt x="13557" y="140"/>
                </a:cubicBezTo>
                <a:lnTo>
                  <a:pt x="13557" y="14161"/>
                </a:lnTo>
                <a:cubicBezTo>
                  <a:pt x="13557" y="14173"/>
                  <a:pt x="13556" y="14185"/>
                  <a:pt x="13554" y="14197"/>
                </a:cubicBezTo>
                <a:cubicBezTo>
                  <a:pt x="13551" y="14209"/>
                  <a:pt x="13548" y="14221"/>
                  <a:pt x="13543" y="14232"/>
                </a:cubicBezTo>
                <a:cubicBezTo>
                  <a:pt x="13539" y="14244"/>
                  <a:pt x="13533" y="14254"/>
                  <a:pt x="13526" y="14264"/>
                </a:cubicBezTo>
                <a:cubicBezTo>
                  <a:pt x="13519" y="14275"/>
                  <a:pt x="13512" y="14284"/>
                  <a:pt x="13503" y="14293"/>
                </a:cubicBezTo>
                <a:cubicBezTo>
                  <a:pt x="13494" y="14301"/>
                  <a:pt x="13485" y="14309"/>
                  <a:pt x="13475" y="14316"/>
                </a:cubicBezTo>
                <a:cubicBezTo>
                  <a:pt x="13465" y="14322"/>
                  <a:pt x="13454" y="14328"/>
                  <a:pt x="13443" y="14333"/>
                </a:cubicBezTo>
                <a:cubicBezTo>
                  <a:pt x="13431" y="14337"/>
                  <a:pt x="13420" y="14341"/>
                  <a:pt x="13408" y="14343"/>
                </a:cubicBezTo>
                <a:cubicBezTo>
                  <a:pt x="13396" y="14346"/>
                  <a:pt x="13384" y="14347"/>
                  <a:pt x="13372" y="14347"/>
                </a:cubicBezTo>
                <a:lnTo>
                  <a:pt x="186" y="14347"/>
                </a:lnTo>
                <a:cubicBezTo>
                  <a:pt x="173" y="14347"/>
                  <a:pt x="161" y="14346"/>
                  <a:pt x="149" y="14343"/>
                </a:cubicBezTo>
                <a:cubicBezTo>
                  <a:pt x="137" y="14341"/>
                  <a:pt x="126" y="14337"/>
                  <a:pt x="115" y="14333"/>
                </a:cubicBezTo>
                <a:cubicBezTo>
                  <a:pt x="103" y="14328"/>
                  <a:pt x="93" y="14322"/>
                  <a:pt x="83" y="14316"/>
                </a:cubicBezTo>
                <a:cubicBezTo>
                  <a:pt x="72" y="14309"/>
                  <a:pt x="63" y="14301"/>
                  <a:pt x="54" y="14293"/>
                </a:cubicBezTo>
                <a:cubicBezTo>
                  <a:pt x="46" y="14284"/>
                  <a:pt x="38" y="14275"/>
                  <a:pt x="31" y="14264"/>
                </a:cubicBezTo>
                <a:cubicBezTo>
                  <a:pt x="24" y="14254"/>
                  <a:pt x="19" y="14244"/>
                  <a:pt x="14" y="14232"/>
                </a:cubicBezTo>
                <a:cubicBezTo>
                  <a:pt x="9" y="14221"/>
                  <a:pt x="6" y="14209"/>
                  <a:pt x="4" y="14197"/>
                </a:cubicBezTo>
                <a:cubicBezTo>
                  <a:pt x="1" y="14185"/>
                  <a:pt x="0" y="14173"/>
                  <a:pt x="0" y="141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reeform 266"/>
          <p:cNvSpPr/>
          <p:nvPr/>
        </p:nvSpPr>
        <p:spPr>
          <a:xfrm>
            <a:off x="5548680" y="835560"/>
            <a:ext cx="4880520" cy="67320"/>
          </a:xfrm>
          <a:custGeom>
            <a:avLst/>
            <a:gdLst/>
            <a:ahLst/>
            <a:cxnLst/>
            <a:rect l="0" t="0" r="r" b="b"/>
            <a:pathLst>
              <a:path w="13557" h="187">
                <a:moveTo>
                  <a:pt x="0" y="0"/>
                </a:moveTo>
                <a:lnTo>
                  <a:pt x="13557" y="0"/>
                </a:lnTo>
                <a:lnTo>
                  <a:pt x="13557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702000" y="5633640"/>
            <a:ext cx="2057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Leads to torque on the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6717240" y="1090080"/>
            <a:ext cx="2555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Rotor System Visualization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6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diagram of a circular object with a circular object with a circular object with a circular object with a circular object with a circular object with a circular object with a circular object with a circular object with&#10;&#10;Description automatically generated">
            <a:extLst>
              <a:ext uri="{FF2B5EF4-FFF2-40B4-BE49-F238E27FC236}">
                <a16:creationId xmlns:a16="http://schemas.microsoft.com/office/drawing/2014/main" id="{6B4526D2-2058-0F45-F118-F0632F51E9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679" y="1506114"/>
            <a:ext cx="4769493" cy="2680254"/>
          </a:xfrm>
          <a:prstGeom prst="rect">
            <a:avLst/>
          </a:prstGeom>
        </p:spPr>
      </p:pic>
      <p:pic>
        <p:nvPicPr>
          <p:cNvPr id="7" name="Picture 6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A6DDA291-3601-C064-C95D-D7A83907B4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17" y="4137864"/>
            <a:ext cx="5069345" cy="182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CFCDC9-4F7D-F41B-078E-64A39118FB7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E683F8-4A39-13F3-5808-789C39C8AA31}"/>
              </a:ext>
            </a:extLst>
          </p:cNvPr>
          <p:cNvSpPr txBox="1"/>
          <p:nvPr/>
        </p:nvSpPr>
        <p:spPr>
          <a:xfrm>
            <a:off x="334440" y="135000"/>
            <a:ext cx="2912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The Physical System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Picture 6" descr="A screenshot of a math calculator&#10;&#10;Description automatically generated">
            <a:extLst>
              <a:ext uri="{FF2B5EF4-FFF2-40B4-BE49-F238E27FC236}">
                <a16:creationId xmlns:a16="http://schemas.microsoft.com/office/drawing/2014/main" id="{198F8189-B55D-4E70-D99D-9DAC879FF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63040"/>
            <a:ext cx="10696319" cy="546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0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Freeform 278"/>
          <p:cNvSpPr/>
          <p:nvPr/>
        </p:nvSpPr>
        <p:spPr>
          <a:xfrm>
            <a:off x="-37620" y="281520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80" name="Picture 279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Box 280"/>
          <p:cNvSpPr txBox="1"/>
          <p:nvPr/>
        </p:nvSpPr>
        <p:spPr>
          <a:xfrm>
            <a:off x="334440" y="135000"/>
            <a:ext cx="389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Primary Equation of Motion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reeform 282"/>
          <p:cNvSpPr/>
          <p:nvPr/>
        </p:nvSpPr>
        <p:spPr>
          <a:xfrm>
            <a:off x="334080" y="1337040"/>
            <a:ext cx="67320" cy="1036440"/>
          </a:xfrm>
          <a:custGeom>
            <a:avLst/>
            <a:gdLst/>
            <a:ahLst/>
            <a:cxnLst/>
            <a:rect l="0" t="0" r="r" b="b"/>
            <a:pathLst>
              <a:path w="187" h="2879">
                <a:moveTo>
                  <a:pt x="0" y="0"/>
                </a:moveTo>
                <a:lnTo>
                  <a:pt x="187" y="0"/>
                </a:lnTo>
                <a:lnTo>
                  <a:pt x="187" y="2879"/>
                </a:lnTo>
                <a:lnTo>
                  <a:pt x="0" y="287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334440" y="923040"/>
            <a:ext cx="74275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The ﬁrst principal equation governing the rotor's rotation about the central vertical axis: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5143680" y="1600920"/>
            <a:ext cx="334080" cy="39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630" b="1" u="none" strike="noStrike">
                <a:solidFill>
                  <a:srgbClr val="1C3F94"/>
                </a:solidFill>
                <a:effectLst/>
                <a:uFillTx/>
                <a:latin typeface="DejaVuSerif"/>
                <a:ea typeface="DejaVuSerif"/>
              </a:rPr>
              <a:t>̇</a:t>
            </a:r>
            <a:endParaRPr lang="en-US" sz="26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reeform 287"/>
          <p:cNvSpPr/>
          <p:nvPr/>
        </p:nvSpPr>
        <p:spPr>
          <a:xfrm>
            <a:off x="334080" y="2657160"/>
            <a:ext cx="3209400" cy="1187280"/>
          </a:xfrm>
          <a:custGeom>
            <a:avLst/>
            <a:gdLst/>
            <a:ahLst/>
            <a:cxnLst/>
            <a:rect l="0" t="0" r="r" b="b"/>
            <a:pathLst>
              <a:path w="8915" h="3298">
                <a:moveTo>
                  <a:pt x="0" y="3112"/>
                </a:moveTo>
                <a:lnTo>
                  <a:pt x="0" y="140"/>
                </a:lnTo>
                <a:cubicBezTo>
                  <a:pt x="0" y="130"/>
                  <a:pt x="1" y="121"/>
                  <a:pt x="4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9" y="78"/>
                  <a:pt x="25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3" y="24"/>
                </a:cubicBezTo>
                <a:cubicBezTo>
                  <a:pt x="93" y="19"/>
                  <a:pt x="103" y="14"/>
                  <a:pt x="115" y="11"/>
                </a:cubicBezTo>
                <a:cubicBezTo>
                  <a:pt x="126" y="7"/>
                  <a:pt x="138" y="5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7"/>
                  <a:pt x="8800" y="11"/>
                </a:cubicBezTo>
                <a:cubicBezTo>
                  <a:pt x="8811" y="14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4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3"/>
                  <a:pt x="8911" y="112"/>
                </a:cubicBezTo>
                <a:cubicBezTo>
                  <a:pt x="8914" y="121"/>
                  <a:pt x="8915" y="130"/>
                  <a:pt x="8915" y="140"/>
                </a:cubicBezTo>
                <a:lnTo>
                  <a:pt x="8915" y="3112"/>
                </a:lnTo>
                <a:cubicBezTo>
                  <a:pt x="8915" y="3124"/>
                  <a:pt x="8914" y="3136"/>
                  <a:pt x="8911" y="3148"/>
                </a:cubicBezTo>
                <a:cubicBezTo>
                  <a:pt x="8909" y="3160"/>
                  <a:pt x="8905" y="3172"/>
                  <a:pt x="8901" y="3183"/>
                </a:cubicBezTo>
                <a:cubicBezTo>
                  <a:pt x="8896" y="3194"/>
                  <a:pt x="8890" y="3205"/>
                  <a:pt x="8884" y="3215"/>
                </a:cubicBezTo>
                <a:cubicBezTo>
                  <a:pt x="8877" y="3225"/>
                  <a:pt x="8869" y="3234"/>
                  <a:pt x="8860" y="3243"/>
                </a:cubicBezTo>
                <a:cubicBezTo>
                  <a:pt x="8852" y="3252"/>
                  <a:pt x="8842" y="3259"/>
                  <a:pt x="8832" y="3266"/>
                </a:cubicBezTo>
                <a:cubicBezTo>
                  <a:pt x="8822" y="3273"/>
                  <a:pt x="8811" y="3279"/>
                  <a:pt x="8800" y="3283"/>
                </a:cubicBezTo>
                <a:cubicBezTo>
                  <a:pt x="8789" y="3288"/>
                  <a:pt x="8777" y="3292"/>
                  <a:pt x="8765" y="3294"/>
                </a:cubicBezTo>
                <a:cubicBezTo>
                  <a:pt x="8753" y="3296"/>
                  <a:pt x="8741" y="3298"/>
                  <a:pt x="8729" y="3298"/>
                </a:cubicBezTo>
                <a:lnTo>
                  <a:pt x="186" y="3298"/>
                </a:lnTo>
                <a:cubicBezTo>
                  <a:pt x="174" y="3298"/>
                  <a:pt x="161" y="3296"/>
                  <a:pt x="149" y="3294"/>
                </a:cubicBezTo>
                <a:cubicBezTo>
                  <a:pt x="138" y="3292"/>
                  <a:pt x="126" y="3288"/>
                  <a:pt x="115" y="3283"/>
                </a:cubicBezTo>
                <a:cubicBezTo>
                  <a:pt x="103" y="3279"/>
                  <a:pt x="93" y="3273"/>
                  <a:pt x="83" y="3266"/>
                </a:cubicBezTo>
                <a:cubicBezTo>
                  <a:pt x="72" y="3259"/>
                  <a:pt x="63" y="3252"/>
                  <a:pt x="54" y="3243"/>
                </a:cubicBezTo>
                <a:cubicBezTo>
                  <a:pt x="46" y="3234"/>
                  <a:pt x="38" y="3225"/>
                  <a:pt x="31" y="3215"/>
                </a:cubicBezTo>
                <a:cubicBezTo>
                  <a:pt x="25" y="3205"/>
                  <a:pt x="19" y="3194"/>
                  <a:pt x="14" y="3183"/>
                </a:cubicBezTo>
                <a:cubicBezTo>
                  <a:pt x="9" y="3172"/>
                  <a:pt x="6" y="3160"/>
                  <a:pt x="4" y="3148"/>
                </a:cubicBezTo>
                <a:cubicBezTo>
                  <a:pt x="1" y="3136"/>
                  <a:pt x="0" y="3124"/>
                  <a:pt x="0" y="31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reeform 288"/>
          <p:cNvSpPr/>
          <p:nvPr/>
        </p:nvSpPr>
        <p:spPr>
          <a:xfrm>
            <a:off x="334080" y="264060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reeform 289"/>
          <p:cNvSpPr/>
          <p:nvPr/>
        </p:nvSpPr>
        <p:spPr>
          <a:xfrm>
            <a:off x="467640" y="2807640"/>
            <a:ext cx="401760" cy="401400"/>
          </a:xfrm>
          <a:custGeom>
            <a:avLst/>
            <a:gdLst/>
            <a:ahLst/>
            <a:cxnLst/>
            <a:rect l="0" t="0" r="r" b="b"/>
            <a:pathLst>
              <a:path w="1116" h="1115">
                <a:moveTo>
                  <a:pt x="1116" y="558"/>
                </a:moveTo>
                <a:cubicBezTo>
                  <a:pt x="1116" y="595"/>
                  <a:pt x="1112" y="631"/>
                  <a:pt x="1105" y="667"/>
                </a:cubicBezTo>
                <a:cubicBezTo>
                  <a:pt x="1098" y="703"/>
                  <a:pt x="1087" y="738"/>
                  <a:pt x="1073" y="771"/>
                </a:cubicBezTo>
                <a:cubicBezTo>
                  <a:pt x="1059" y="805"/>
                  <a:pt x="1042" y="837"/>
                  <a:pt x="1022" y="868"/>
                </a:cubicBezTo>
                <a:cubicBezTo>
                  <a:pt x="1001" y="898"/>
                  <a:pt x="978" y="926"/>
                  <a:pt x="952" y="952"/>
                </a:cubicBezTo>
                <a:cubicBezTo>
                  <a:pt x="927" y="978"/>
                  <a:pt x="898" y="1001"/>
                  <a:pt x="868" y="1021"/>
                </a:cubicBezTo>
                <a:cubicBezTo>
                  <a:pt x="838" y="1042"/>
                  <a:pt x="806" y="1059"/>
                  <a:pt x="772" y="1073"/>
                </a:cubicBezTo>
                <a:cubicBezTo>
                  <a:pt x="738" y="1087"/>
                  <a:pt x="703" y="1097"/>
                  <a:pt x="667" y="1105"/>
                </a:cubicBezTo>
                <a:cubicBezTo>
                  <a:pt x="631" y="1112"/>
                  <a:pt x="595" y="1115"/>
                  <a:pt x="559" y="1115"/>
                </a:cubicBezTo>
                <a:cubicBezTo>
                  <a:pt x="522" y="1115"/>
                  <a:pt x="486" y="1112"/>
                  <a:pt x="450" y="1105"/>
                </a:cubicBezTo>
                <a:cubicBezTo>
                  <a:pt x="414" y="1097"/>
                  <a:pt x="379" y="1087"/>
                  <a:pt x="344" y="1073"/>
                </a:cubicBezTo>
                <a:cubicBezTo>
                  <a:pt x="311" y="1059"/>
                  <a:pt x="278" y="1042"/>
                  <a:pt x="248" y="1021"/>
                </a:cubicBezTo>
                <a:cubicBezTo>
                  <a:pt x="218" y="1001"/>
                  <a:pt x="189" y="978"/>
                  <a:pt x="164" y="952"/>
                </a:cubicBezTo>
                <a:cubicBezTo>
                  <a:pt x="138" y="926"/>
                  <a:pt x="115" y="898"/>
                  <a:pt x="94" y="868"/>
                </a:cubicBezTo>
                <a:cubicBezTo>
                  <a:pt x="74" y="837"/>
                  <a:pt x="57" y="805"/>
                  <a:pt x="43" y="771"/>
                </a:cubicBezTo>
                <a:cubicBezTo>
                  <a:pt x="29" y="738"/>
                  <a:pt x="18" y="703"/>
                  <a:pt x="11" y="667"/>
                </a:cubicBezTo>
                <a:cubicBezTo>
                  <a:pt x="4" y="631"/>
                  <a:pt x="0" y="595"/>
                  <a:pt x="0" y="558"/>
                </a:cubicBezTo>
                <a:cubicBezTo>
                  <a:pt x="0" y="521"/>
                  <a:pt x="4" y="484"/>
                  <a:pt x="11" y="449"/>
                </a:cubicBezTo>
                <a:cubicBezTo>
                  <a:pt x="18" y="413"/>
                  <a:pt x="29" y="378"/>
                  <a:pt x="43" y="344"/>
                </a:cubicBezTo>
                <a:cubicBezTo>
                  <a:pt x="57" y="310"/>
                  <a:pt x="74" y="278"/>
                  <a:pt x="94" y="248"/>
                </a:cubicBezTo>
                <a:cubicBezTo>
                  <a:pt x="115" y="217"/>
                  <a:pt x="138" y="189"/>
                  <a:pt x="164" y="163"/>
                </a:cubicBezTo>
                <a:cubicBezTo>
                  <a:pt x="189" y="137"/>
                  <a:pt x="218" y="114"/>
                  <a:pt x="248" y="94"/>
                </a:cubicBezTo>
                <a:cubicBezTo>
                  <a:pt x="278" y="74"/>
                  <a:pt x="311" y="56"/>
                  <a:pt x="344" y="42"/>
                </a:cubicBezTo>
                <a:cubicBezTo>
                  <a:pt x="379" y="28"/>
                  <a:pt x="414" y="18"/>
                  <a:pt x="450" y="11"/>
                </a:cubicBezTo>
                <a:cubicBezTo>
                  <a:pt x="486" y="4"/>
                  <a:pt x="522" y="0"/>
                  <a:pt x="559" y="0"/>
                </a:cubicBezTo>
                <a:cubicBezTo>
                  <a:pt x="595" y="0"/>
                  <a:pt x="631" y="4"/>
                  <a:pt x="667" y="11"/>
                </a:cubicBezTo>
                <a:cubicBezTo>
                  <a:pt x="703" y="18"/>
                  <a:pt x="738" y="28"/>
                  <a:pt x="772" y="42"/>
                </a:cubicBezTo>
                <a:cubicBezTo>
                  <a:pt x="806" y="56"/>
                  <a:pt x="838" y="74"/>
                  <a:pt x="868" y="94"/>
                </a:cubicBezTo>
                <a:cubicBezTo>
                  <a:pt x="898" y="114"/>
                  <a:pt x="927" y="137"/>
                  <a:pt x="952" y="163"/>
                </a:cubicBezTo>
                <a:cubicBezTo>
                  <a:pt x="978" y="189"/>
                  <a:pt x="1001" y="217"/>
                  <a:pt x="1022" y="248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8"/>
                  <a:pt x="1098" y="413"/>
                  <a:pt x="1105" y="449"/>
                </a:cubicBezTo>
                <a:cubicBezTo>
                  <a:pt x="1112" y="484"/>
                  <a:pt x="1116" y="521"/>
                  <a:pt x="1116" y="558"/>
                </a:cubicBez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1" name="Picture 290"/>
          <p:cNvPicPr/>
          <p:nvPr/>
        </p:nvPicPr>
        <p:blipFill>
          <a:blip r:embed="rId4"/>
          <a:stretch/>
        </p:blipFill>
        <p:spPr>
          <a:xfrm>
            <a:off x="585000" y="29250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TextBox 291"/>
              <p:cNvSpPr txBox="1"/>
              <p:nvPr/>
            </p:nvSpPr>
            <p:spPr>
              <a:xfrm>
                <a:off x="4172040" y="1658482"/>
                <a:ext cx="2369160" cy="42415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30" b="1" i="0" u="none" strike="noStrike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30" b="1" i="0" u="none" strike="noStrike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sz="2630" b="1" i="0" u="none" strike="noStrike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𝐳</m:t>
                        </m:r>
                      </m:sub>
                    </m:sSub>
                    <m:acc>
                      <m:accPr>
                        <m:chr m:val="̈"/>
                        <m:ctrlPr>
                          <a:rPr lang="en-US" sz="2630" b="1" i="0" u="none" strike="noStrike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30" b="1" i="0" u="none" strike="noStrike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𝛉</m:t>
                        </m:r>
                      </m:e>
                    </m:acc>
                    <m:r>
                      <a:rPr lang="en-US" sz="2630" b="1" i="0" u="none" strike="noStrike" smtClean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30" b="1" u="none" strike="noStrike" dirty="0">
                    <a:solidFill>
                      <a:schemeClr val="accent2">
                        <a:lumMod val="50000"/>
                      </a:schemeClr>
                    </a:solidFill>
                    <a:effectLst/>
                    <a:uFillTx/>
                    <a:latin typeface="Times New Roman"/>
                    <a:ea typeface="Times New Roman"/>
                  </a:rPr>
                  <a:t>+ </a:t>
                </a:r>
                <a14:m>
                  <m:oMath xmlns:m="http://schemas.openxmlformats.org/officeDocument/2006/math">
                    <m:r>
                      <a:rPr lang="en-US" sz="2630" b="1" i="0" u="none" strike="noStrike" smtClean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n-US" sz="2630" b="1" u="none" strike="noStrike" dirty="0">
                    <a:solidFill>
                      <a:schemeClr val="accent2">
                        <a:lumMod val="50000"/>
                      </a:schemeClr>
                    </a:solidFill>
                    <a:effectLst/>
                    <a:uFillTx/>
                    <a:latin typeface="Times New Roman"/>
                    <a:ea typeface="Times New Roman"/>
                  </a:rPr>
                  <a:t> </a:t>
                </a:r>
                <a:r>
                  <a:rPr lang="en-US" sz="2630" b="1" u="none" strike="noStrike" dirty="0">
                    <a:solidFill>
                      <a:srgbClr val="333333"/>
                    </a:solidFill>
                    <a:effectLst/>
                    <a:uFillTx/>
                    <a:latin typeface="Times New Roman"/>
                    <a:ea typeface="Times New Roman"/>
                  </a:rPr>
                  <a:t>=  </a:t>
                </a:r>
                <a:r>
                  <a:rPr lang="en-US" sz="2630" b="1" u="none" strike="noStrike" dirty="0">
                    <a:solidFill>
                      <a:srgbClr val="1C3F94"/>
                    </a:solidFill>
                    <a:effectLst/>
                    <a:uFillTx/>
                    <a:latin typeface="Times New Roman"/>
                    <a:ea typeface="Times New Roman"/>
                  </a:rPr>
                  <a:t>0</a:t>
                </a:r>
                <a:endParaRPr lang="en-US" sz="2630" b="1" u="none" strike="noStrike" dirty="0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mc:Choice>
        <mc:Fallback xmlns="">
          <p:sp>
            <p:nvSpPr>
              <p:cNvPr id="292" name="TextBox 2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040" y="1658482"/>
                <a:ext cx="2369160" cy="424155"/>
              </a:xfrm>
              <a:prstGeom prst="rect">
                <a:avLst/>
              </a:prstGeom>
              <a:blipFill>
                <a:blip r:embed="rId5"/>
                <a:stretch>
                  <a:fillRect l="-4787" t="-17143" b="-4285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TextBox 292"/>
          <p:cNvSpPr txBox="1"/>
          <p:nvPr/>
        </p:nvSpPr>
        <p:spPr>
          <a:xfrm>
            <a:off x="1002960" y="291168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I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468000" y="3327120"/>
            <a:ext cx="2855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Moment of inertia about the vertical z axis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reeform 294"/>
          <p:cNvSpPr/>
          <p:nvPr/>
        </p:nvSpPr>
        <p:spPr>
          <a:xfrm>
            <a:off x="3743640" y="2657160"/>
            <a:ext cx="3209400" cy="1187280"/>
          </a:xfrm>
          <a:custGeom>
            <a:avLst/>
            <a:gdLst/>
            <a:ahLst/>
            <a:cxnLst/>
            <a:rect l="0" t="0" r="r" b="b"/>
            <a:pathLst>
              <a:path w="8915" h="3298">
                <a:moveTo>
                  <a:pt x="0" y="3112"/>
                </a:moveTo>
                <a:lnTo>
                  <a:pt x="0" y="140"/>
                </a:lnTo>
                <a:cubicBezTo>
                  <a:pt x="0" y="130"/>
                  <a:pt x="1" y="121"/>
                  <a:pt x="4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2" y="24"/>
                </a:cubicBezTo>
                <a:cubicBezTo>
                  <a:pt x="93" y="19"/>
                  <a:pt x="103" y="14"/>
                  <a:pt x="115" y="11"/>
                </a:cubicBezTo>
                <a:cubicBezTo>
                  <a:pt x="126" y="7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7"/>
                  <a:pt x="8800" y="11"/>
                </a:cubicBezTo>
                <a:cubicBezTo>
                  <a:pt x="8811" y="14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3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3"/>
                  <a:pt x="8911" y="112"/>
                </a:cubicBezTo>
                <a:cubicBezTo>
                  <a:pt x="8914" y="121"/>
                  <a:pt x="8915" y="130"/>
                  <a:pt x="8915" y="140"/>
                </a:cubicBezTo>
                <a:lnTo>
                  <a:pt x="8915" y="3112"/>
                </a:lnTo>
                <a:cubicBezTo>
                  <a:pt x="8915" y="3124"/>
                  <a:pt x="8914" y="3136"/>
                  <a:pt x="8911" y="3148"/>
                </a:cubicBezTo>
                <a:cubicBezTo>
                  <a:pt x="8909" y="3160"/>
                  <a:pt x="8905" y="3172"/>
                  <a:pt x="8901" y="3183"/>
                </a:cubicBezTo>
                <a:cubicBezTo>
                  <a:pt x="8896" y="3194"/>
                  <a:pt x="8890" y="3205"/>
                  <a:pt x="8883" y="3215"/>
                </a:cubicBezTo>
                <a:cubicBezTo>
                  <a:pt x="8877" y="3225"/>
                  <a:pt x="8869" y="3234"/>
                  <a:pt x="8860" y="3243"/>
                </a:cubicBezTo>
                <a:cubicBezTo>
                  <a:pt x="8852" y="3252"/>
                  <a:pt x="8842" y="3259"/>
                  <a:pt x="8832" y="3266"/>
                </a:cubicBezTo>
                <a:cubicBezTo>
                  <a:pt x="8822" y="3273"/>
                  <a:pt x="8811" y="3279"/>
                  <a:pt x="8800" y="3283"/>
                </a:cubicBezTo>
                <a:cubicBezTo>
                  <a:pt x="8789" y="3288"/>
                  <a:pt x="8777" y="3292"/>
                  <a:pt x="8765" y="3294"/>
                </a:cubicBezTo>
                <a:cubicBezTo>
                  <a:pt x="8753" y="3296"/>
                  <a:pt x="8741" y="3298"/>
                  <a:pt x="8729" y="3298"/>
                </a:cubicBezTo>
                <a:lnTo>
                  <a:pt x="186" y="3298"/>
                </a:lnTo>
                <a:cubicBezTo>
                  <a:pt x="173" y="3298"/>
                  <a:pt x="161" y="3296"/>
                  <a:pt x="149" y="3294"/>
                </a:cubicBezTo>
                <a:cubicBezTo>
                  <a:pt x="137" y="3292"/>
                  <a:pt x="126" y="3288"/>
                  <a:pt x="115" y="3283"/>
                </a:cubicBezTo>
                <a:cubicBezTo>
                  <a:pt x="103" y="3279"/>
                  <a:pt x="93" y="3273"/>
                  <a:pt x="82" y="3266"/>
                </a:cubicBezTo>
                <a:cubicBezTo>
                  <a:pt x="72" y="3259"/>
                  <a:pt x="63" y="3252"/>
                  <a:pt x="54" y="3243"/>
                </a:cubicBezTo>
                <a:cubicBezTo>
                  <a:pt x="46" y="3234"/>
                  <a:pt x="38" y="3225"/>
                  <a:pt x="31" y="3215"/>
                </a:cubicBezTo>
                <a:cubicBezTo>
                  <a:pt x="24" y="3205"/>
                  <a:pt x="19" y="3194"/>
                  <a:pt x="14" y="3183"/>
                </a:cubicBezTo>
                <a:cubicBezTo>
                  <a:pt x="9" y="3172"/>
                  <a:pt x="6" y="3160"/>
                  <a:pt x="4" y="3148"/>
                </a:cubicBezTo>
                <a:cubicBezTo>
                  <a:pt x="1" y="3136"/>
                  <a:pt x="0" y="3124"/>
                  <a:pt x="0" y="31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reeform 295"/>
          <p:cNvSpPr/>
          <p:nvPr/>
        </p:nvSpPr>
        <p:spPr>
          <a:xfrm>
            <a:off x="3743640" y="264060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reeform 296"/>
          <p:cNvSpPr/>
          <p:nvPr/>
        </p:nvSpPr>
        <p:spPr>
          <a:xfrm>
            <a:off x="3877200" y="2807640"/>
            <a:ext cx="401760" cy="401400"/>
          </a:xfrm>
          <a:custGeom>
            <a:avLst/>
            <a:gdLst/>
            <a:ahLst/>
            <a:cxnLst/>
            <a:rect l="0" t="0" r="r" b="b"/>
            <a:pathLst>
              <a:path w="1116" h="1115">
                <a:moveTo>
                  <a:pt x="1116" y="558"/>
                </a:moveTo>
                <a:cubicBezTo>
                  <a:pt x="1116" y="595"/>
                  <a:pt x="1112" y="631"/>
                  <a:pt x="1105" y="667"/>
                </a:cubicBezTo>
                <a:cubicBezTo>
                  <a:pt x="1098" y="703"/>
                  <a:pt x="1087" y="738"/>
                  <a:pt x="1073" y="771"/>
                </a:cubicBezTo>
                <a:cubicBezTo>
                  <a:pt x="1059" y="805"/>
                  <a:pt x="1042" y="837"/>
                  <a:pt x="1022" y="868"/>
                </a:cubicBezTo>
                <a:cubicBezTo>
                  <a:pt x="1001" y="898"/>
                  <a:pt x="978" y="926"/>
                  <a:pt x="952" y="952"/>
                </a:cubicBezTo>
                <a:cubicBezTo>
                  <a:pt x="926" y="978"/>
                  <a:pt x="897" y="1001"/>
                  <a:pt x="867" y="1021"/>
                </a:cubicBezTo>
                <a:cubicBezTo>
                  <a:pt x="837" y="1042"/>
                  <a:pt x="804" y="1059"/>
                  <a:pt x="771" y="1073"/>
                </a:cubicBezTo>
                <a:cubicBezTo>
                  <a:pt x="737" y="1087"/>
                  <a:pt x="702" y="1097"/>
                  <a:pt x="666" y="1105"/>
                </a:cubicBezTo>
                <a:cubicBezTo>
                  <a:pt x="630" y="1112"/>
                  <a:pt x="594" y="1115"/>
                  <a:pt x="557" y="1115"/>
                </a:cubicBezTo>
                <a:cubicBezTo>
                  <a:pt x="521" y="1115"/>
                  <a:pt x="485" y="1112"/>
                  <a:pt x="449" y="1105"/>
                </a:cubicBezTo>
                <a:cubicBezTo>
                  <a:pt x="413" y="1097"/>
                  <a:pt x="378" y="1087"/>
                  <a:pt x="344" y="1073"/>
                </a:cubicBezTo>
                <a:cubicBezTo>
                  <a:pt x="310" y="1059"/>
                  <a:pt x="278" y="1042"/>
                  <a:pt x="248" y="1021"/>
                </a:cubicBezTo>
                <a:cubicBezTo>
                  <a:pt x="218" y="1001"/>
                  <a:pt x="189" y="978"/>
                  <a:pt x="164" y="952"/>
                </a:cubicBezTo>
                <a:cubicBezTo>
                  <a:pt x="138" y="926"/>
                  <a:pt x="115" y="898"/>
                  <a:pt x="94" y="868"/>
                </a:cubicBezTo>
                <a:cubicBezTo>
                  <a:pt x="74" y="837"/>
                  <a:pt x="57" y="805"/>
                  <a:pt x="43" y="771"/>
                </a:cubicBezTo>
                <a:cubicBezTo>
                  <a:pt x="29" y="738"/>
                  <a:pt x="18" y="703"/>
                  <a:pt x="11" y="667"/>
                </a:cubicBezTo>
                <a:cubicBezTo>
                  <a:pt x="4" y="631"/>
                  <a:pt x="0" y="595"/>
                  <a:pt x="0" y="558"/>
                </a:cubicBezTo>
                <a:cubicBezTo>
                  <a:pt x="0" y="521"/>
                  <a:pt x="4" y="484"/>
                  <a:pt x="11" y="449"/>
                </a:cubicBezTo>
                <a:cubicBezTo>
                  <a:pt x="18" y="413"/>
                  <a:pt x="29" y="378"/>
                  <a:pt x="43" y="344"/>
                </a:cubicBezTo>
                <a:cubicBezTo>
                  <a:pt x="57" y="310"/>
                  <a:pt x="74" y="278"/>
                  <a:pt x="94" y="248"/>
                </a:cubicBezTo>
                <a:cubicBezTo>
                  <a:pt x="115" y="217"/>
                  <a:pt x="138" y="189"/>
                  <a:pt x="164" y="163"/>
                </a:cubicBezTo>
                <a:cubicBezTo>
                  <a:pt x="189" y="137"/>
                  <a:pt x="218" y="114"/>
                  <a:pt x="248" y="94"/>
                </a:cubicBezTo>
                <a:cubicBezTo>
                  <a:pt x="278" y="74"/>
                  <a:pt x="310" y="56"/>
                  <a:pt x="344" y="42"/>
                </a:cubicBezTo>
                <a:cubicBezTo>
                  <a:pt x="378" y="28"/>
                  <a:pt x="413" y="18"/>
                  <a:pt x="449" y="11"/>
                </a:cubicBezTo>
                <a:cubicBezTo>
                  <a:pt x="485" y="4"/>
                  <a:pt x="521" y="0"/>
                  <a:pt x="557" y="0"/>
                </a:cubicBezTo>
                <a:cubicBezTo>
                  <a:pt x="594" y="0"/>
                  <a:pt x="630" y="4"/>
                  <a:pt x="666" y="11"/>
                </a:cubicBezTo>
                <a:cubicBezTo>
                  <a:pt x="702" y="18"/>
                  <a:pt x="737" y="28"/>
                  <a:pt x="771" y="42"/>
                </a:cubicBezTo>
                <a:cubicBezTo>
                  <a:pt x="804" y="56"/>
                  <a:pt x="837" y="74"/>
                  <a:pt x="867" y="94"/>
                </a:cubicBezTo>
                <a:cubicBezTo>
                  <a:pt x="897" y="114"/>
                  <a:pt x="926" y="137"/>
                  <a:pt x="952" y="163"/>
                </a:cubicBezTo>
                <a:cubicBezTo>
                  <a:pt x="978" y="189"/>
                  <a:pt x="1001" y="217"/>
                  <a:pt x="1022" y="248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8"/>
                  <a:pt x="1098" y="413"/>
                  <a:pt x="1105" y="449"/>
                </a:cubicBezTo>
                <a:cubicBezTo>
                  <a:pt x="1112" y="484"/>
                  <a:pt x="1116" y="521"/>
                  <a:pt x="1116" y="558"/>
                </a:cubicBez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98" name="Picture 297"/>
          <p:cNvPicPr/>
          <p:nvPr/>
        </p:nvPicPr>
        <p:blipFill>
          <a:blip r:embed="rId6"/>
          <a:stretch/>
        </p:blipFill>
        <p:spPr>
          <a:xfrm>
            <a:off x="4002840" y="2925000"/>
            <a:ext cx="1501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Box 298"/>
          <p:cNvSpPr txBox="1"/>
          <p:nvPr/>
        </p:nvSpPr>
        <p:spPr>
          <a:xfrm>
            <a:off x="468000" y="3527640"/>
            <a:ext cx="1289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of the rotor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4412160" y="291168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θ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3877560" y="3327120"/>
            <a:ext cx="2592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Angular position of the rotor about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reeform 301"/>
          <p:cNvSpPr/>
          <p:nvPr/>
        </p:nvSpPr>
        <p:spPr>
          <a:xfrm>
            <a:off x="7153200" y="2657160"/>
            <a:ext cx="3209400" cy="1187280"/>
          </a:xfrm>
          <a:custGeom>
            <a:avLst/>
            <a:gdLst/>
            <a:ahLst/>
            <a:cxnLst/>
            <a:rect l="0" t="0" r="r" b="b"/>
            <a:pathLst>
              <a:path w="8915" h="3298">
                <a:moveTo>
                  <a:pt x="0" y="3112"/>
                </a:moveTo>
                <a:lnTo>
                  <a:pt x="0" y="140"/>
                </a:lnTo>
                <a:cubicBezTo>
                  <a:pt x="0" y="130"/>
                  <a:pt x="1" y="121"/>
                  <a:pt x="3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2" y="24"/>
                </a:cubicBezTo>
                <a:cubicBezTo>
                  <a:pt x="93" y="19"/>
                  <a:pt x="103" y="14"/>
                  <a:pt x="115" y="11"/>
                </a:cubicBezTo>
                <a:cubicBezTo>
                  <a:pt x="126" y="7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7"/>
                  <a:pt x="8800" y="11"/>
                </a:cubicBezTo>
                <a:cubicBezTo>
                  <a:pt x="8811" y="14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3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3"/>
                  <a:pt x="8911" y="112"/>
                </a:cubicBezTo>
                <a:cubicBezTo>
                  <a:pt x="8913" y="121"/>
                  <a:pt x="8915" y="130"/>
                  <a:pt x="8915" y="140"/>
                </a:cubicBezTo>
                <a:lnTo>
                  <a:pt x="8915" y="3112"/>
                </a:lnTo>
                <a:cubicBezTo>
                  <a:pt x="8915" y="3124"/>
                  <a:pt x="8913" y="3136"/>
                  <a:pt x="8911" y="3148"/>
                </a:cubicBezTo>
                <a:cubicBezTo>
                  <a:pt x="8909" y="3160"/>
                  <a:pt x="8905" y="3172"/>
                  <a:pt x="8901" y="3183"/>
                </a:cubicBezTo>
                <a:cubicBezTo>
                  <a:pt x="8896" y="3194"/>
                  <a:pt x="8890" y="3205"/>
                  <a:pt x="8883" y="3215"/>
                </a:cubicBezTo>
                <a:cubicBezTo>
                  <a:pt x="8877" y="3225"/>
                  <a:pt x="8869" y="3234"/>
                  <a:pt x="8860" y="3243"/>
                </a:cubicBezTo>
                <a:cubicBezTo>
                  <a:pt x="8852" y="3252"/>
                  <a:pt x="8842" y="3259"/>
                  <a:pt x="8832" y="3266"/>
                </a:cubicBezTo>
                <a:cubicBezTo>
                  <a:pt x="8822" y="3273"/>
                  <a:pt x="8811" y="3279"/>
                  <a:pt x="8800" y="3283"/>
                </a:cubicBezTo>
                <a:cubicBezTo>
                  <a:pt x="8789" y="3288"/>
                  <a:pt x="8777" y="3292"/>
                  <a:pt x="8765" y="3294"/>
                </a:cubicBezTo>
                <a:cubicBezTo>
                  <a:pt x="8753" y="3296"/>
                  <a:pt x="8741" y="3298"/>
                  <a:pt x="8729" y="3298"/>
                </a:cubicBezTo>
                <a:lnTo>
                  <a:pt x="186" y="3298"/>
                </a:lnTo>
                <a:cubicBezTo>
                  <a:pt x="173" y="3298"/>
                  <a:pt x="161" y="3296"/>
                  <a:pt x="149" y="3294"/>
                </a:cubicBezTo>
                <a:cubicBezTo>
                  <a:pt x="137" y="3292"/>
                  <a:pt x="126" y="3288"/>
                  <a:pt x="115" y="3283"/>
                </a:cubicBezTo>
                <a:cubicBezTo>
                  <a:pt x="103" y="3279"/>
                  <a:pt x="93" y="3273"/>
                  <a:pt x="82" y="3266"/>
                </a:cubicBezTo>
                <a:cubicBezTo>
                  <a:pt x="72" y="3259"/>
                  <a:pt x="63" y="3252"/>
                  <a:pt x="54" y="3243"/>
                </a:cubicBezTo>
                <a:cubicBezTo>
                  <a:pt x="46" y="3234"/>
                  <a:pt x="38" y="3225"/>
                  <a:pt x="31" y="3215"/>
                </a:cubicBezTo>
                <a:cubicBezTo>
                  <a:pt x="24" y="3205"/>
                  <a:pt x="19" y="3194"/>
                  <a:pt x="14" y="3183"/>
                </a:cubicBezTo>
                <a:cubicBezTo>
                  <a:pt x="9" y="3172"/>
                  <a:pt x="6" y="3160"/>
                  <a:pt x="3" y="3148"/>
                </a:cubicBezTo>
                <a:cubicBezTo>
                  <a:pt x="1" y="3136"/>
                  <a:pt x="0" y="3124"/>
                  <a:pt x="0" y="31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reeform 302"/>
          <p:cNvSpPr/>
          <p:nvPr/>
        </p:nvSpPr>
        <p:spPr>
          <a:xfrm>
            <a:off x="7153200" y="264060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reeform 303"/>
          <p:cNvSpPr/>
          <p:nvPr/>
        </p:nvSpPr>
        <p:spPr>
          <a:xfrm>
            <a:off x="7286760" y="2807640"/>
            <a:ext cx="401760" cy="401400"/>
          </a:xfrm>
          <a:custGeom>
            <a:avLst/>
            <a:gdLst/>
            <a:ahLst/>
            <a:cxnLst/>
            <a:rect l="0" t="0" r="r" b="b"/>
            <a:pathLst>
              <a:path w="1116" h="1115">
                <a:moveTo>
                  <a:pt x="1116" y="558"/>
                </a:moveTo>
                <a:cubicBezTo>
                  <a:pt x="1116" y="595"/>
                  <a:pt x="1112" y="631"/>
                  <a:pt x="1105" y="667"/>
                </a:cubicBezTo>
                <a:cubicBezTo>
                  <a:pt x="1098" y="703"/>
                  <a:pt x="1087" y="738"/>
                  <a:pt x="1073" y="771"/>
                </a:cubicBezTo>
                <a:cubicBezTo>
                  <a:pt x="1059" y="805"/>
                  <a:pt x="1042" y="837"/>
                  <a:pt x="1022" y="868"/>
                </a:cubicBezTo>
                <a:cubicBezTo>
                  <a:pt x="1001" y="898"/>
                  <a:pt x="978" y="926"/>
                  <a:pt x="952" y="952"/>
                </a:cubicBezTo>
                <a:cubicBezTo>
                  <a:pt x="926" y="978"/>
                  <a:pt x="898" y="1001"/>
                  <a:pt x="868" y="1021"/>
                </a:cubicBezTo>
                <a:cubicBezTo>
                  <a:pt x="837" y="1042"/>
                  <a:pt x="805" y="1059"/>
                  <a:pt x="772" y="1073"/>
                </a:cubicBezTo>
                <a:cubicBezTo>
                  <a:pt x="738" y="1087"/>
                  <a:pt x="703" y="1097"/>
                  <a:pt x="667" y="1105"/>
                </a:cubicBezTo>
                <a:cubicBezTo>
                  <a:pt x="631" y="1112"/>
                  <a:pt x="595" y="1115"/>
                  <a:pt x="558" y="1115"/>
                </a:cubicBezTo>
                <a:cubicBezTo>
                  <a:pt x="522" y="1115"/>
                  <a:pt x="486" y="1112"/>
                  <a:pt x="450" y="1105"/>
                </a:cubicBezTo>
                <a:cubicBezTo>
                  <a:pt x="414" y="1097"/>
                  <a:pt x="379" y="1087"/>
                  <a:pt x="344" y="1073"/>
                </a:cubicBezTo>
                <a:cubicBezTo>
                  <a:pt x="310" y="1059"/>
                  <a:pt x="278" y="1042"/>
                  <a:pt x="248" y="1021"/>
                </a:cubicBezTo>
                <a:cubicBezTo>
                  <a:pt x="217" y="1001"/>
                  <a:pt x="189" y="978"/>
                  <a:pt x="163" y="952"/>
                </a:cubicBezTo>
                <a:cubicBezTo>
                  <a:pt x="138" y="926"/>
                  <a:pt x="114" y="898"/>
                  <a:pt x="94" y="868"/>
                </a:cubicBezTo>
                <a:cubicBezTo>
                  <a:pt x="74" y="837"/>
                  <a:pt x="57" y="805"/>
                  <a:pt x="43" y="771"/>
                </a:cubicBezTo>
                <a:cubicBezTo>
                  <a:pt x="29" y="738"/>
                  <a:pt x="18" y="703"/>
                  <a:pt x="11" y="667"/>
                </a:cubicBezTo>
                <a:cubicBezTo>
                  <a:pt x="4" y="631"/>
                  <a:pt x="0" y="595"/>
                  <a:pt x="0" y="558"/>
                </a:cubicBezTo>
                <a:cubicBezTo>
                  <a:pt x="0" y="521"/>
                  <a:pt x="4" y="484"/>
                  <a:pt x="11" y="449"/>
                </a:cubicBezTo>
                <a:cubicBezTo>
                  <a:pt x="18" y="413"/>
                  <a:pt x="29" y="378"/>
                  <a:pt x="43" y="344"/>
                </a:cubicBezTo>
                <a:cubicBezTo>
                  <a:pt x="57" y="310"/>
                  <a:pt x="74" y="278"/>
                  <a:pt x="94" y="248"/>
                </a:cubicBezTo>
                <a:cubicBezTo>
                  <a:pt x="114" y="217"/>
                  <a:pt x="138" y="189"/>
                  <a:pt x="163" y="163"/>
                </a:cubicBezTo>
                <a:cubicBezTo>
                  <a:pt x="189" y="137"/>
                  <a:pt x="217" y="114"/>
                  <a:pt x="248" y="94"/>
                </a:cubicBezTo>
                <a:cubicBezTo>
                  <a:pt x="278" y="74"/>
                  <a:pt x="310" y="56"/>
                  <a:pt x="344" y="42"/>
                </a:cubicBezTo>
                <a:cubicBezTo>
                  <a:pt x="379" y="28"/>
                  <a:pt x="414" y="18"/>
                  <a:pt x="450" y="11"/>
                </a:cubicBezTo>
                <a:cubicBezTo>
                  <a:pt x="486" y="4"/>
                  <a:pt x="522" y="0"/>
                  <a:pt x="558" y="0"/>
                </a:cubicBezTo>
                <a:cubicBezTo>
                  <a:pt x="595" y="0"/>
                  <a:pt x="631" y="4"/>
                  <a:pt x="667" y="11"/>
                </a:cubicBezTo>
                <a:cubicBezTo>
                  <a:pt x="703" y="18"/>
                  <a:pt x="738" y="28"/>
                  <a:pt x="772" y="42"/>
                </a:cubicBezTo>
                <a:cubicBezTo>
                  <a:pt x="805" y="56"/>
                  <a:pt x="837" y="74"/>
                  <a:pt x="868" y="94"/>
                </a:cubicBezTo>
                <a:cubicBezTo>
                  <a:pt x="898" y="114"/>
                  <a:pt x="926" y="137"/>
                  <a:pt x="952" y="163"/>
                </a:cubicBezTo>
                <a:cubicBezTo>
                  <a:pt x="978" y="189"/>
                  <a:pt x="1001" y="217"/>
                  <a:pt x="1022" y="248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8"/>
                  <a:pt x="1098" y="413"/>
                  <a:pt x="1105" y="449"/>
                </a:cubicBezTo>
                <a:cubicBezTo>
                  <a:pt x="1112" y="484"/>
                  <a:pt x="1116" y="521"/>
                  <a:pt x="1116" y="558"/>
                </a:cubicBez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5" name="Picture 304"/>
          <p:cNvPicPr/>
          <p:nvPr/>
        </p:nvPicPr>
        <p:blipFill>
          <a:blip r:embed="rId7"/>
          <a:stretch/>
        </p:blipFill>
        <p:spPr>
          <a:xfrm>
            <a:off x="7395840" y="292500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TextBox 305"/>
          <p:cNvSpPr txBox="1"/>
          <p:nvPr/>
        </p:nvSpPr>
        <p:spPr>
          <a:xfrm>
            <a:off x="3877560" y="3527640"/>
            <a:ext cx="1323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central vertical axis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7821720" y="291168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θ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7921440" y="2881440"/>
            <a:ext cx="16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̇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7287120" y="3327120"/>
            <a:ext cx="2571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Angular velocity of the rotor's rotation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reeform 309"/>
          <p:cNvSpPr/>
          <p:nvPr/>
        </p:nvSpPr>
        <p:spPr>
          <a:xfrm>
            <a:off x="350640" y="4178160"/>
            <a:ext cx="10011960" cy="1003320"/>
          </a:xfrm>
          <a:custGeom>
            <a:avLst/>
            <a:gdLst/>
            <a:ahLst/>
            <a:cxnLst/>
            <a:rect l="0" t="0" r="r" b="b"/>
            <a:pathLst>
              <a:path w="27811" h="2787">
                <a:moveTo>
                  <a:pt x="0" y="2601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3"/>
                  <a:pt x="19" y="93"/>
                  <a:pt x="24" y="83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9"/>
                  <a:pt x="104" y="6"/>
                  <a:pt x="113" y="4"/>
                </a:cubicBezTo>
                <a:cubicBezTo>
                  <a:pt x="122" y="1"/>
                  <a:pt x="131" y="0"/>
                  <a:pt x="140" y="0"/>
                </a:cubicBezTo>
                <a:lnTo>
                  <a:pt x="27625" y="0"/>
                </a:lnTo>
                <a:cubicBezTo>
                  <a:pt x="27637" y="0"/>
                  <a:pt x="27649" y="1"/>
                  <a:pt x="27661" y="4"/>
                </a:cubicBezTo>
                <a:cubicBezTo>
                  <a:pt x="27673" y="6"/>
                  <a:pt x="27685" y="9"/>
                  <a:pt x="27696" y="14"/>
                </a:cubicBezTo>
                <a:cubicBezTo>
                  <a:pt x="27707" y="19"/>
                  <a:pt x="27718" y="25"/>
                  <a:pt x="27728" y="31"/>
                </a:cubicBezTo>
                <a:cubicBezTo>
                  <a:pt x="27738" y="38"/>
                  <a:pt x="27748" y="46"/>
                  <a:pt x="27756" y="54"/>
                </a:cubicBezTo>
                <a:cubicBezTo>
                  <a:pt x="27765" y="63"/>
                  <a:pt x="27773" y="72"/>
                  <a:pt x="27779" y="83"/>
                </a:cubicBezTo>
                <a:cubicBezTo>
                  <a:pt x="27786" y="93"/>
                  <a:pt x="27792" y="103"/>
                  <a:pt x="27797" y="115"/>
                </a:cubicBezTo>
                <a:cubicBezTo>
                  <a:pt x="27801" y="126"/>
                  <a:pt x="27805" y="138"/>
                  <a:pt x="27807" y="150"/>
                </a:cubicBezTo>
                <a:cubicBezTo>
                  <a:pt x="27809" y="161"/>
                  <a:pt x="27811" y="174"/>
                  <a:pt x="27811" y="186"/>
                </a:cubicBezTo>
                <a:lnTo>
                  <a:pt x="27811" y="2601"/>
                </a:lnTo>
                <a:cubicBezTo>
                  <a:pt x="27811" y="2613"/>
                  <a:pt x="27809" y="2625"/>
                  <a:pt x="27807" y="2637"/>
                </a:cubicBezTo>
                <a:cubicBezTo>
                  <a:pt x="27805" y="2649"/>
                  <a:pt x="27801" y="2661"/>
                  <a:pt x="27797" y="2672"/>
                </a:cubicBezTo>
                <a:cubicBezTo>
                  <a:pt x="27792" y="2683"/>
                  <a:pt x="27786" y="2694"/>
                  <a:pt x="27779" y="2704"/>
                </a:cubicBezTo>
                <a:cubicBezTo>
                  <a:pt x="27773" y="2714"/>
                  <a:pt x="27765" y="2724"/>
                  <a:pt x="27756" y="2732"/>
                </a:cubicBezTo>
                <a:cubicBezTo>
                  <a:pt x="27748" y="2741"/>
                  <a:pt x="27738" y="2749"/>
                  <a:pt x="27728" y="2755"/>
                </a:cubicBezTo>
                <a:cubicBezTo>
                  <a:pt x="27718" y="2762"/>
                  <a:pt x="27707" y="2768"/>
                  <a:pt x="27696" y="2772"/>
                </a:cubicBezTo>
                <a:cubicBezTo>
                  <a:pt x="27685" y="2777"/>
                  <a:pt x="27673" y="2781"/>
                  <a:pt x="27661" y="2783"/>
                </a:cubicBezTo>
                <a:cubicBezTo>
                  <a:pt x="27649" y="2785"/>
                  <a:pt x="27637" y="2787"/>
                  <a:pt x="27625" y="2787"/>
                </a:cubicBezTo>
                <a:lnTo>
                  <a:pt x="140" y="2787"/>
                </a:lnTo>
                <a:cubicBezTo>
                  <a:pt x="131" y="2787"/>
                  <a:pt x="122" y="2785"/>
                  <a:pt x="113" y="2783"/>
                </a:cubicBezTo>
                <a:cubicBezTo>
                  <a:pt x="104" y="2781"/>
                  <a:pt x="95" y="2777"/>
                  <a:pt x="86" y="2772"/>
                </a:cubicBezTo>
                <a:cubicBezTo>
                  <a:pt x="78" y="2768"/>
                  <a:pt x="70" y="2762"/>
                  <a:pt x="62" y="2755"/>
                </a:cubicBezTo>
                <a:cubicBezTo>
                  <a:pt x="55" y="2749"/>
                  <a:pt x="48" y="2741"/>
                  <a:pt x="41" y="2732"/>
                </a:cubicBezTo>
                <a:cubicBezTo>
                  <a:pt x="35" y="2724"/>
                  <a:pt x="29" y="2714"/>
                  <a:pt x="24" y="2704"/>
                </a:cubicBezTo>
                <a:cubicBezTo>
                  <a:pt x="19" y="2694"/>
                  <a:pt x="15" y="2683"/>
                  <a:pt x="11" y="2672"/>
                </a:cubicBezTo>
                <a:cubicBezTo>
                  <a:pt x="8" y="2661"/>
                  <a:pt x="5" y="2649"/>
                  <a:pt x="3" y="2637"/>
                </a:cubicBezTo>
                <a:cubicBezTo>
                  <a:pt x="1" y="2625"/>
                  <a:pt x="0" y="2613"/>
                  <a:pt x="0" y="2601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reeform 310"/>
          <p:cNvSpPr/>
          <p:nvPr/>
        </p:nvSpPr>
        <p:spPr>
          <a:xfrm>
            <a:off x="334080" y="4178160"/>
            <a:ext cx="67320" cy="1003320"/>
          </a:xfrm>
          <a:custGeom>
            <a:avLst/>
            <a:gdLst/>
            <a:ahLst/>
            <a:cxnLst/>
            <a:rect l="0" t="0" r="r" b="b"/>
            <a:pathLst>
              <a:path w="187" h="2787">
                <a:moveTo>
                  <a:pt x="0" y="0"/>
                </a:moveTo>
                <a:lnTo>
                  <a:pt x="187" y="0"/>
                </a:lnTo>
                <a:lnTo>
                  <a:pt x="187" y="2787"/>
                </a:lnTo>
                <a:lnTo>
                  <a:pt x="0" y="2787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2" name="Picture 311"/>
          <p:cNvPicPr/>
          <p:nvPr/>
        </p:nvPicPr>
        <p:blipFill>
          <a:blip r:embed="rId8"/>
          <a:stretch/>
        </p:blipFill>
        <p:spPr>
          <a:xfrm>
            <a:off x="534960" y="4345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Box 312"/>
          <p:cNvSpPr txBox="1"/>
          <p:nvPr/>
        </p:nvSpPr>
        <p:spPr>
          <a:xfrm>
            <a:off x="7287120" y="3527640"/>
            <a:ext cx="1074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about the z axis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TextBox 313"/>
          <p:cNvSpPr txBox="1"/>
          <p:nvPr/>
        </p:nvSpPr>
        <p:spPr>
          <a:xfrm>
            <a:off x="869040" y="4365720"/>
            <a:ext cx="1070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Key Insight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869040" y="4631040"/>
            <a:ext cx="9123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Setting torque (τ) equal to zero on the right side of the equation simpliﬁes the analysis to focus on the natural dynamics of the system.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869040" y="4831560"/>
            <a:ext cx="5763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This is particularly relevant when investigating the wobbling behavior at high speeds.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1065240" y="2984040"/>
            <a:ext cx="1249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z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7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Freeform 319"/>
          <p:cNvSpPr/>
          <p:nvPr/>
        </p:nvSpPr>
        <p:spPr>
          <a:xfrm>
            <a:off x="0" y="343565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21" name="Picture 320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Freeform 321"/>
          <p:cNvSpPr/>
          <p:nvPr/>
        </p:nvSpPr>
        <p:spPr>
          <a:xfrm>
            <a:off x="267120" y="835560"/>
            <a:ext cx="4120200" cy="5181480"/>
          </a:xfrm>
          <a:custGeom>
            <a:avLst/>
            <a:gdLst/>
            <a:ahLst/>
            <a:cxnLst/>
            <a:rect l="0" t="0" r="r" b="b"/>
            <a:pathLst>
              <a:path w="11445" h="14393">
                <a:moveTo>
                  <a:pt x="0" y="0"/>
                </a:moveTo>
                <a:lnTo>
                  <a:pt x="11445" y="0"/>
                </a:lnTo>
                <a:lnTo>
                  <a:pt x="11445" y="14393"/>
                </a:lnTo>
                <a:lnTo>
                  <a:pt x="0" y="143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reeform 322"/>
          <p:cNvSpPr/>
          <p:nvPr/>
        </p:nvSpPr>
        <p:spPr>
          <a:xfrm>
            <a:off x="267120" y="835560"/>
            <a:ext cx="33840" cy="5181480"/>
          </a:xfrm>
          <a:custGeom>
            <a:avLst/>
            <a:gdLst/>
            <a:ahLst/>
            <a:cxnLst/>
            <a:rect l="0" t="0" r="r" b="b"/>
            <a:pathLst>
              <a:path w="94" h="14393">
                <a:moveTo>
                  <a:pt x="0" y="0"/>
                </a:moveTo>
                <a:lnTo>
                  <a:pt x="94" y="0"/>
                </a:lnTo>
                <a:lnTo>
                  <a:pt x="94" y="14393"/>
                </a:lnTo>
                <a:lnTo>
                  <a:pt x="0" y="1439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24" name="Picture 323"/>
          <p:cNvPicPr/>
          <p:nvPr/>
        </p:nvPicPr>
        <p:blipFill>
          <a:blip r:embed="rId4"/>
          <a:stretch/>
        </p:blipFill>
        <p:spPr>
          <a:xfrm>
            <a:off x="468000" y="10029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Picture 324"/>
          <p:cNvPicPr/>
          <p:nvPr/>
        </p:nvPicPr>
        <p:blipFill>
          <a:blip r:embed="rId5"/>
          <a:stretch/>
        </p:blipFill>
        <p:spPr>
          <a:xfrm>
            <a:off x="593280" y="11282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Box 325"/>
          <p:cNvSpPr txBox="1"/>
          <p:nvPr/>
        </p:nvSpPr>
        <p:spPr>
          <a:xfrm>
            <a:off x="334440" y="135000"/>
            <a:ext cx="5784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The Challenge: Wobbling at High Speeds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reeform 326"/>
          <p:cNvSpPr/>
          <p:nvPr/>
        </p:nvSpPr>
        <p:spPr>
          <a:xfrm>
            <a:off x="526320" y="1629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5" y="95"/>
                  <a:pt x="99" y="100"/>
                </a:cubicBezTo>
                <a:cubicBezTo>
                  <a:pt x="94" y="106"/>
                  <a:pt x="87" y="110"/>
                  <a:pt x="80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2" y="106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29" y="7"/>
                  <a:pt x="36" y="4"/>
                </a:cubicBezTo>
                <a:cubicBezTo>
                  <a:pt x="43" y="2"/>
                  <a:pt x="50" y="0"/>
                  <a:pt x="58" y="0"/>
                </a:cubicBezTo>
                <a:cubicBezTo>
                  <a:pt x="66" y="0"/>
                  <a:pt x="73" y="2"/>
                  <a:pt x="80" y="4"/>
                </a:cubicBezTo>
                <a:cubicBezTo>
                  <a:pt x="87" y="7"/>
                  <a:pt x="94" y="12"/>
                  <a:pt x="99" y="17"/>
                </a:cubicBezTo>
                <a:cubicBezTo>
                  <a:pt x="105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1019520" y="1115280"/>
            <a:ext cx="1719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The Wobble Eﬀect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reeform 328"/>
          <p:cNvSpPr/>
          <p:nvPr/>
        </p:nvSpPr>
        <p:spPr>
          <a:xfrm>
            <a:off x="526320" y="1896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5" y="94"/>
                  <a:pt x="99" y="100"/>
                </a:cubicBezTo>
                <a:cubicBezTo>
                  <a:pt x="94" y="105"/>
                  <a:pt x="87" y="110"/>
                  <a:pt x="80" y="113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3"/>
                </a:cubicBezTo>
                <a:cubicBezTo>
                  <a:pt x="29" y="110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1" y="23"/>
                  <a:pt x="17" y="18"/>
                </a:cubicBezTo>
                <a:cubicBezTo>
                  <a:pt x="22" y="12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2"/>
                  <a:pt x="99" y="18"/>
                </a:cubicBezTo>
                <a:cubicBezTo>
                  <a:pt x="105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668520" y="1572480"/>
            <a:ext cx="3517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At 500 RPM, the rotor begins to wobble dramatically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TextBox 330"/>
          <p:cNvSpPr txBox="1"/>
          <p:nvPr/>
        </p:nvSpPr>
        <p:spPr>
          <a:xfrm>
            <a:off x="668520" y="1839600"/>
            <a:ext cx="3174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This wobbling indicates a loss of stability in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reeform 331"/>
          <p:cNvSpPr/>
          <p:nvPr/>
        </p:nvSpPr>
        <p:spPr>
          <a:xfrm>
            <a:off x="526320" y="2364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0"/>
                </a:cubicBezTo>
                <a:cubicBezTo>
                  <a:pt x="110" y="87"/>
                  <a:pt x="105" y="93"/>
                  <a:pt x="99" y="99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99"/>
                </a:cubicBezTo>
                <a:cubicBezTo>
                  <a:pt x="11" y="93"/>
                  <a:pt x="7" y="87"/>
                  <a:pt x="4" y="80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99" y="17"/>
                </a:cubicBezTo>
                <a:cubicBezTo>
                  <a:pt x="105" y="22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TextBox 332"/>
          <p:cNvSpPr txBox="1"/>
          <p:nvPr/>
        </p:nvSpPr>
        <p:spPr>
          <a:xfrm>
            <a:off x="668520" y="2040480"/>
            <a:ext cx="485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TextBox 333"/>
          <p:cNvSpPr txBox="1"/>
          <p:nvPr/>
        </p:nvSpPr>
        <p:spPr>
          <a:xfrm>
            <a:off x="668520" y="2307600"/>
            <a:ext cx="3436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Experimentalists discovered this threshold through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reeform 334"/>
          <p:cNvSpPr/>
          <p:nvPr/>
        </p:nvSpPr>
        <p:spPr>
          <a:xfrm>
            <a:off x="526320" y="2832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5" y="94"/>
                  <a:pt x="99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99" y="17"/>
                </a:cubicBezTo>
                <a:cubicBezTo>
                  <a:pt x="105" y="22"/>
                  <a:pt x="110" y="28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668520" y="2508120"/>
            <a:ext cx="1299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careful observation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TextBox 336"/>
          <p:cNvSpPr txBox="1"/>
          <p:nvPr/>
        </p:nvSpPr>
        <p:spPr>
          <a:xfrm>
            <a:off x="668520" y="2775600"/>
            <a:ext cx="3133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The collaborators want to understand why this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8" name="Picture 337"/>
          <p:cNvPicPr/>
          <p:nvPr/>
        </p:nvPicPr>
        <p:blipFill>
          <a:blip r:embed="rId6"/>
          <a:stretch/>
        </p:blipFill>
        <p:spPr>
          <a:xfrm>
            <a:off x="468000" y="3292560"/>
            <a:ext cx="3735000" cy="21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Box 338"/>
          <p:cNvSpPr txBox="1"/>
          <p:nvPr/>
        </p:nvSpPr>
        <p:spPr>
          <a:xfrm>
            <a:off x="668520" y="2976120"/>
            <a:ext cx="575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happens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reeform 339"/>
          <p:cNvSpPr/>
          <p:nvPr/>
        </p:nvSpPr>
        <p:spPr>
          <a:xfrm>
            <a:off x="4587480" y="835560"/>
            <a:ext cx="5841720" cy="2523960"/>
          </a:xfrm>
          <a:custGeom>
            <a:avLst/>
            <a:gdLst/>
            <a:ahLst/>
            <a:cxnLst/>
            <a:rect l="0" t="0" r="r" b="b"/>
            <a:pathLst>
              <a:path w="16227" h="7011">
                <a:moveTo>
                  <a:pt x="0" y="0"/>
                </a:moveTo>
                <a:lnTo>
                  <a:pt x="16227" y="0"/>
                </a:lnTo>
                <a:lnTo>
                  <a:pt x="16227" y="7011"/>
                </a:lnTo>
                <a:lnTo>
                  <a:pt x="0" y="70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reeform 340"/>
          <p:cNvSpPr/>
          <p:nvPr/>
        </p:nvSpPr>
        <p:spPr>
          <a:xfrm>
            <a:off x="4587480" y="835560"/>
            <a:ext cx="33840" cy="2523960"/>
          </a:xfrm>
          <a:custGeom>
            <a:avLst/>
            <a:gdLst/>
            <a:ahLst/>
            <a:cxnLst/>
            <a:rect l="0" t="0" r="r" b="b"/>
            <a:pathLst>
              <a:path w="94" h="7011">
                <a:moveTo>
                  <a:pt x="0" y="0"/>
                </a:moveTo>
                <a:lnTo>
                  <a:pt x="94" y="0"/>
                </a:lnTo>
                <a:lnTo>
                  <a:pt x="94" y="7011"/>
                </a:lnTo>
                <a:lnTo>
                  <a:pt x="0" y="7011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reeform 341"/>
          <p:cNvSpPr/>
          <p:nvPr/>
        </p:nvSpPr>
        <p:spPr>
          <a:xfrm>
            <a:off x="4587480" y="3559680"/>
            <a:ext cx="5841720" cy="2290320"/>
          </a:xfrm>
          <a:custGeom>
            <a:avLst/>
            <a:gdLst/>
            <a:ahLst/>
            <a:cxnLst/>
            <a:rect l="0" t="0" r="r" b="b"/>
            <a:pathLst>
              <a:path w="16227" h="6362">
                <a:moveTo>
                  <a:pt x="0" y="0"/>
                </a:moveTo>
                <a:lnTo>
                  <a:pt x="16227" y="0"/>
                </a:lnTo>
                <a:lnTo>
                  <a:pt x="16227" y="6362"/>
                </a:lnTo>
                <a:lnTo>
                  <a:pt x="0" y="63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reeform 342"/>
          <p:cNvSpPr/>
          <p:nvPr/>
        </p:nvSpPr>
        <p:spPr>
          <a:xfrm>
            <a:off x="4587480" y="3559680"/>
            <a:ext cx="33840" cy="2290320"/>
          </a:xfrm>
          <a:custGeom>
            <a:avLst/>
            <a:gdLst/>
            <a:ahLst/>
            <a:cxnLst/>
            <a:rect l="0" t="0" r="r" b="b"/>
            <a:pathLst>
              <a:path w="94" h="6362">
                <a:moveTo>
                  <a:pt x="0" y="0"/>
                </a:moveTo>
                <a:lnTo>
                  <a:pt x="94" y="0"/>
                </a:lnTo>
                <a:lnTo>
                  <a:pt x="94" y="6362"/>
                </a:lnTo>
                <a:lnTo>
                  <a:pt x="0" y="6362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44" name="Picture 343"/>
          <p:cNvPicPr/>
          <p:nvPr/>
        </p:nvPicPr>
        <p:blipFill>
          <a:blip r:embed="rId7"/>
          <a:stretch/>
        </p:blipFill>
        <p:spPr>
          <a:xfrm>
            <a:off x="4788360" y="10029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Picture 344"/>
          <p:cNvPicPr/>
          <p:nvPr/>
        </p:nvPicPr>
        <p:blipFill>
          <a:blip r:embed="rId8"/>
          <a:stretch/>
        </p:blipFill>
        <p:spPr>
          <a:xfrm>
            <a:off x="4913640" y="11282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TextBox 345"/>
          <p:cNvSpPr txBox="1"/>
          <p:nvPr/>
        </p:nvSpPr>
        <p:spPr>
          <a:xfrm>
            <a:off x="495000" y="5699160"/>
            <a:ext cx="284544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Visualization of the wobbling eﬀect at 500 RPM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TextBox 346"/>
          <p:cNvSpPr txBox="1"/>
          <p:nvPr/>
        </p:nvSpPr>
        <p:spPr>
          <a:xfrm>
            <a:off x="5337000" y="1115280"/>
            <a:ext cx="30474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Three Axes of Rigid Body Modes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reeform 347"/>
          <p:cNvSpPr/>
          <p:nvPr/>
        </p:nvSpPr>
        <p:spPr>
          <a:xfrm>
            <a:off x="4788360" y="1905120"/>
            <a:ext cx="1730160" cy="1086840"/>
          </a:xfrm>
          <a:custGeom>
            <a:avLst/>
            <a:gdLst/>
            <a:ahLst/>
            <a:cxnLst/>
            <a:rect l="0" t="0" r="r" b="b"/>
            <a:pathLst>
              <a:path w="4806" h="3019">
                <a:moveTo>
                  <a:pt x="0" y="2833"/>
                </a:moveTo>
                <a:lnTo>
                  <a:pt x="0" y="139"/>
                </a:lnTo>
                <a:cubicBezTo>
                  <a:pt x="0" y="130"/>
                  <a:pt x="1" y="121"/>
                  <a:pt x="3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8" y="78"/>
                  <a:pt x="24" y="70"/>
                  <a:pt x="31" y="62"/>
                </a:cubicBezTo>
                <a:cubicBezTo>
                  <a:pt x="38" y="54"/>
                  <a:pt x="45" y="47"/>
                  <a:pt x="54" y="41"/>
                </a:cubicBezTo>
                <a:cubicBezTo>
                  <a:pt x="63" y="34"/>
                  <a:pt x="72" y="29"/>
                  <a:pt x="82" y="24"/>
                </a:cubicBezTo>
                <a:cubicBezTo>
                  <a:pt x="92" y="18"/>
                  <a:pt x="103" y="14"/>
                  <a:pt x="114" y="11"/>
                </a:cubicBezTo>
                <a:cubicBezTo>
                  <a:pt x="125" y="7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620" y="0"/>
                </a:lnTo>
                <a:cubicBezTo>
                  <a:pt x="4632" y="0"/>
                  <a:pt x="4644" y="1"/>
                  <a:pt x="4656" y="3"/>
                </a:cubicBezTo>
                <a:cubicBezTo>
                  <a:pt x="4668" y="5"/>
                  <a:pt x="4680" y="7"/>
                  <a:pt x="4691" y="11"/>
                </a:cubicBezTo>
                <a:cubicBezTo>
                  <a:pt x="4702" y="14"/>
                  <a:pt x="4713" y="18"/>
                  <a:pt x="4723" y="24"/>
                </a:cubicBezTo>
                <a:cubicBezTo>
                  <a:pt x="4733" y="29"/>
                  <a:pt x="4743" y="34"/>
                  <a:pt x="4751" y="41"/>
                </a:cubicBezTo>
                <a:cubicBezTo>
                  <a:pt x="4760" y="47"/>
                  <a:pt x="4768" y="54"/>
                  <a:pt x="4774" y="62"/>
                </a:cubicBezTo>
                <a:cubicBezTo>
                  <a:pt x="4781" y="70"/>
                  <a:pt x="4787" y="78"/>
                  <a:pt x="4792" y="86"/>
                </a:cubicBezTo>
                <a:cubicBezTo>
                  <a:pt x="4796" y="95"/>
                  <a:pt x="4800" y="103"/>
                  <a:pt x="4802" y="112"/>
                </a:cubicBezTo>
                <a:cubicBezTo>
                  <a:pt x="4804" y="121"/>
                  <a:pt x="4806" y="130"/>
                  <a:pt x="4806" y="139"/>
                </a:cubicBezTo>
                <a:lnTo>
                  <a:pt x="4806" y="2833"/>
                </a:lnTo>
                <a:cubicBezTo>
                  <a:pt x="4806" y="2845"/>
                  <a:pt x="4804" y="2857"/>
                  <a:pt x="4802" y="2869"/>
                </a:cubicBezTo>
                <a:cubicBezTo>
                  <a:pt x="4800" y="2881"/>
                  <a:pt x="4796" y="2893"/>
                  <a:pt x="4792" y="2904"/>
                </a:cubicBezTo>
                <a:cubicBezTo>
                  <a:pt x="4787" y="2915"/>
                  <a:pt x="4781" y="2926"/>
                  <a:pt x="4774" y="2936"/>
                </a:cubicBezTo>
                <a:cubicBezTo>
                  <a:pt x="4768" y="2946"/>
                  <a:pt x="4760" y="2956"/>
                  <a:pt x="4751" y="2964"/>
                </a:cubicBezTo>
                <a:cubicBezTo>
                  <a:pt x="4743" y="2973"/>
                  <a:pt x="4733" y="2981"/>
                  <a:pt x="4723" y="2987"/>
                </a:cubicBezTo>
                <a:cubicBezTo>
                  <a:pt x="4713" y="2994"/>
                  <a:pt x="4702" y="3000"/>
                  <a:pt x="4691" y="3005"/>
                </a:cubicBezTo>
                <a:cubicBezTo>
                  <a:pt x="4680" y="3009"/>
                  <a:pt x="4668" y="3013"/>
                  <a:pt x="4656" y="3015"/>
                </a:cubicBezTo>
                <a:cubicBezTo>
                  <a:pt x="4644" y="3018"/>
                  <a:pt x="4632" y="3019"/>
                  <a:pt x="4620" y="3019"/>
                </a:cubicBezTo>
                <a:lnTo>
                  <a:pt x="185" y="3019"/>
                </a:lnTo>
                <a:cubicBezTo>
                  <a:pt x="173" y="3019"/>
                  <a:pt x="161" y="3018"/>
                  <a:pt x="149" y="3015"/>
                </a:cubicBezTo>
                <a:cubicBezTo>
                  <a:pt x="137" y="3013"/>
                  <a:pt x="125" y="3009"/>
                  <a:pt x="114" y="3005"/>
                </a:cubicBezTo>
                <a:cubicBezTo>
                  <a:pt x="103" y="3000"/>
                  <a:pt x="92" y="2994"/>
                  <a:pt x="82" y="2987"/>
                </a:cubicBezTo>
                <a:cubicBezTo>
                  <a:pt x="72" y="2981"/>
                  <a:pt x="63" y="2973"/>
                  <a:pt x="54" y="2964"/>
                </a:cubicBezTo>
                <a:cubicBezTo>
                  <a:pt x="45" y="2956"/>
                  <a:pt x="38" y="2946"/>
                  <a:pt x="31" y="2936"/>
                </a:cubicBezTo>
                <a:cubicBezTo>
                  <a:pt x="24" y="2926"/>
                  <a:pt x="18" y="2915"/>
                  <a:pt x="14" y="2904"/>
                </a:cubicBezTo>
                <a:cubicBezTo>
                  <a:pt x="9" y="2893"/>
                  <a:pt x="6" y="2881"/>
                  <a:pt x="3" y="2869"/>
                </a:cubicBezTo>
                <a:cubicBezTo>
                  <a:pt x="1" y="2857"/>
                  <a:pt x="0" y="2845"/>
                  <a:pt x="0" y="28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reeform 348"/>
          <p:cNvSpPr/>
          <p:nvPr/>
        </p:nvSpPr>
        <p:spPr>
          <a:xfrm>
            <a:off x="4788360" y="1888560"/>
            <a:ext cx="1730160" cy="66960"/>
          </a:xfrm>
          <a:custGeom>
            <a:avLst/>
            <a:gdLst/>
            <a:ahLst/>
            <a:cxnLst/>
            <a:rect l="0" t="0" r="r" b="b"/>
            <a:pathLst>
              <a:path w="4806" h="186">
                <a:moveTo>
                  <a:pt x="0" y="0"/>
                </a:moveTo>
                <a:lnTo>
                  <a:pt x="4806" y="0"/>
                </a:lnTo>
                <a:lnTo>
                  <a:pt x="4806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0" name="Picture 349"/>
          <p:cNvPicPr/>
          <p:nvPr/>
        </p:nvPicPr>
        <p:blipFill>
          <a:blip r:embed="rId9"/>
          <a:stretch/>
        </p:blipFill>
        <p:spPr>
          <a:xfrm>
            <a:off x="4921920" y="2106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Box 350"/>
          <p:cNvSpPr txBox="1"/>
          <p:nvPr/>
        </p:nvSpPr>
        <p:spPr>
          <a:xfrm>
            <a:off x="4785480" y="1572480"/>
            <a:ext cx="4962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During experimental runs, three distinct axes of vibration were identiﬁed: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TextBox 351"/>
          <p:cNvSpPr txBox="1"/>
          <p:nvPr/>
        </p:nvSpPr>
        <p:spPr>
          <a:xfrm>
            <a:off x="5119920" y="2083320"/>
            <a:ext cx="1004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Theta Mode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TextBox 352"/>
          <p:cNvSpPr txBox="1"/>
          <p:nvPr/>
        </p:nvSpPr>
        <p:spPr>
          <a:xfrm>
            <a:off x="4919400" y="2373480"/>
            <a:ext cx="1159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Rotational vibration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TextBox 353"/>
          <p:cNvSpPr txBox="1"/>
          <p:nvPr/>
        </p:nvSpPr>
        <p:spPr>
          <a:xfrm>
            <a:off x="4919400" y="2540520"/>
            <a:ext cx="1092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around the central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reeform 354"/>
          <p:cNvSpPr/>
          <p:nvPr/>
        </p:nvSpPr>
        <p:spPr>
          <a:xfrm>
            <a:off x="6651720" y="1905120"/>
            <a:ext cx="1738440" cy="1086840"/>
          </a:xfrm>
          <a:custGeom>
            <a:avLst/>
            <a:gdLst/>
            <a:ahLst/>
            <a:cxnLst/>
            <a:rect l="0" t="0" r="r" b="b"/>
            <a:pathLst>
              <a:path w="4829" h="3019">
                <a:moveTo>
                  <a:pt x="0" y="2833"/>
                </a:moveTo>
                <a:lnTo>
                  <a:pt x="0" y="139"/>
                </a:lnTo>
                <a:cubicBezTo>
                  <a:pt x="0" y="130"/>
                  <a:pt x="1" y="121"/>
                  <a:pt x="4" y="112"/>
                </a:cubicBezTo>
                <a:cubicBezTo>
                  <a:pt x="6" y="103"/>
                  <a:pt x="10" y="95"/>
                  <a:pt x="14" y="86"/>
                </a:cubicBezTo>
                <a:cubicBezTo>
                  <a:pt x="19" y="78"/>
                  <a:pt x="25" y="70"/>
                  <a:pt x="31" y="62"/>
                </a:cubicBezTo>
                <a:cubicBezTo>
                  <a:pt x="38" y="54"/>
                  <a:pt x="46" y="47"/>
                  <a:pt x="54" y="41"/>
                </a:cubicBezTo>
                <a:cubicBezTo>
                  <a:pt x="63" y="34"/>
                  <a:pt x="72" y="29"/>
                  <a:pt x="83" y="24"/>
                </a:cubicBezTo>
                <a:cubicBezTo>
                  <a:pt x="93" y="18"/>
                  <a:pt x="103" y="14"/>
                  <a:pt x="115" y="11"/>
                </a:cubicBezTo>
                <a:cubicBezTo>
                  <a:pt x="126" y="7"/>
                  <a:pt x="138" y="5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4644" y="0"/>
                </a:lnTo>
                <a:cubicBezTo>
                  <a:pt x="4656" y="0"/>
                  <a:pt x="4668" y="1"/>
                  <a:pt x="4680" y="3"/>
                </a:cubicBezTo>
                <a:cubicBezTo>
                  <a:pt x="4692" y="5"/>
                  <a:pt x="4704" y="7"/>
                  <a:pt x="4715" y="11"/>
                </a:cubicBezTo>
                <a:cubicBezTo>
                  <a:pt x="4726" y="14"/>
                  <a:pt x="4737" y="18"/>
                  <a:pt x="4747" y="24"/>
                </a:cubicBezTo>
                <a:cubicBezTo>
                  <a:pt x="4757" y="29"/>
                  <a:pt x="4766" y="34"/>
                  <a:pt x="4775" y="41"/>
                </a:cubicBezTo>
                <a:cubicBezTo>
                  <a:pt x="4784" y="47"/>
                  <a:pt x="4791" y="54"/>
                  <a:pt x="4798" y="62"/>
                </a:cubicBezTo>
                <a:cubicBezTo>
                  <a:pt x="4805" y="70"/>
                  <a:pt x="4811" y="78"/>
                  <a:pt x="4815" y="86"/>
                </a:cubicBezTo>
                <a:cubicBezTo>
                  <a:pt x="4820" y="95"/>
                  <a:pt x="4823" y="103"/>
                  <a:pt x="4826" y="112"/>
                </a:cubicBezTo>
                <a:cubicBezTo>
                  <a:pt x="4828" y="121"/>
                  <a:pt x="4829" y="130"/>
                  <a:pt x="4829" y="139"/>
                </a:cubicBezTo>
                <a:lnTo>
                  <a:pt x="4829" y="2833"/>
                </a:lnTo>
                <a:cubicBezTo>
                  <a:pt x="4829" y="2845"/>
                  <a:pt x="4828" y="2857"/>
                  <a:pt x="4826" y="2869"/>
                </a:cubicBezTo>
                <a:cubicBezTo>
                  <a:pt x="4823" y="2881"/>
                  <a:pt x="4820" y="2893"/>
                  <a:pt x="4815" y="2904"/>
                </a:cubicBezTo>
                <a:cubicBezTo>
                  <a:pt x="4811" y="2915"/>
                  <a:pt x="4805" y="2926"/>
                  <a:pt x="4798" y="2936"/>
                </a:cubicBezTo>
                <a:cubicBezTo>
                  <a:pt x="4791" y="2946"/>
                  <a:pt x="4784" y="2956"/>
                  <a:pt x="4775" y="2964"/>
                </a:cubicBezTo>
                <a:cubicBezTo>
                  <a:pt x="4766" y="2973"/>
                  <a:pt x="4757" y="2981"/>
                  <a:pt x="4747" y="2987"/>
                </a:cubicBezTo>
                <a:cubicBezTo>
                  <a:pt x="4737" y="2994"/>
                  <a:pt x="4726" y="3000"/>
                  <a:pt x="4715" y="3005"/>
                </a:cubicBezTo>
                <a:cubicBezTo>
                  <a:pt x="4704" y="3009"/>
                  <a:pt x="4692" y="3013"/>
                  <a:pt x="4680" y="3015"/>
                </a:cubicBezTo>
                <a:cubicBezTo>
                  <a:pt x="4668" y="3018"/>
                  <a:pt x="4656" y="3019"/>
                  <a:pt x="4644" y="3019"/>
                </a:cubicBezTo>
                <a:lnTo>
                  <a:pt x="186" y="3019"/>
                </a:lnTo>
                <a:cubicBezTo>
                  <a:pt x="174" y="3019"/>
                  <a:pt x="162" y="3018"/>
                  <a:pt x="150" y="3015"/>
                </a:cubicBezTo>
                <a:cubicBezTo>
                  <a:pt x="138" y="3013"/>
                  <a:pt x="126" y="3009"/>
                  <a:pt x="115" y="3005"/>
                </a:cubicBezTo>
                <a:cubicBezTo>
                  <a:pt x="103" y="3000"/>
                  <a:pt x="93" y="2994"/>
                  <a:pt x="83" y="2987"/>
                </a:cubicBezTo>
                <a:cubicBezTo>
                  <a:pt x="72" y="2981"/>
                  <a:pt x="63" y="2973"/>
                  <a:pt x="54" y="2964"/>
                </a:cubicBezTo>
                <a:cubicBezTo>
                  <a:pt x="46" y="2956"/>
                  <a:pt x="38" y="2946"/>
                  <a:pt x="31" y="2936"/>
                </a:cubicBezTo>
                <a:cubicBezTo>
                  <a:pt x="25" y="2926"/>
                  <a:pt x="19" y="2915"/>
                  <a:pt x="14" y="2904"/>
                </a:cubicBezTo>
                <a:cubicBezTo>
                  <a:pt x="10" y="2893"/>
                  <a:pt x="6" y="2881"/>
                  <a:pt x="4" y="2869"/>
                </a:cubicBezTo>
                <a:cubicBezTo>
                  <a:pt x="1" y="2857"/>
                  <a:pt x="0" y="2845"/>
                  <a:pt x="0" y="28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reeform 355"/>
          <p:cNvSpPr/>
          <p:nvPr/>
        </p:nvSpPr>
        <p:spPr>
          <a:xfrm>
            <a:off x="6651720" y="1888560"/>
            <a:ext cx="1738440" cy="66960"/>
          </a:xfrm>
          <a:custGeom>
            <a:avLst/>
            <a:gdLst/>
            <a:ahLst/>
            <a:cxnLst/>
            <a:rect l="0" t="0" r="r" b="b"/>
            <a:pathLst>
              <a:path w="4829" h="186">
                <a:moveTo>
                  <a:pt x="4815" y="151"/>
                </a:moveTo>
                <a:cubicBezTo>
                  <a:pt x="4806" y="139"/>
                  <a:pt x="4792" y="129"/>
                  <a:pt x="4775" y="121"/>
                </a:cubicBezTo>
                <a:cubicBezTo>
                  <a:pt x="4758" y="112"/>
                  <a:pt x="4738" y="105"/>
                  <a:pt x="4715" y="101"/>
                </a:cubicBezTo>
                <a:cubicBezTo>
                  <a:pt x="4692" y="96"/>
                  <a:pt x="4668" y="94"/>
                  <a:pt x="4644" y="94"/>
                </a:cubicBezTo>
                <a:lnTo>
                  <a:pt x="186" y="94"/>
                </a:lnTo>
                <a:cubicBezTo>
                  <a:pt x="161" y="94"/>
                  <a:pt x="137" y="96"/>
                  <a:pt x="115" y="101"/>
                </a:cubicBezTo>
                <a:cubicBezTo>
                  <a:pt x="92" y="105"/>
                  <a:pt x="72" y="112"/>
                  <a:pt x="54" y="121"/>
                </a:cubicBezTo>
                <a:cubicBezTo>
                  <a:pt x="37" y="129"/>
                  <a:pt x="24" y="139"/>
                  <a:pt x="14" y="151"/>
                </a:cubicBezTo>
                <a:cubicBezTo>
                  <a:pt x="5" y="162"/>
                  <a:pt x="0" y="174"/>
                  <a:pt x="0" y="186"/>
                </a:cubicBezTo>
                <a:cubicBezTo>
                  <a:pt x="0" y="162"/>
                  <a:pt x="5" y="138"/>
                  <a:pt x="14" y="115"/>
                </a:cubicBezTo>
                <a:cubicBezTo>
                  <a:pt x="24" y="93"/>
                  <a:pt x="37" y="72"/>
                  <a:pt x="54" y="55"/>
                </a:cubicBezTo>
                <a:cubicBezTo>
                  <a:pt x="72" y="38"/>
                  <a:pt x="92" y="23"/>
                  <a:pt x="115" y="14"/>
                </a:cubicBezTo>
                <a:cubicBezTo>
                  <a:pt x="137" y="4"/>
                  <a:pt x="161" y="0"/>
                  <a:pt x="186" y="0"/>
                </a:cubicBezTo>
                <a:lnTo>
                  <a:pt x="4644" y="0"/>
                </a:lnTo>
                <a:cubicBezTo>
                  <a:pt x="4668" y="0"/>
                  <a:pt x="4692" y="4"/>
                  <a:pt x="4715" y="14"/>
                </a:cubicBezTo>
                <a:cubicBezTo>
                  <a:pt x="4738" y="23"/>
                  <a:pt x="4758" y="38"/>
                  <a:pt x="4775" y="55"/>
                </a:cubicBezTo>
                <a:cubicBezTo>
                  <a:pt x="4792" y="72"/>
                  <a:pt x="4806" y="93"/>
                  <a:pt x="4815" y="115"/>
                </a:cubicBezTo>
                <a:cubicBezTo>
                  <a:pt x="4825" y="138"/>
                  <a:pt x="4829" y="162"/>
                  <a:pt x="4829" y="186"/>
                </a:cubicBezTo>
                <a:cubicBezTo>
                  <a:pt x="4829" y="174"/>
                  <a:pt x="4825" y="162"/>
                  <a:pt x="4815" y="151"/>
                </a:cubicBez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57" name="Picture 356"/>
          <p:cNvPicPr/>
          <p:nvPr/>
        </p:nvPicPr>
        <p:blipFill>
          <a:blip r:embed="rId10"/>
          <a:stretch/>
        </p:blipFill>
        <p:spPr>
          <a:xfrm>
            <a:off x="6785640" y="21060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TextBox 357"/>
          <p:cNvSpPr txBox="1"/>
          <p:nvPr/>
        </p:nvSpPr>
        <p:spPr>
          <a:xfrm>
            <a:off x="4919400" y="2707560"/>
            <a:ext cx="710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vertical axis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TextBox 358"/>
          <p:cNvSpPr txBox="1"/>
          <p:nvPr/>
        </p:nvSpPr>
        <p:spPr>
          <a:xfrm>
            <a:off x="6989760" y="2083320"/>
            <a:ext cx="633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X Mode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TextBox 359"/>
          <p:cNvSpPr txBox="1"/>
          <p:nvPr/>
        </p:nvSpPr>
        <p:spPr>
          <a:xfrm>
            <a:off x="6789240" y="2373480"/>
            <a:ext cx="1302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Horizontal vibration in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reeform 360"/>
          <p:cNvSpPr/>
          <p:nvPr/>
        </p:nvSpPr>
        <p:spPr>
          <a:xfrm>
            <a:off x="8523720" y="1905120"/>
            <a:ext cx="1738440" cy="1086840"/>
          </a:xfrm>
          <a:custGeom>
            <a:avLst/>
            <a:gdLst/>
            <a:ahLst/>
            <a:cxnLst/>
            <a:rect l="0" t="0" r="r" b="b"/>
            <a:pathLst>
              <a:path w="4829" h="3019">
                <a:moveTo>
                  <a:pt x="0" y="2833"/>
                </a:moveTo>
                <a:lnTo>
                  <a:pt x="0" y="139"/>
                </a:lnTo>
                <a:cubicBezTo>
                  <a:pt x="0" y="130"/>
                  <a:pt x="1" y="121"/>
                  <a:pt x="3" y="112"/>
                </a:cubicBezTo>
                <a:cubicBezTo>
                  <a:pt x="6" y="103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4"/>
                  <a:pt x="46" y="47"/>
                  <a:pt x="54" y="41"/>
                </a:cubicBezTo>
                <a:cubicBezTo>
                  <a:pt x="63" y="34"/>
                  <a:pt x="72" y="29"/>
                  <a:pt x="82" y="24"/>
                </a:cubicBezTo>
                <a:cubicBezTo>
                  <a:pt x="92" y="18"/>
                  <a:pt x="103" y="14"/>
                  <a:pt x="114" y="11"/>
                </a:cubicBezTo>
                <a:cubicBezTo>
                  <a:pt x="126" y="7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4643" y="0"/>
                </a:lnTo>
                <a:cubicBezTo>
                  <a:pt x="4656" y="0"/>
                  <a:pt x="4668" y="1"/>
                  <a:pt x="4680" y="3"/>
                </a:cubicBezTo>
                <a:cubicBezTo>
                  <a:pt x="4692" y="5"/>
                  <a:pt x="4703" y="7"/>
                  <a:pt x="4714" y="11"/>
                </a:cubicBezTo>
                <a:cubicBezTo>
                  <a:pt x="4726" y="14"/>
                  <a:pt x="4736" y="18"/>
                  <a:pt x="4747" y="24"/>
                </a:cubicBezTo>
                <a:cubicBezTo>
                  <a:pt x="4757" y="29"/>
                  <a:pt x="4766" y="34"/>
                  <a:pt x="4775" y="41"/>
                </a:cubicBezTo>
                <a:cubicBezTo>
                  <a:pt x="4783" y="47"/>
                  <a:pt x="4791" y="54"/>
                  <a:pt x="4798" y="62"/>
                </a:cubicBezTo>
                <a:cubicBezTo>
                  <a:pt x="4805" y="70"/>
                  <a:pt x="4810" y="78"/>
                  <a:pt x="4815" y="86"/>
                </a:cubicBezTo>
                <a:cubicBezTo>
                  <a:pt x="4820" y="95"/>
                  <a:pt x="4823" y="103"/>
                  <a:pt x="4826" y="112"/>
                </a:cubicBezTo>
                <a:cubicBezTo>
                  <a:pt x="4828" y="121"/>
                  <a:pt x="4829" y="130"/>
                  <a:pt x="4829" y="139"/>
                </a:cubicBezTo>
                <a:lnTo>
                  <a:pt x="4829" y="2833"/>
                </a:lnTo>
                <a:cubicBezTo>
                  <a:pt x="4829" y="2845"/>
                  <a:pt x="4828" y="2857"/>
                  <a:pt x="4826" y="2869"/>
                </a:cubicBezTo>
                <a:cubicBezTo>
                  <a:pt x="4823" y="2881"/>
                  <a:pt x="4820" y="2893"/>
                  <a:pt x="4815" y="2904"/>
                </a:cubicBezTo>
                <a:cubicBezTo>
                  <a:pt x="4810" y="2915"/>
                  <a:pt x="4805" y="2926"/>
                  <a:pt x="4798" y="2936"/>
                </a:cubicBezTo>
                <a:cubicBezTo>
                  <a:pt x="4791" y="2946"/>
                  <a:pt x="4783" y="2956"/>
                  <a:pt x="4775" y="2964"/>
                </a:cubicBezTo>
                <a:cubicBezTo>
                  <a:pt x="4766" y="2973"/>
                  <a:pt x="4757" y="2981"/>
                  <a:pt x="4747" y="2987"/>
                </a:cubicBezTo>
                <a:cubicBezTo>
                  <a:pt x="4736" y="2994"/>
                  <a:pt x="4726" y="3000"/>
                  <a:pt x="4714" y="3005"/>
                </a:cubicBezTo>
                <a:cubicBezTo>
                  <a:pt x="4703" y="3009"/>
                  <a:pt x="4692" y="3013"/>
                  <a:pt x="4680" y="3015"/>
                </a:cubicBezTo>
                <a:cubicBezTo>
                  <a:pt x="4668" y="3018"/>
                  <a:pt x="4656" y="3019"/>
                  <a:pt x="4643" y="3019"/>
                </a:cubicBezTo>
                <a:lnTo>
                  <a:pt x="186" y="3019"/>
                </a:lnTo>
                <a:cubicBezTo>
                  <a:pt x="173" y="3019"/>
                  <a:pt x="161" y="3018"/>
                  <a:pt x="149" y="3015"/>
                </a:cubicBezTo>
                <a:cubicBezTo>
                  <a:pt x="137" y="3013"/>
                  <a:pt x="126" y="3009"/>
                  <a:pt x="114" y="3005"/>
                </a:cubicBezTo>
                <a:cubicBezTo>
                  <a:pt x="103" y="3000"/>
                  <a:pt x="92" y="2994"/>
                  <a:pt x="82" y="2987"/>
                </a:cubicBezTo>
                <a:cubicBezTo>
                  <a:pt x="72" y="2981"/>
                  <a:pt x="63" y="2973"/>
                  <a:pt x="54" y="2964"/>
                </a:cubicBezTo>
                <a:cubicBezTo>
                  <a:pt x="46" y="2956"/>
                  <a:pt x="38" y="2946"/>
                  <a:pt x="31" y="2936"/>
                </a:cubicBezTo>
                <a:cubicBezTo>
                  <a:pt x="24" y="2926"/>
                  <a:pt x="19" y="2915"/>
                  <a:pt x="14" y="2904"/>
                </a:cubicBezTo>
                <a:cubicBezTo>
                  <a:pt x="9" y="2893"/>
                  <a:pt x="6" y="2881"/>
                  <a:pt x="3" y="2869"/>
                </a:cubicBezTo>
                <a:cubicBezTo>
                  <a:pt x="1" y="2857"/>
                  <a:pt x="0" y="2845"/>
                  <a:pt x="0" y="28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reeform 361"/>
          <p:cNvSpPr/>
          <p:nvPr/>
        </p:nvSpPr>
        <p:spPr>
          <a:xfrm>
            <a:off x="8523720" y="1888560"/>
            <a:ext cx="1738440" cy="66960"/>
          </a:xfrm>
          <a:custGeom>
            <a:avLst/>
            <a:gdLst/>
            <a:ahLst/>
            <a:cxnLst/>
            <a:rect l="0" t="0" r="r" b="b"/>
            <a:pathLst>
              <a:path w="4829" h="186">
                <a:moveTo>
                  <a:pt x="0" y="0"/>
                </a:moveTo>
                <a:lnTo>
                  <a:pt x="4829" y="0"/>
                </a:lnTo>
                <a:lnTo>
                  <a:pt x="4829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63" name="Picture 362"/>
          <p:cNvPicPr/>
          <p:nvPr/>
        </p:nvPicPr>
        <p:blipFill>
          <a:blip r:embed="rId11"/>
          <a:stretch/>
        </p:blipFill>
        <p:spPr>
          <a:xfrm>
            <a:off x="8657640" y="210600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TextBox 363"/>
          <p:cNvSpPr txBox="1"/>
          <p:nvPr/>
        </p:nvSpPr>
        <p:spPr>
          <a:xfrm>
            <a:off x="6789240" y="2540520"/>
            <a:ext cx="12067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the plane of rotation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TextBox 364"/>
          <p:cNvSpPr txBox="1"/>
          <p:nvPr/>
        </p:nvSpPr>
        <p:spPr>
          <a:xfrm>
            <a:off x="8793000" y="2083320"/>
            <a:ext cx="6267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Z Mode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TextBox 365"/>
          <p:cNvSpPr txBox="1"/>
          <p:nvPr/>
        </p:nvSpPr>
        <p:spPr>
          <a:xfrm>
            <a:off x="8659440" y="2373480"/>
            <a:ext cx="1370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Vertical vibration along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7" name="Picture 366"/>
          <p:cNvPicPr/>
          <p:nvPr/>
        </p:nvPicPr>
        <p:blipFill>
          <a:blip r:embed="rId7"/>
          <a:stretch/>
        </p:blipFill>
        <p:spPr>
          <a:xfrm>
            <a:off x="4788360" y="372708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Picture 367"/>
          <p:cNvPicPr/>
          <p:nvPr/>
        </p:nvPicPr>
        <p:blipFill>
          <a:blip r:embed="rId12"/>
          <a:stretch/>
        </p:blipFill>
        <p:spPr>
          <a:xfrm>
            <a:off x="4930560" y="385236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Box 368"/>
          <p:cNvSpPr txBox="1"/>
          <p:nvPr/>
        </p:nvSpPr>
        <p:spPr>
          <a:xfrm>
            <a:off x="8659440" y="2540520"/>
            <a:ext cx="1116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the axis of rotation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reeform 369"/>
          <p:cNvSpPr/>
          <p:nvPr/>
        </p:nvSpPr>
        <p:spPr>
          <a:xfrm>
            <a:off x="4846680" y="4353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3"/>
                  <a:pt x="4" y="36"/>
                </a:cubicBezTo>
                <a:cubicBezTo>
                  <a:pt x="7" y="28"/>
                  <a:pt x="12" y="22"/>
                  <a:pt x="17" y="16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6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TextBox 370"/>
          <p:cNvSpPr txBox="1"/>
          <p:nvPr/>
        </p:nvSpPr>
        <p:spPr>
          <a:xfrm>
            <a:off x="5337000" y="3839400"/>
            <a:ext cx="2802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Resonance &amp; Energy Transfer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TextBox 371"/>
          <p:cNvSpPr txBox="1"/>
          <p:nvPr/>
        </p:nvSpPr>
        <p:spPr>
          <a:xfrm>
            <a:off x="4986000" y="4296600"/>
            <a:ext cx="5092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When rotational frequency matches a mode's natural frequency, resonance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reeform 372"/>
          <p:cNvSpPr/>
          <p:nvPr/>
        </p:nvSpPr>
        <p:spPr>
          <a:xfrm>
            <a:off x="4846680" y="48214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5"/>
                  <a:pt x="113" y="82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7" y="89"/>
                  <a:pt x="4" y="82"/>
                </a:cubicBezTo>
                <a:cubicBezTo>
                  <a:pt x="2" y="75"/>
                  <a:pt x="0" y="67"/>
                  <a:pt x="0" y="59"/>
                </a:cubicBezTo>
                <a:cubicBezTo>
                  <a:pt x="0" y="52"/>
                  <a:pt x="2" y="44"/>
                  <a:pt x="4" y="37"/>
                </a:cubicBezTo>
                <a:cubicBezTo>
                  <a:pt x="7" y="30"/>
                  <a:pt x="12" y="24"/>
                  <a:pt x="17" y="18"/>
                </a:cubicBezTo>
                <a:cubicBezTo>
                  <a:pt x="23" y="13"/>
                  <a:pt x="29" y="9"/>
                  <a:pt x="36" y="6"/>
                </a:cubicBezTo>
                <a:cubicBezTo>
                  <a:pt x="43" y="2"/>
                  <a:pt x="50" y="0"/>
                  <a:pt x="59" y="0"/>
                </a:cubicBezTo>
                <a:cubicBezTo>
                  <a:pt x="67" y="0"/>
                  <a:pt x="74" y="2"/>
                  <a:pt x="81" y="6"/>
                </a:cubicBezTo>
                <a:cubicBezTo>
                  <a:pt x="88" y="9"/>
                  <a:pt x="95" y="13"/>
                  <a:pt x="100" y="18"/>
                </a:cubicBezTo>
                <a:cubicBezTo>
                  <a:pt x="106" y="24"/>
                  <a:pt x="110" y="30"/>
                  <a:pt x="113" y="37"/>
                </a:cubicBezTo>
                <a:cubicBezTo>
                  <a:pt x="116" y="44"/>
                  <a:pt x="117" y="52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TextBox 373"/>
          <p:cNvSpPr txBox="1"/>
          <p:nvPr/>
        </p:nvSpPr>
        <p:spPr>
          <a:xfrm>
            <a:off x="4986000" y="4497120"/>
            <a:ext cx="440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occurs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reeform 374"/>
          <p:cNvSpPr/>
          <p:nvPr/>
        </p:nvSpPr>
        <p:spPr>
          <a:xfrm>
            <a:off x="4846680" y="50889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1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7" y="89"/>
                  <a:pt x="4" y="81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1"/>
                  <a:pt x="2" y="43"/>
                  <a:pt x="4" y="36"/>
                </a:cubicBezTo>
                <a:cubicBezTo>
                  <a:pt x="7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0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5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TextBox 375"/>
          <p:cNvSpPr txBox="1"/>
          <p:nvPr/>
        </p:nvSpPr>
        <p:spPr>
          <a:xfrm>
            <a:off x="4986000" y="4764600"/>
            <a:ext cx="5135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 experimentalists' data, larger vibrational amplitudes appear at resonance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reeform 376"/>
          <p:cNvSpPr/>
          <p:nvPr/>
        </p:nvSpPr>
        <p:spPr>
          <a:xfrm>
            <a:off x="4846680" y="53564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4" y="37"/>
                </a:cubicBezTo>
                <a:cubicBezTo>
                  <a:pt x="7" y="30"/>
                  <a:pt x="12" y="23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2"/>
                  <a:pt x="50" y="0"/>
                  <a:pt x="59" y="0"/>
                </a:cubicBezTo>
                <a:cubicBezTo>
                  <a:pt x="67" y="0"/>
                  <a:pt x="74" y="2"/>
                  <a:pt x="81" y="4"/>
                </a:cubicBezTo>
                <a:cubicBezTo>
                  <a:pt x="88" y="7"/>
                  <a:pt x="95" y="12"/>
                  <a:pt x="100" y="17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TextBox 377"/>
          <p:cNvSpPr txBox="1"/>
          <p:nvPr/>
        </p:nvSpPr>
        <p:spPr>
          <a:xfrm>
            <a:off x="4986000" y="5032080"/>
            <a:ext cx="5223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Collaborators suspect coupling generates a driving force on the rotating rotor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TextBox 378"/>
          <p:cNvSpPr txBox="1"/>
          <p:nvPr/>
        </p:nvSpPr>
        <p:spPr>
          <a:xfrm>
            <a:off x="4986000" y="5299560"/>
            <a:ext cx="5218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This driving force could cause energy transfer from rotation to the vibrational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TextBox 379"/>
          <p:cNvSpPr txBox="1"/>
          <p:nvPr/>
        </p:nvSpPr>
        <p:spPr>
          <a:xfrm>
            <a:off x="4986000" y="5500080"/>
            <a:ext cx="451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TextBox 380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8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Picture 382"/>
          <p:cNvPicPr/>
          <p:nvPr/>
        </p:nvPicPr>
        <p:blipFill>
          <a:blip r:embed="rId2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TextBox 384"/>
          <p:cNvSpPr txBox="1"/>
          <p:nvPr/>
        </p:nvSpPr>
        <p:spPr>
          <a:xfrm>
            <a:off x="334440" y="135000"/>
            <a:ext cx="5090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Mode Coupling &amp; Resonance Eﬀects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1489680" y="989640"/>
            <a:ext cx="3275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Frequency-Amplitude Relationship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reeform 394"/>
          <p:cNvSpPr/>
          <p:nvPr/>
        </p:nvSpPr>
        <p:spPr>
          <a:xfrm>
            <a:off x="6367680" y="835560"/>
            <a:ext cx="4061520" cy="1504440"/>
          </a:xfrm>
          <a:custGeom>
            <a:avLst/>
            <a:gdLst/>
            <a:ahLst/>
            <a:cxnLst/>
            <a:rect l="0" t="0" r="r" b="b"/>
            <a:pathLst>
              <a:path w="11282" h="4179">
                <a:moveTo>
                  <a:pt x="0" y="0"/>
                </a:moveTo>
                <a:lnTo>
                  <a:pt x="11282" y="0"/>
                </a:lnTo>
                <a:lnTo>
                  <a:pt x="11282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Freeform 395"/>
          <p:cNvSpPr/>
          <p:nvPr/>
        </p:nvSpPr>
        <p:spPr>
          <a:xfrm>
            <a:off x="6367680" y="835560"/>
            <a:ext cx="33840" cy="1504440"/>
          </a:xfrm>
          <a:custGeom>
            <a:avLst/>
            <a:gdLst/>
            <a:ahLst/>
            <a:cxnLst/>
            <a:rect l="0" t="0" r="r" b="b"/>
            <a:pathLst>
              <a:path w="94" h="4179">
                <a:moveTo>
                  <a:pt x="0" y="0"/>
                </a:moveTo>
                <a:lnTo>
                  <a:pt x="94" y="0"/>
                </a:lnTo>
                <a:lnTo>
                  <a:pt x="94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Freeform 396"/>
          <p:cNvSpPr/>
          <p:nvPr/>
        </p:nvSpPr>
        <p:spPr>
          <a:xfrm>
            <a:off x="6384240" y="2473560"/>
            <a:ext cx="4044960" cy="1170000"/>
          </a:xfrm>
          <a:custGeom>
            <a:avLst/>
            <a:gdLst/>
            <a:ahLst/>
            <a:cxnLst/>
            <a:rect l="0" t="0" r="r" b="b"/>
            <a:pathLst>
              <a:path w="11236" h="3250">
                <a:moveTo>
                  <a:pt x="0" y="306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5"/>
                  <a:pt x="11" y="114"/>
                </a:cubicBezTo>
                <a:cubicBezTo>
                  <a:pt x="14" y="103"/>
                  <a:pt x="19" y="92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5"/>
                  <a:pt x="55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40" y="0"/>
                </a:cubicBezTo>
                <a:lnTo>
                  <a:pt x="11051" y="0"/>
                </a:lnTo>
                <a:cubicBezTo>
                  <a:pt x="11063" y="0"/>
                  <a:pt x="11075" y="1"/>
                  <a:pt x="11087" y="3"/>
                </a:cubicBezTo>
                <a:cubicBezTo>
                  <a:pt x="11099" y="6"/>
                  <a:pt x="11110" y="9"/>
                  <a:pt x="11122" y="14"/>
                </a:cubicBezTo>
                <a:cubicBezTo>
                  <a:pt x="11133" y="18"/>
                  <a:pt x="11144" y="24"/>
                  <a:pt x="11154" y="31"/>
                </a:cubicBezTo>
                <a:cubicBezTo>
                  <a:pt x="11164" y="38"/>
                  <a:pt x="11173" y="45"/>
                  <a:pt x="11182" y="54"/>
                </a:cubicBezTo>
                <a:cubicBezTo>
                  <a:pt x="11191" y="63"/>
                  <a:pt x="11198" y="72"/>
                  <a:pt x="11205" y="82"/>
                </a:cubicBezTo>
                <a:cubicBezTo>
                  <a:pt x="11212" y="92"/>
                  <a:pt x="11218" y="103"/>
                  <a:pt x="11222" y="114"/>
                </a:cubicBezTo>
                <a:cubicBezTo>
                  <a:pt x="11227" y="125"/>
                  <a:pt x="11230" y="137"/>
                  <a:pt x="11233" y="149"/>
                </a:cubicBezTo>
                <a:cubicBezTo>
                  <a:pt x="11235" y="161"/>
                  <a:pt x="11236" y="173"/>
                  <a:pt x="11236" y="185"/>
                </a:cubicBezTo>
                <a:lnTo>
                  <a:pt x="11236" y="3065"/>
                </a:lnTo>
                <a:cubicBezTo>
                  <a:pt x="11236" y="3077"/>
                  <a:pt x="11235" y="3089"/>
                  <a:pt x="11233" y="3101"/>
                </a:cubicBezTo>
                <a:cubicBezTo>
                  <a:pt x="11230" y="3113"/>
                  <a:pt x="11227" y="3124"/>
                  <a:pt x="11222" y="3136"/>
                </a:cubicBezTo>
                <a:cubicBezTo>
                  <a:pt x="11218" y="3147"/>
                  <a:pt x="11212" y="3158"/>
                  <a:pt x="11205" y="3168"/>
                </a:cubicBezTo>
                <a:cubicBezTo>
                  <a:pt x="11198" y="3178"/>
                  <a:pt x="11191" y="3187"/>
                  <a:pt x="11182" y="3196"/>
                </a:cubicBezTo>
                <a:cubicBezTo>
                  <a:pt x="11173" y="3205"/>
                  <a:pt x="11164" y="3212"/>
                  <a:pt x="11154" y="3219"/>
                </a:cubicBezTo>
                <a:cubicBezTo>
                  <a:pt x="11144" y="3226"/>
                  <a:pt x="11133" y="3232"/>
                  <a:pt x="11122" y="3236"/>
                </a:cubicBezTo>
                <a:cubicBezTo>
                  <a:pt x="11110" y="3241"/>
                  <a:pt x="11099" y="3244"/>
                  <a:pt x="11087" y="3247"/>
                </a:cubicBezTo>
                <a:cubicBezTo>
                  <a:pt x="11075" y="3249"/>
                  <a:pt x="11063" y="3250"/>
                  <a:pt x="11051" y="3250"/>
                </a:cubicBezTo>
                <a:lnTo>
                  <a:pt x="140" y="3250"/>
                </a:lnTo>
                <a:cubicBezTo>
                  <a:pt x="130" y="3250"/>
                  <a:pt x="121" y="3249"/>
                  <a:pt x="112" y="3247"/>
                </a:cubicBezTo>
                <a:cubicBezTo>
                  <a:pt x="103" y="3244"/>
                  <a:pt x="95" y="3241"/>
                  <a:pt x="86" y="3236"/>
                </a:cubicBezTo>
                <a:cubicBezTo>
                  <a:pt x="78" y="3232"/>
                  <a:pt x="70" y="3226"/>
                  <a:pt x="62" y="3219"/>
                </a:cubicBezTo>
                <a:cubicBezTo>
                  <a:pt x="55" y="3212"/>
                  <a:pt x="48" y="3205"/>
                  <a:pt x="41" y="3196"/>
                </a:cubicBezTo>
                <a:cubicBezTo>
                  <a:pt x="35" y="3187"/>
                  <a:pt x="29" y="3178"/>
                  <a:pt x="24" y="3168"/>
                </a:cubicBezTo>
                <a:cubicBezTo>
                  <a:pt x="19" y="3158"/>
                  <a:pt x="14" y="3147"/>
                  <a:pt x="11" y="3136"/>
                </a:cubicBezTo>
                <a:cubicBezTo>
                  <a:pt x="7" y="3124"/>
                  <a:pt x="5" y="3113"/>
                  <a:pt x="3" y="3101"/>
                </a:cubicBezTo>
                <a:cubicBezTo>
                  <a:pt x="1" y="3089"/>
                  <a:pt x="0" y="3077"/>
                  <a:pt x="0" y="3065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reeform 397"/>
          <p:cNvSpPr/>
          <p:nvPr/>
        </p:nvSpPr>
        <p:spPr>
          <a:xfrm>
            <a:off x="6367680" y="2473560"/>
            <a:ext cx="67320" cy="1170000"/>
          </a:xfrm>
          <a:custGeom>
            <a:avLst/>
            <a:gdLst/>
            <a:ahLst/>
            <a:cxnLst/>
            <a:rect l="0" t="0" r="r" b="b"/>
            <a:pathLst>
              <a:path w="187" h="3250">
                <a:moveTo>
                  <a:pt x="0" y="0"/>
                </a:moveTo>
                <a:lnTo>
                  <a:pt x="187" y="0"/>
                </a:lnTo>
                <a:lnTo>
                  <a:pt x="187" y="3250"/>
                </a:lnTo>
                <a:lnTo>
                  <a:pt x="0" y="3250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reeform 399"/>
          <p:cNvSpPr/>
          <p:nvPr/>
        </p:nvSpPr>
        <p:spPr>
          <a:xfrm>
            <a:off x="6593400" y="1345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10"/>
                  <a:pt x="81" y="112"/>
                </a:cubicBezTo>
                <a:cubicBezTo>
                  <a:pt x="74" y="115"/>
                  <a:pt x="65" y="117"/>
                  <a:pt x="58" y="117"/>
                </a:cubicBezTo>
                <a:cubicBezTo>
                  <a:pt x="50" y="117"/>
                  <a:pt x="43" y="115"/>
                  <a:pt x="35" y="112"/>
                </a:cubicBezTo>
                <a:cubicBezTo>
                  <a:pt x="28" y="110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5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TextBox 400"/>
          <p:cNvSpPr txBox="1"/>
          <p:nvPr/>
        </p:nvSpPr>
        <p:spPr>
          <a:xfrm>
            <a:off x="6534000" y="989640"/>
            <a:ext cx="16650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Key Observations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reeform 401"/>
          <p:cNvSpPr/>
          <p:nvPr/>
        </p:nvSpPr>
        <p:spPr>
          <a:xfrm>
            <a:off x="6593400" y="16128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5" y="73"/>
                  <a:pt x="112" y="80"/>
                </a:cubicBezTo>
                <a:cubicBezTo>
                  <a:pt x="109" y="87"/>
                  <a:pt x="105" y="93"/>
                  <a:pt x="100" y="99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5" y="117"/>
                  <a:pt x="58" y="117"/>
                </a:cubicBezTo>
                <a:cubicBezTo>
                  <a:pt x="50" y="117"/>
                  <a:pt x="43" y="115"/>
                  <a:pt x="35" y="112"/>
                </a:cubicBezTo>
                <a:cubicBezTo>
                  <a:pt x="28" y="109"/>
                  <a:pt x="22" y="105"/>
                  <a:pt x="17" y="99"/>
                </a:cubicBezTo>
                <a:cubicBezTo>
                  <a:pt x="11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1"/>
                  <a:pt x="28" y="7"/>
                  <a:pt x="35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5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5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TextBox 402"/>
          <p:cNvSpPr txBox="1"/>
          <p:nvPr/>
        </p:nvSpPr>
        <p:spPr>
          <a:xfrm>
            <a:off x="6734520" y="1288080"/>
            <a:ext cx="3050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At 500 RMP, rotor exhibits dramatic wobbling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reeform 403"/>
          <p:cNvSpPr/>
          <p:nvPr/>
        </p:nvSpPr>
        <p:spPr>
          <a:xfrm>
            <a:off x="6593400" y="1879920"/>
            <a:ext cx="42120" cy="42480"/>
          </a:xfrm>
          <a:custGeom>
            <a:avLst/>
            <a:gdLst/>
            <a:ahLst/>
            <a:cxnLst/>
            <a:rect l="0" t="0" r="r" b="b"/>
            <a:pathLst>
              <a:path w="117" h="118">
                <a:moveTo>
                  <a:pt x="117" y="59"/>
                </a:moveTo>
                <a:cubicBezTo>
                  <a:pt x="117" y="67"/>
                  <a:pt x="115" y="75"/>
                  <a:pt x="112" y="82"/>
                </a:cubicBezTo>
                <a:cubicBezTo>
                  <a:pt x="109" y="89"/>
                  <a:pt x="105" y="95"/>
                  <a:pt x="100" y="101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5" y="118"/>
                  <a:pt x="58" y="118"/>
                </a:cubicBezTo>
                <a:cubicBezTo>
                  <a:pt x="50" y="118"/>
                  <a:pt x="43" y="116"/>
                  <a:pt x="35" y="113"/>
                </a:cubicBezTo>
                <a:cubicBezTo>
                  <a:pt x="28" y="110"/>
                  <a:pt x="22" y="106"/>
                  <a:pt x="17" y="101"/>
                </a:cubicBezTo>
                <a:cubicBezTo>
                  <a:pt x="11" y="95"/>
                  <a:pt x="7" y="89"/>
                  <a:pt x="4" y="82"/>
                </a:cubicBezTo>
                <a:cubicBezTo>
                  <a:pt x="1" y="75"/>
                  <a:pt x="0" y="67"/>
                  <a:pt x="0" y="59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1" y="23"/>
                  <a:pt x="17" y="17"/>
                </a:cubicBezTo>
                <a:cubicBezTo>
                  <a:pt x="22" y="12"/>
                  <a:pt x="28" y="8"/>
                  <a:pt x="35" y="5"/>
                </a:cubicBezTo>
                <a:cubicBezTo>
                  <a:pt x="43" y="2"/>
                  <a:pt x="50" y="0"/>
                  <a:pt x="58" y="0"/>
                </a:cubicBezTo>
                <a:cubicBezTo>
                  <a:pt x="65" y="0"/>
                  <a:pt x="74" y="2"/>
                  <a:pt x="81" y="5"/>
                </a:cubicBezTo>
                <a:cubicBezTo>
                  <a:pt x="88" y="8"/>
                  <a:pt x="94" y="12"/>
                  <a:pt x="100" y="17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TextBox 404"/>
          <p:cNvSpPr txBox="1"/>
          <p:nvPr/>
        </p:nvSpPr>
        <p:spPr>
          <a:xfrm>
            <a:off x="6734520" y="1555560"/>
            <a:ext cx="3393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Three rigid body modes identiﬁed: Theta, X, and Z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TextBox 405"/>
          <p:cNvSpPr txBox="1"/>
          <p:nvPr/>
        </p:nvSpPr>
        <p:spPr>
          <a:xfrm>
            <a:off x="6734520" y="1823040"/>
            <a:ext cx="3033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Resonance occurs when rotational frequency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TextBox 406"/>
          <p:cNvSpPr txBox="1"/>
          <p:nvPr/>
        </p:nvSpPr>
        <p:spPr>
          <a:xfrm>
            <a:off x="6734520" y="2023560"/>
            <a:ext cx="2347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matches mode's natural frequency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TextBox 407"/>
          <p:cNvSpPr txBox="1"/>
          <p:nvPr/>
        </p:nvSpPr>
        <p:spPr>
          <a:xfrm>
            <a:off x="6534000" y="2634840"/>
            <a:ext cx="23752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Energy Transfer Mechanism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TextBox 408"/>
          <p:cNvSpPr txBox="1"/>
          <p:nvPr/>
        </p:nvSpPr>
        <p:spPr>
          <a:xfrm>
            <a:off x="6534000" y="2926080"/>
            <a:ext cx="3752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Coupling between rotation and vibration modes creates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TextBox 409"/>
          <p:cNvSpPr txBox="1"/>
          <p:nvPr/>
        </p:nvSpPr>
        <p:spPr>
          <a:xfrm>
            <a:off x="6534000" y="3126600"/>
            <a:ext cx="3548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 driving force that transfers energy from rotation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TextBox 412"/>
          <p:cNvSpPr txBox="1"/>
          <p:nvPr/>
        </p:nvSpPr>
        <p:spPr>
          <a:xfrm>
            <a:off x="6534000" y="3327120"/>
            <a:ext cx="3489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vibrational modes, causing the system to ringdown.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2" name="Picture 421"/>
          <p:cNvPicPr/>
          <p:nvPr/>
        </p:nvPicPr>
        <p:blipFill>
          <a:blip r:embed="rId3"/>
          <a:stretch/>
        </p:blipFill>
        <p:spPr>
          <a:xfrm>
            <a:off x="4838400" y="4236840"/>
            <a:ext cx="8316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Freeform 425"/>
          <p:cNvSpPr/>
          <p:nvPr/>
        </p:nvSpPr>
        <p:spPr>
          <a:xfrm>
            <a:off x="6292440" y="4453920"/>
            <a:ext cx="3627000" cy="334800"/>
          </a:xfrm>
          <a:custGeom>
            <a:avLst/>
            <a:gdLst/>
            <a:ahLst/>
            <a:cxnLst/>
            <a:rect l="0" t="0" r="r" b="b"/>
            <a:pathLst>
              <a:path w="10075" h="930">
                <a:moveTo>
                  <a:pt x="0" y="744"/>
                </a:moveTo>
                <a:lnTo>
                  <a:pt x="0" y="187"/>
                </a:lnTo>
                <a:cubicBezTo>
                  <a:pt x="0" y="175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9890" y="0"/>
                </a:lnTo>
                <a:cubicBezTo>
                  <a:pt x="9902" y="0"/>
                  <a:pt x="9914" y="1"/>
                  <a:pt x="9926" y="4"/>
                </a:cubicBezTo>
                <a:cubicBezTo>
                  <a:pt x="9938" y="6"/>
                  <a:pt x="9949" y="10"/>
                  <a:pt x="9961" y="14"/>
                </a:cubicBezTo>
                <a:cubicBezTo>
                  <a:pt x="9972" y="19"/>
                  <a:pt x="9983" y="25"/>
                  <a:pt x="9993" y="31"/>
                </a:cubicBezTo>
                <a:cubicBezTo>
                  <a:pt x="10003" y="38"/>
                  <a:pt x="10012" y="46"/>
                  <a:pt x="10021" y="54"/>
                </a:cubicBezTo>
                <a:cubicBezTo>
                  <a:pt x="10030" y="63"/>
                  <a:pt x="10037" y="72"/>
                  <a:pt x="10044" y="83"/>
                </a:cubicBezTo>
                <a:cubicBezTo>
                  <a:pt x="10051" y="93"/>
                  <a:pt x="10057" y="103"/>
                  <a:pt x="10061" y="115"/>
                </a:cubicBezTo>
                <a:cubicBezTo>
                  <a:pt x="10066" y="126"/>
                  <a:pt x="10069" y="138"/>
                  <a:pt x="10072" y="150"/>
                </a:cubicBezTo>
                <a:cubicBezTo>
                  <a:pt x="10074" y="162"/>
                  <a:pt x="10075" y="175"/>
                  <a:pt x="10075" y="187"/>
                </a:cubicBezTo>
                <a:lnTo>
                  <a:pt x="10075" y="744"/>
                </a:lnTo>
                <a:cubicBezTo>
                  <a:pt x="10075" y="756"/>
                  <a:pt x="10074" y="768"/>
                  <a:pt x="10072" y="780"/>
                </a:cubicBezTo>
                <a:cubicBezTo>
                  <a:pt x="10069" y="792"/>
                  <a:pt x="10066" y="804"/>
                  <a:pt x="10061" y="815"/>
                </a:cubicBezTo>
                <a:cubicBezTo>
                  <a:pt x="10057" y="826"/>
                  <a:pt x="10051" y="837"/>
                  <a:pt x="10044" y="847"/>
                </a:cubicBezTo>
                <a:cubicBezTo>
                  <a:pt x="10037" y="857"/>
                  <a:pt x="10030" y="867"/>
                  <a:pt x="10021" y="875"/>
                </a:cubicBezTo>
                <a:cubicBezTo>
                  <a:pt x="10012" y="884"/>
                  <a:pt x="10003" y="892"/>
                  <a:pt x="9993" y="898"/>
                </a:cubicBezTo>
                <a:cubicBezTo>
                  <a:pt x="9983" y="905"/>
                  <a:pt x="9972" y="911"/>
                  <a:pt x="9961" y="915"/>
                </a:cubicBezTo>
                <a:cubicBezTo>
                  <a:pt x="9949" y="920"/>
                  <a:pt x="9938" y="924"/>
                  <a:pt x="9926" y="926"/>
                </a:cubicBezTo>
                <a:cubicBezTo>
                  <a:pt x="9914" y="928"/>
                  <a:pt x="9902" y="930"/>
                  <a:pt x="9890" y="930"/>
                </a:cubicBezTo>
                <a:lnTo>
                  <a:pt x="186" y="930"/>
                </a:lnTo>
                <a:cubicBezTo>
                  <a:pt x="173" y="930"/>
                  <a:pt x="161" y="928"/>
                  <a:pt x="149" y="926"/>
                </a:cubicBezTo>
                <a:cubicBezTo>
                  <a:pt x="137" y="924"/>
                  <a:pt x="126" y="920"/>
                  <a:pt x="115" y="915"/>
                </a:cubicBezTo>
                <a:cubicBezTo>
                  <a:pt x="103" y="911"/>
                  <a:pt x="93" y="905"/>
                  <a:pt x="82" y="898"/>
                </a:cubicBezTo>
                <a:cubicBezTo>
                  <a:pt x="72" y="892"/>
                  <a:pt x="63" y="884"/>
                  <a:pt x="54" y="875"/>
                </a:cubicBezTo>
                <a:cubicBezTo>
                  <a:pt x="46" y="867"/>
                  <a:pt x="38" y="857"/>
                  <a:pt x="31" y="847"/>
                </a:cubicBezTo>
                <a:cubicBezTo>
                  <a:pt x="24" y="837"/>
                  <a:pt x="19" y="826"/>
                  <a:pt x="14" y="815"/>
                </a:cubicBezTo>
                <a:cubicBezTo>
                  <a:pt x="9" y="804"/>
                  <a:pt x="6" y="792"/>
                  <a:pt x="3" y="780"/>
                </a:cubicBezTo>
                <a:cubicBezTo>
                  <a:pt x="1" y="768"/>
                  <a:pt x="0" y="756"/>
                  <a:pt x="0" y="744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7" name="Picture 426"/>
          <p:cNvPicPr/>
          <p:nvPr/>
        </p:nvPicPr>
        <p:blipFill>
          <a:blip r:embed="rId4"/>
          <a:stretch/>
        </p:blipFill>
        <p:spPr>
          <a:xfrm>
            <a:off x="6426360" y="4554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Box 428"/>
          <p:cNvSpPr txBox="1"/>
          <p:nvPr/>
        </p:nvSpPr>
        <p:spPr>
          <a:xfrm>
            <a:off x="6626520" y="4538880"/>
            <a:ext cx="3174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PIML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identiﬁes coupling between these modes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TextBox 429"/>
          <p:cNvSpPr txBox="1"/>
          <p:nvPr/>
        </p:nvSpPr>
        <p:spPr>
          <a:xfrm>
            <a:off x="10110600" y="596808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9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888383-B40C-A1F5-1196-483F16303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22"/>
          <a:stretch/>
        </p:blipFill>
        <p:spPr bwMode="auto">
          <a:xfrm>
            <a:off x="4764941" y="1862394"/>
            <a:ext cx="1045667" cy="300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diagram of a rotor diameter&#10;&#10;AI-generated content may be incorrect.">
            <a:extLst>
              <a:ext uri="{FF2B5EF4-FFF2-40B4-BE49-F238E27FC236}">
                <a16:creationId xmlns:a16="http://schemas.microsoft.com/office/drawing/2014/main" id="{05AA1ADD-5AC1-8B03-FE8C-CA5E8C0B2A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"/>
          <a:stretch/>
        </p:blipFill>
        <p:spPr bwMode="auto">
          <a:xfrm>
            <a:off x="192506" y="1836541"/>
            <a:ext cx="4527454" cy="278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Freeform 430"/>
          <p:cNvSpPr/>
          <p:nvPr/>
        </p:nvSpPr>
        <p:spPr>
          <a:xfrm>
            <a:off x="0" y="0"/>
            <a:ext cx="10696680" cy="6284520"/>
          </a:xfrm>
          <a:custGeom>
            <a:avLst/>
            <a:gdLst/>
            <a:ahLst/>
            <a:cxnLst/>
            <a:rect l="0" t="0" r="r" b="b"/>
            <a:pathLst>
              <a:path w="29713" h="17457">
                <a:moveTo>
                  <a:pt x="0" y="0"/>
                </a:moveTo>
                <a:lnTo>
                  <a:pt x="29713" y="0"/>
                </a:lnTo>
                <a:lnTo>
                  <a:pt x="29713" y="17457"/>
                </a:lnTo>
                <a:lnTo>
                  <a:pt x="0" y="174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9050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32" name="Picture 431"/>
          <p:cNvPicPr/>
          <p:nvPr/>
        </p:nvPicPr>
        <p:blipFill>
          <a:blip r:embed="rId3"/>
          <a:stretch/>
        </p:blipFill>
        <p:spPr>
          <a:xfrm>
            <a:off x="0" y="16272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TextBox 432"/>
          <p:cNvSpPr txBox="1"/>
          <p:nvPr/>
        </p:nvSpPr>
        <p:spPr>
          <a:xfrm>
            <a:off x="334080" y="300905"/>
            <a:ext cx="5198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Secondary Equation: Mode Vibration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TextBox 433"/>
          <p:cNvSpPr txBox="1"/>
          <p:nvPr/>
        </p:nvSpPr>
        <p:spPr>
          <a:xfrm>
            <a:off x="334440" y="923040"/>
            <a:ext cx="10036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The second equation describes a </a:t>
            </a:r>
            <a:r>
              <a:rPr lang="en-US" sz="1320" b="1" u="none" strike="noStrike">
                <a:solidFill>
                  <a:srgbClr val="1C3F94"/>
                </a:solidFill>
                <a:effectLst/>
                <a:uFillTx/>
                <a:latin typeface="DejaVuSans"/>
                <a:ea typeface="DejaVuSans"/>
              </a:rPr>
              <a:t>second order diﬀerential equation</a:t>
            </a:r>
            <a:r>
              <a:rPr lang="en-US" sz="132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 that relates the amplitudes of mode vibrations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reeform 434"/>
          <p:cNvSpPr/>
          <p:nvPr/>
        </p:nvSpPr>
        <p:spPr>
          <a:xfrm>
            <a:off x="126180" y="1578780"/>
            <a:ext cx="10007640" cy="1437480"/>
          </a:xfrm>
          <a:custGeom>
            <a:avLst/>
            <a:gdLst/>
            <a:ahLst/>
            <a:cxnLst/>
            <a:rect l="0" t="0" r="r" b="b"/>
            <a:pathLst>
              <a:path w="27799" h="3993">
                <a:moveTo>
                  <a:pt x="0" y="380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5"/>
                  <a:pt x="10" y="114"/>
                </a:cubicBezTo>
                <a:cubicBezTo>
                  <a:pt x="13" y="103"/>
                  <a:pt x="17" y="92"/>
                  <a:pt x="22" y="82"/>
                </a:cubicBezTo>
                <a:cubicBezTo>
                  <a:pt x="26" y="72"/>
                  <a:pt x="32" y="63"/>
                  <a:pt x="37" y="54"/>
                </a:cubicBezTo>
                <a:cubicBezTo>
                  <a:pt x="43" y="45"/>
                  <a:pt x="50" y="38"/>
                  <a:pt x="57" y="31"/>
                </a:cubicBezTo>
                <a:cubicBezTo>
                  <a:pt x="64" y="24"/>
                  <a:pt x="71" y="18"/>
                  <a:pt x="79" y="14"/>
                </a:cubicBezTo>
                <a:cubicBezTo>
                  <a:pt x="87" y="9"/>
                  <a:pt x="95" y="6"/>
                  <a:pt x="103" y="3"/>
                </a:cubicBezTo>
                <a:cubicBezTo>
                  <a:pt x="111" y="1"/>
                  <a:pt x="119" y="0"/>
                  <a:pt x="128" y="0"/>
                </a:cubicBezTo>
                <a:lnTo>
                  <a:pt x="27613" y="0"/>
                </a:lnTo>
                <a:cubicBezTo>
                  <a:pt x="27625" y="0"/>
                  <a:pt x="27637" y="1"/>
                  <a:pt x="27649" y="3"/>
                </a:cubicBezTo>
                <a:cubicBezTo>
                  <a:pt x="27661" y="6"/>
                  <a:pt x="27673" y="9"/>
                  <a:pt x="27684" y="14"/>
                </a:cubicBezTo>
                <a:cubicBezTo>
                  <a:pt x="27695" y="18"/>
                  <a:pt x="27706" y="24"/>
                  <a:pt x="27716" y="31"/>
                </a:cubicBezTo>
                <a:cubicBezTo>
                  <a:pt x="27726" y="38"/>
                  <a:pt x="27736" y="45"/>
                  <a:pt x="27744" y="54"/>
                </a:cubicBezTo>
                <a:cubicBezTo>
                  <a:pt x="27753" y="63"/>
                  <a:pt x="27761" y="72"/>
                  <a:pt x="27767" y="82"/>
                </a:cubicBezTo>
                <a:cubicBezTo>
                  <a:pt x="27774" y="92"/>
                  <a:pt x="27780" y="103"/>
                  <a:pt x="27785" y="114"/>
                </a:cubicBezTo>
                <a:cubicBezTo>
                  <a:pt x="27789" y="125"/>
                  <a:pt x="27793" y="137"/>
                  <a:pt x="27795" y="149"/>
                </a:cubicBezTo>
                <a:cubicBezTo>
                  <a:pt x="27797" y="161"/>
                  <a:pt x="27799" y="173"/>
                  <a:pt x="27799" y="185"/>
                </a:cubicBezTo>
                <a:lnTo>
                  <a:pt x="27799" y="3807"/>
                </a:lnTo>
                <a:cubicBezTo>
                  <a:pt x="27799" y="3820"/>
                  <a:pt x="27797" y="3832"/>
                  <a:pt x="27795" y="3844"/>
                </a:cubicBezTo>
                <a:cubicBezTo>
                  <a:pt x="27793" y="3856"/>
                  <a:pt x="27789" y="3867"/>
                  <a:pt x="27785" y="3879"/>
                </a:cubicBezTo>
                <a:cubicBezTo>
                  <a:pt x="27780" y="3890"/>
                  <a:pt x="27774" y="3901"/>
                  <a:pt x="27767" y="3911"/>
                </a:cubicBezTo>
                <a:cubicBezTo>
                  <a:pt x="27761" y="3921"/>
                  <a:pt x="27753" y="3930"/>
                  <a:pt x="27744" y="3939"/>
                </a:cubicBezTo>
                <a:cubicBezTo>
                  <a:pt x="27736" y="3947"/>
                  <a:pt x="27726" y="3955"/>
                  <a:pt x="27716" y="3962"/>
                </a:cubicBezTo>
                <a:cubicBezTo>
                  <a:pt x="27706" y="3969"/>
                  <a:pt x="27695" y="3974"/>
                  <a:pt x="27684" y="3979"/>
                </a:cubicBezTo>
                <a:cubicBezTo>
                  <a:pt x="27673" y="3984"/>
                  <a:pt x="27661" y="3987"/>
                  <a:pt x="27649" y="3990"/>
                </a:cubicBezTo>
                <a:cubicBezTo>
                  <a:pt x="27637" y="3992"/>
                  <a:pt x="27625" y="3993"/>
                  <a:pt x="27613" y="3993"/>
                </a:cubicBezTo>
                <a:lnTo>
                  <a:pt x="128" y="3993"/>
                </a:lnTo>
                <a:cubicBezTo>
                  <a:pt x="119" y="3993"/>
                  <a:pt x="111" y="3992"/>
                  <a:pt x="103" y="3990"/>
                </a:cubicBezTo>
                <a:cubicBezTo>
                  <a:pt x="95" y="3987"/>
                  <a:pt x="87" y="3984"/>
                  <a:pt x="79" y="3979"/>
                </a:cubicBezTo>
                <a:cubicBezTo>
                  <a:pt x="71" y="3974"/>
                  <a:pt x="64" y="3969"/>
                  <a:pt x="57" y="3962"/>
                </a:cubicBezTo>
                <a:cubicBezTo>
                  <a:pt x="50" y="3955"/>
                  <a:pt x="43" y="3947"/>
                  <a:pt x="37" y="3939"/>
                </a:cubicBezTo>
                <a:cubicBezTo>
                  <a:pt x="32" y="3930"/>
                  <a:pt x="26" y="3921"/>
                  <a:pt x="22" y="3911"/>
                </a:cubicBezTo>
                <a:cubicBezTo>
                  <a:pt x="17" y="3901"/>
                  <a:pt x="13" y="3890"/>
                  <a:pt x="10" y="3879"/>
                </a:cubicBezTo>
                <a:cubicBezTo>
                  <a:pt x="7" y="3867"/>
                  <a:pt x="4" y="3856"/>
                  <a:pt x="3" y="3844"/>
                </a:cubicBezTo>
                <a:cubicBezTo>
                  <a:pt x="1" y="3832"/>
                  <a:pt x="0" y="3820"/>
                  <a:pt x="0" y="380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reeform 435"/>
          <p:cNvSpPr/>
          <p:nvPr/>
        </p:nvSpPr>
        <p:spPr>
          <a:xfrm>
            <a:off x="334080" y="1571040"/>
            <a:ext cx="67320" cy="1437480"/>
          </a:xfrm>
          <a:custGeom>
            <a:avLst/>
            <a:gdLst/>
            <a:ahLst/>
            <a:cxnLst/>
            <a:rect l="0" t="0" r="r" b="b"/>
            <a:pathLst>
              <a:path w="187" h="3993">
                <a:moveTo>
                  <a:pt x="0" y="0"/>
                </a:moveTo>
                <a:lnTo>
                  <a:pt x="187" y="0"/>
                </a:lnTo>
                <a:lnTo>
                  <a:pt x="187" y="3993"/>
                </a:lnTo>
                <a:lnTo>
                  <a:pt x="0" y="399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TextBox 436"/>
          <p:cNvSpPr txBox="1"/>
          <p:nvPr/>
        </p:nvSpPr>
        <p:spPr>
          <a:xfrm>
            <a:off x="334440" y="1157040"/>
            <a:ext cx="23803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to the coupled driving force.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reeform 442"/>
          <p:cNvSpPr/>
          <p:nvPr/>
        </p:nvSpPr>
        <p:spPr>
          <a:xfrm>
            <a:off x="334080" y="3292200"/>
            <a:ext cx="3209400" cy="1671840"/>
          </a:xfrm>
          <a:custGeom>
            <a:avLst/>
            <a:gdLst/>
            <a:ahLst/>
            <a:cxnLst/>
            <a:rect l="0" t="0" r="r" b="b"/>
            <a:pathLst>
              <a:path w="8915" h="4644">
                <a:moveTo>
                  <a:pt x="0" y="4458"/>
                </a:moveTo>
                <a:lnTo>
                  <a:pt x="0" y="140"/>
                </a:lnTo>
                <a:cubicBezTo>
                  <a:pt x="0" y="131"/>
                  <a:pt x="1" y="122"/>
                  <a:pt x="4" y="113"/>
                </a:cubicBezTo>
                <a:cubicBezTo>
                  <a:pt x="6" y="104"/>
                  <a:pt x="9" y="95"/>
                  <a:pt x="14" y="86"/>
                </a:cubicBezTo>
                <a:cubicBezTo>
                  <a:pt x="19" y="78"/>
                  <a:pt x="25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3" y="24"/>
                </a:cubicBezTo>
                <a:cubicBezTo>
                  <a:pt x="93" y="19"/>
                  <a:pt x="103" y="15"/>
                  <a:pt x="115" y="11"/>
                </a:cubicBezTo>
                <a:cubicBezTo>
                  <a:pt x="126" y="8"/>
                  <a:pt x="138" y="5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8"/>
                  <a:pt x="8800" y="11"/>
                </a:cubicBezTo>
                <a:cubicBezTo>
                  <a:pt x="8811" y="15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4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4"/>
                  <a:pt x="8911" y="113"/>
                </a:cubicBezTo>
                <a:cubicBezTo>
                  <a:pt x="8914" y="122"/>
                  <a:pt x="8915" y="131"/>
                  <a:pt x="8915" y="140"/>
                </a:cubicBezTo>
                <a:lnTo>
                  <a:pt x="8915" y="4458"/>
                </a:lnTo>
                <a:cubicBezTo>
                  <a:pt x="8915" y="4471"/>
                  <a:pt x="8914" y="4483"/>
                  <a:pt x="8911" y="4495"/>
                </a:cubicBezTo>
                <a:cubicBezTo>
                  <a:pt x="8909" y="4507"/>
                  <a:pt x="8905" y="4518"/>
                  <a:pt x="8901" y="4529"/>
                </a:cubicBezTo>
                <a:cubicBezTo>
                  <a:pt x="8896" y="4541"/>
                  <a:pt x="8890" y="4551"/>
                  <a:pt x="8884" y="4562"/>
                </a:cubicBezTo>
                <a:cubicBezTo>
                  <a:pt x="8877" y="4572"/>
                  <a:pt x="8869" y="4581"/>
                  <a:pt x="8860" y="4590"/>
                </a:cubicBezTo>
                <a:cubicBezTo>
                  <a:pt x="8852" y="4598"/>
                  <a:pt x="8842" y="4606"/>
                  <a:pt x="8832" y="4613"/>
                </a:cubicBezTo>
                <a:cubicBezTo>
                  <a:pt x="8822" y="4620"/>
                  <a:pt x="8811" y="4625"/>
                  <a:pt x="8800" y="4630"/>
                </a:cubicBezTo>
                <a:cubicBezTo>
                  <a:pt x="8789" y="4635"/>
                  <a:pt x="8777" y="4638"/>
                  <a:pt x="8765" y="4640"/>
                </a:cubicBezTo>
                <a:cubicBezTo>
                  <a:pt x="8753" y="4643"/>
                  <a:pt x="8741" y="4644"/>
                  <a:pt x="8729" y="4644"/>
                </a:cubicBezTo>
                <a:lnTo>
                  <a:pt x="186" y="4644"/>
                </a:lnTo>
                <a:cubicBezTo>
                  <a:pt x="174" y="4644"/>
                  <a:pt x="161" y="4643"/>
                  <a:pt x="149" y="4640"/>
                </a:cubicBezTo>
                <a:cubicBezTo>
                  <a:pt x="138" y="4638"/>
                  <a:pt x="126" y="4635"/>
                  <a:pt x="115" y="4630"/>
                </a:cubicBezTo>
                <a:cubicBezTo>
                  <a:pt x="103" y="4625"/>
                  <a:pt x="93" y="4620"/>
                  <a:pt x="83" y="4613"/>
                </a:cubicBezTo>
                <a:cubicBezTo>
                  <a:pt x="72" y="4606"/>
                  <a:pt x="63" y="4598"/>
                  <a:pt x="54" y="4590"/>
                </a:cubicBezTo>
                <a:cubicBezTo>
                  <a:pt x="46" y="4581"/>
                  <a:pt x="38" y="4572"/>
                  <a:pt x="31" y="4562"/>
                </a:cubicBezTo>
                <a:cubicBezTo>
                  <a:pt x="25" y="4551"/>
                  <a:pt x="19" y="4541"/>
                  <a:pt x="14" y="4529"/>
                </a:cubicBezTo>
                <a:cubicBezTo>
                  <a:pt x="9" y="4518"/>
                  <a:pt x="6" y="4507"/>
                  <a:pt x="4" y="4495"/>
                </a:cubicBezTo>
                <a:cubicBezTo>
                  <a:pt x="1" y="4483"/>
                  <a:pt x="0" y="4471"/>
                  <a:pt x="0" y="44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reeform 443"/>
          <p:cNvSpPr/>
          <p:nvPr/>
        </p:nvSpPr>
        <p:spPr>
          <a:xfrm>
            <a:off x="334080" y="327564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5" name="Picture 444"/>
          <p:cNvPicPr/>
          <p:nvPr/>
        </p:nvPicPr>
        <p:blipFill>
          <a:blip r:embed="rId4"/>
          <a:stretch/>
        </p:blipFill>
        <p:spPr>
          <a:xfrm>
            <a:off x="501480" y="34765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6" name="Picture 445"/>
          <p:cNvPicPr/>
          <p:nvPr/>
        </p:nvPicPr>
        <p:blipFill>
          <a:blip r:embed="rId5"/>
          <a:stretch/>
        </p:blipFill>
        <p:spPr>
          <a:xfrm>
            <a:off x="618480" y="361008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TextBox 447"/>
          <p:cNvSpPr txBox="1"/>
          <p:nvPr/>
        </p:nvSpPr>
        <p:spPr>
          <a:xfrm>
            <a:off x="1053000" y="3595680"/>
            <a:ext cx="14824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Mode Amplitudes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TextBox 448"/>
          <p:cNvSpPr txBox="1"/>
          <p:nvPr/>
        </p:nvSpPr>
        <p:spPr>
          <a:xfrm>
            <a:off x="501480" y="4012560"/>
            <a:ext cx="2786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Describes the vibration amplitudes of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TextBox 449"/>
          <p:cNvSpPr txBox="1"/>
          <p:nvPr/>
        </p:nvSpPr>
        <p:spPr>
          <a:xfrm>
            <a:off x="501480" y="4213080"/>
            <a:ext cx="2748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three rigid body modes (Theta, X, and Z)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reeform 450"/>
          <p:cNvSpPr/>
          <p:nvPr/>
        </p:nvSpPr>
        <p:spPr>
          <a:xfrm>
            <a:off x="3743640" y="3292200"/>
            <a:ext cx="3209400" cy="1671840"/>
          </a:xfrm>
          <a:custGeom>
            <a:avLst/>
            <a:gdLst/>
            <a:ahLst/>
            <a:cxnLst/>
            <a:rect l="0" t="0" r="r" b="b"/>
            <a:pathLst>
              <a:path w="8915" h="4644">
                <a:moveTo>
                  <a:pt x="0" y="4458"/>
                </a:moveTo>
                <a:lnTo>
                  <a:pt x="0" y="140"/>
                </a:lnTo>
                <a:cubicBezTo>
                  <a:pt x="0" y="131"/>
                  <a:pt x="1" y="122"/>
                  <a:pt x="4" y="113"/>
                </a:cubicBezTo>
                <a:cubicBezTo>
                  <a:pt x="6" y="104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2" y="24"/>
                </a:cubicBezTo>
                <a:cubicBezTo>
                  <a:pt x="93" y="19"/>
                  <a:pt x="103" y="15"/>
                  <a:pt x="115" y="11"/>
                </a:cubicBezTo>
                <a:cubicBezTo>
                  <a:pt x="126" y="8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8"/>
                  <a:pt x="8800" y="11"/>
                </a:cubicBezTo>
                <a:cubicBezTo>
                  <a:pt x="8811" y="15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3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4"/>
                  <a:pt x="8911" y="113"/>
                </a:cubicBezTo>
                <a:cubicBezTo>
                  <a:pt x="8914" y="122"/>
                  <a:pt x="8915" y="131"/>
                  <a:pt x="8915" y="140"/>
                </a:cubicBezTo>
                <a:lnTo>
                  <a:pt x="8915" y="4458"/>
                </a:lnTo>
                <a:cubicBezTo>
                  <a:pt x="8915" y="4471"/>
                  <a:pt x="8914" y="4483"/>
                  <a:pt x="8911" y="4495"/>
                </a:cubicBezTo>
                <a:cubicBezTo>
                  <a:pt x="8909" y="4507"/>
                  <a:pt x="8905" y="4518"/>
                  <a:pt x="8901" y="4529"/>
                </a:cubicBezTo>
                <a:cubicBezTo>
                  <a:pt x="8896" y="4541"/>
                  <a:pt x="8890" y="4551"/>
                  <a:pt x="8883" y="4562"/>
                </a:cubicBezTo>
                <a:cubicBezTo>
                  <a:pt x="8877" y="4572"/>
                  <a:pt x="8869" y="4581"/>
                  <a:pt x="8860" y="4590"/>
                </a:cubicBezTo>
                <a:cubicBezTo>
                  <a:pt x="8852" y="4598"/>
                  <a:pt x="8842" y="4606"/>
                  <a:pt x="8832" y="4613"/>
                </a:cubicBezTo>
                <a:cubicBezTo>
                  <a:pt x="8822" y="4620"/>
                  <a:pt x="8811" y="4625"/>
                  <a:pt x="8800" y="4630"/>
                </a:cubicBezTo>
                <a:cubicBezTo>
                  <a:pt x="8789" y="4635"/>
                  <a:pt x="8777" y="4638"/>
                  <a:pt x="8765" y="4640"/>
                </a:cubicBezTo>
                <a:cubicBezTo>
                  <a:pt x="8753" y="4643"/>
                  <a:pt x="8741" y="4644"/>
                  <a:pt x="8729" y="4644"/>
                </a:cubicBezTo>
                <a:lnTo>
                  <a:pt x="186" y="4644"/>
                </a:lnTo>
                <a:cubicBezTo>
                  <a:pt x="173" y="4644"/>
                  <a:pt x="161" y="4643"/>
                  <a:pt x="149" y="4640"/>
                </a:cubicBezTo>
                <a:cubicBezTo>
                  <a:pt x="137" y="4638"/>
                  <a:pt x="126" y="4635"/>
                  <a:pt x="115" y="4630"/>
                </a:cubicBezTo>
                <a:cubicBezTo>
                  <a:pt x="103" y="4625"/>
                  <a:pt x="93" y="4620"/>
                  <a:pt x="82" y="4613"/>
                </a:cubicBezTo>
                <a:cubicBezTo>
                  <a:pt x="72" y="4606"/>
                  <a:pt x="63" y="4598"/>
                  <a:pt x="54" y="4590"/>
                </a:cubicBezTo>
                <a:cubicBezTo>
                  <a:pt x="46" y="4581"/>
                  <a:pt x="38" y="4572"/>
                  <a:pt x="31" y="4562"/>
                </a:cubicBezTo>
                <a:cubicBezTo>
                  <a:pt x="24" y="4551"/>
                  <a:pt x="19" y="4541"/>
                  <a:pt x="14" y="4529"/>
                </a:cubicBezTo>
                <a:cubicBezTo>
                  <a:pt x="9" y="4518"/>
                  <a:pt x="6" y="4507"/>
                  <a:pt x="4" y="4495"/>
                </a:cubicBezTo>
                <a:cubicBezTo>
                  <a:pt x="1" y="4483"/>
                  <a:pt x="0" y="4471"/>
                  <a:pt x="0" y="44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Freeform 451"/>
          <p:cNvSpPr/>
          <p:nvPr/>
        </p:nvSpPr>
        <p:spPr>
          <a:xfrm>
            <a:off x="3743640" y="327564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3" name="Picture 452"/>
          <p:cNvPicPr/>
          <p:nvPr/>
        </p:nvPicPr>
        <p:blipFill>
          <a:blip r:embed="rId6"/>
          <a:stretch/>
        </p:blipFill>
        <p:spPr>
          <a:xfrm>
            <a:off x="3911040" y="34765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4" name="Picture 453"/>
          <p:cNvPicPr/>
          <p:nvPr/>
        </p:nvPicPr>
        <p:blipFill>
          <a:blip r:embed="rId7"/>
          <a:stretch/>
        </p:blipFill>
        <p:spPr>
          <a:xfrm>
            <a:off x="4028040" y="361008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TextBox 454"/>
          <p:cNvSpPr txBox="1"/>
          <p:nvPr/>
        </p:nvSpPr>
        <p:spPr>
          <a:xfrm>
            <a:off x="501480" y="4413600"/>
            <a:ext cx="2523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discovered during experimental runs.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TextBox 455"/>
          <p:cNvSpPr txBox="1"/>
          <p:nvPr/>
        </p:nvSpPr>
        <p:spPr>
          <a:xfrm>
            <a:off x="4462560" y="3595680"/>
            <a:ext cx="1373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Coupled System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TextBox 456"/>
          <p:cNvSpPr txBox="1"/>
          <p:nvPr/>
        </p:nvSpPr>
        <p:spPr>
          <a:xfrm>
            <a:off x="3911040" y="4012560"/>
            <a:ext cx="2775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Models the energy transfers between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TextBox 457"/>
          <p:cNvSpPr txBox="1"/>
          <p:nvPr/>
        </p:nvSpPr>
        <p:spPr>
          <a:xfrm>
            <a:off x="3911040" y="4213080"/>
            <a:ext cx="2868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rotating system and the vibrational modes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reeform 458"/>
          <p:cNvSpPr/>
          <p:nvPr/>
        </p:nvSpPr>
        <p:spPr>
          <a:xfrm>
            <a:off x="7153200" y="3292200"/>
            <a:ext cx="3209400" cy="1671840"/>
          </a:xfrm>
          <a:custGeom>
            <a:avLst/>
            <a:gdLst/>
            <a:ahLst/>
            <a:cxnLst/>
            <a:rect l="0" t="0" r="r" b="b"/>
            <a:pathLst>
              <a:path w="8915" h="4644">
                <a:moveTo>
                  <a:pt x="0" y="4458"/>
                </a:moveTo>
                <a:lnTo>
                  <a:pt x="0" y="140"/>
                </a:lnTo>
                <a:cubicBezTo>
                  <a:pt x="0" y="131"/>
                  <a:pt x="1" y="122"/>
                  <a:pt x="3" y="113"/>
                </a:cubicBezTo>
                <a:cubicBezTo>
                  <a:pt x="6" y="104"/>
                  <a:pt x="9" y="95"/>
                  <a:pt x="14" y="86"/>
                </a:cubicBezTo>
                <a:cubicBezTo>
                  <a:pt x="19" y="78"/>
                  <a:pt x="24" y="70"/>
                  <a:pt x="31" y="62"/>
                </a:cubicBezTo>
                <a:cubicBezTo>
                  <a:pt x="38" y="55"/>
                  <a:pt x="46" y="48"/>
                  <a:pt x="54" y="41"/>
                </a:cubicBezTo>
                <a:cubicBezTo>
                  <a:pt x="63" y="35"/>
                  <a:pt x="72" y="29"/>
                  <a:pt x="82" y="24"/>
                </a:cubicBezTo>
                <a:cubicBezTo>
                  <a:pt x="93" y="19"/>
                  <a:pt x="103" y="15"/>
                  <a:pt x="115" y="11"/>
                </a:cubicBezTo>
                <a:cubicBezTo>
                  <a:pt x="126" y="8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8729" y="0"/>
                </a:lnTo>
                <a:cubicBezTo>
                  <a:pt x="8741" y="0"/>
                  <a:pt x="8753" y="1"/>
                  <a:pt x="8765" y="3"/>
                </a:cubicBezTo>
                <a:cubicBezTo>
                  <a:pt x="8777" y="5"/>
                  <a:pt x="8789" y="8"/>
                  <a:pt x="8800" y="11"/>
                </a:cubicBezTo>
                <a:cubicBezTo>
                  <a:pt x="8811" y="15"/>
                  <a:pt x="8822" y="19"/>
                  <a:pt x="8832" y="24"/>
                </a:cubicBezTo>
                <a:cubicBezTo>
                  <a:pt x="8842" y="29"/>
                  <a:pt x="8852" y="35"/>
                  <a:pt x="8860" y="41"/>
                </a:cubicBezTo>
                <a:cubicBezTo>
                  <a:pt x="8869" y="48"/>
                  <a:pt x="8877" y="55"/>
                  <a:pt x="8883" y="62"/>
                </a:cubicBezTo>
                <a:cubicBezTo>
                  <a:pt x="8890" y="70"/>
                  <a:pt x="8896" y="78"/>
                  <a:pt x="8901" y="86"/>
                </a:cubicBezTo>
                <a:cubicBezTo>
                  <a:pt x="8905" y="95"/>
                  <a:pt x="8909" y="104"/>
                  <a:pt x="8911" y="113"/>
                </a:cubicBezTo>
                <a:cubicBezTo>
                  <a:pt x="8913" y="122"/>
                  <a:pt x="8915" y="131"/>
                  <a:pt x="8915" y="140"/>
                </a:cubicBezTo>
                <a:lnTo>
                  <a:pt x="8915" y="4458"/>
                </a:lnTo>
                <a:cubicBezTo>
                  <a:pt x="8915" y="4471"/>
                  <a:pt x="8913" y="4483"/>
                  <a:pt x="8911" y="4495"/>
                </a:cubicBezTo>
                <a:cubicBezTo>
                  <a:pt x="8909" y="4507"/>
                  <a:pt x="8905" y="4518"/>
                  <a:pt x="8901" y="4529"/>
                </a:cubicBezTo>
                <a:cubicBezTo>
                  <a:pt x="8896" y="4541"/>
                  <a:pt x="8890" y="4551"/>
                  <a:pt x="8883" y="4562"/>
                </a:cubicBezTo>
                <a:cubicBezTo>
                  <a:pt x="8877" y="4572"/>
                  <a:pt x="8869" y="4581"/>
                  <a:pt x="8860" y="4590"/>
                </a:cubicBezTo>
                <a:cubicBezTo>
                  <a:pt x="8852" y="4598"/>
                  <a:pt x="8842" y="4606"/>
                  <a:pt x="8832" y="4613"/>
                </a:cubicBezTo>
                <a:cubicBezTo>
                  <a:pt x="8822" y="4620"/>
                  <a:pt x="8811" y="4625"/>
                  <a:pt x="8800" y="4630"/>
                </a:cubicBezTo>
                <a:cubicBezTo>
                  <a:pt x="8789" y="4635"/>
                  <a:pt x="8777" y="4638"/>
                  <a:pt x="8765" y="4640"/>
                </a:cubicBezTo>
                <a:cubicBezTo>
                  <a:pt x="8753" y="4643"/>
                  <a:pt x="8741" y="4644"/>
                  <a:pt x="8729" y="4644"/>
                </a:cubicBezTo>
                <a:lnTo>
                  <a:pt x="186" y="4644"/>
                </a:lnTo>
                <a:cubicBezTo>
                  <a:pt x="173" y="4644"/>
                  <a:pt x="161" y="4643"/>
                  <a:pt x="149" y="4640"/>
                </a:cubicBezTo>
                <a:cubicBezTo>
                  <a:pt x="137" y="4638"/>
                  <a:pt x="126" y="4635"/>
                  <a:pt x="115" y="4630"/>
                </a:cubicBezTo>
                <a:cubicBezTo>
                  <a:pt x="103" y="4625"/>
                  <a:pt x="93" y="4620"/>
                  <a:pt x="82" y="4613"/>
                </a:cubicBezTo>
                <a:cubicBezTo>
                  <a:pt x="72" y="4606"/>
                  <a:pt x="63" y="4598"/>
                  <a:pt x="54" y="4590"/>
                </a:cubicBezTo>
                <a:cubicBezTo>
                  <a:pt x="46" y="4581"/>
                  <a:pt x="38" y="4572"/>
                  <a:pt x="31" y="4562"/>
                </a:cubicBezTo>
                <a:cubicBezTo>
                  <a:pt x="24" y="4551"/>
                  <a:pt x="19" y="4541"/>
                  <a:pt x="14" y="4529"/>
                </a:cubicBezTo>
                <a:cubicBezTo>
                  <a:pt x="9" y="4518"/>
                  <a:pt x="6" y="4507"/>
                  <a:pt x="3" y="4495"/>
                </a:cubicBezTo>
                <a:cubicBezTo>
                  <a:pt x="1" y="4483"/>
                  <a:pt x="0" y="4471"/>
                  <a:pt x="0" y="44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Freeform 459"/>
          <p:cNvSpPr/>
          <p:nvPr/>
        </p:nvSpPr>
        <p:spPr>
          <a:xfrm>
            <a:off x="7153200" y="3275640"/>
            <a:ext cx="3209400" cy="67320"/>
          </a:xfrm>
          <a:custGeom>
            <a:avLst/>
            <a:gdLst/>
            <a:ahLst/>
            <a:cxnLst/>
            <a:rect l="0" t="0" r="r" b="b"/>
            <a:pathLst>
              <a:path w="8915" h="187">
                <a:moveTo>
                  <a:pt x="0" y="0"/>
                </a:moveTo>
                <a:lnTo>
                  <a:pt x="8915" y="0"/>
                </a:lnTo>
                <a:lnTo>
                  <a:pt x="8915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1" name="Picture 460"/>
          <p:cNvPicPr/>
          <p:nvPr/>
        </p:nvPicPr>
        <p:blipFill>
          <a:blip r:embed="rId8"/>
          <a:stretch/>
        </p:blipFill>
        <p:spPr>
          <a:xfrm>
            <a:off x="7320600" y="34765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Picture 461"/>
          <p:cNvPicPr/>
          <p:nvPr/>
        </p:nvPicPr>
        <p:blipFill>
          <a:blip r:embed="rId9"/>
          <a:stretch/>
        </p:blipFill>
        <p:spPr>
          <a:xfrm>
            <a:off x="7454160" y="361008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Box 462"/>
          <p:cNvSpPr txBox="1"/>
          <p:nvPr/>
        </p:nvSpPr>
        <p:spPr>
          <a:xfrm>
            <a:off x="3911040" y="4413600"/>
            <a:ext cx="1682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through coupling eﬀects.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TextBox 463"/>
          <p:cNvSpPr txBox="1"/>
          <p:nvPr/>
        </p:nvSpPr>
        <p:spPr>
          <a:xfrm>
            <a:off x="7872120" y="3595680"/>
            <a:ext cx="11430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Driving Force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TextBox 464"/>
          <p:cNvSpPr txBox="1"/>
          <p:nvPr/>
        </p:nvSpPr>
        <p:spPr>
          <a:xfrm>
            <a:off x="7320600" y="4012560"/>
            <a:ext cx="2550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The collaborators suspect this force 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7320600" y="4213080"/>
            <a:ext cx="2399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generated by coupling between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TextBox 466"/>
          <p:cNvSpPr txBox="1"/>
          <p:nvPr/>
        </p:nvSpPr>
        <p:spPr>
          <a:xfrm>
            <a:off x="7320600" y="4413600"/>
            <a:ext cx="2714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modes and the rotating system, causing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reeform 467"/>
          <p:cNvSpPr/>
          <p:nvPr/>
        </p:nvSpPr>
        <p:spPr>
          <a:xfrm>
            <a:off x="350640" y="5164200"/>
            <a:ext cx="10011960" cy="685800"/>
          </a:xfrm>
          <a:custGeom>
            <a:avLst/>
            <a:gdLst/>
            <a:ahLst/>
            <a:cxnLst/>
            <a:rect l="0" t="0" r="r" b="b"/>
            <a:pathLst>
              <a:path w="27811" h="1905">
                <a:moveTo>
                  <a:pt x="0" y="171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4"/>
                  <a:pt x="19" y="93"/>
                  <a:pt x="24" y="83"/>
                </a:cubicBezTo>
                <a:cubicBezTo>
                  <a:pt x="29" y="73"/>
                  <a:pt x="35" y="63"/>
                  <a:pt x="41" y="55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10"/>
                  <a:pt x="104" y="6"/>
                  <a:pt x="113" y="4"/>
                </a:cubicBezTo>
                <a:cubicBezTo>
                  <a:pt x="122" y="1"/>
                  <a:pt x="131" y="0"/>
                  <a:pt x="140" y="0"/>
                </a:cubicBezTo>
                <a:lnTo>
                  <a:pt x="27625" y="0"/>
                </a:lnTo>
                <a:cubicBezTo>
                  <a:pt x="27637" y="0"/>
                  <a:pt x="27649" y="1"/>
                  <a:pt x="27661" y="4"/>
                </a:cubicBezTo>
                <a:cubicBezTo>
                  <a:pt x="27673" y="6"/>
                  <a:pt x="27685" y="10"/>
                  <a:pt x="27696" y="14"/>
                </a:cubicBezTo>
                <a:cubicBezTo>
                  <a:pt x="27707" y="19"/>
                  <a:pt x="27718" y="25"/>
                  <a:pt x="27728" y="31"/>
                </a:cubicBezTo>
                <a:cubicBezTo>
                  <a:pt x="27738" y="38"/>
                  <a:pt x="27748" y="46"/>
                  <a:pt x="27756" y="55"/>
                </a:cubicBezTo>
                <a:cubicBezTo>
                  <a:pt x="27765" y="63"/>
                  <a:pt x="27773" y="73"/>
                  <a:pt x="27779" y="83"/>
                </a:cubicBezTo>
                <a:cubicBezTo>
                  <a:pt x="27786" y="93"/>
                  <a:pt x="27792" y="104"/>
                  <a:pt x="27797" y="115"/>
                </a:cubicBezTo>
                <a:cubicBezTo>
                  <a:pt x="27801" y="126"/>
                  <a:pt x="27805" y="138"/>
                  <a:pt x="27807" y="150"/>
                </a:cubicBezTo>
                <a:cubicBezTo>
                  <a:pt x="27809" y="162"/>
                  <a:pt x="27811" y="174"/>
                  <a:pt x="27811" y="186"/>
                </a:cubicBezTo>
                <a:lnTo>
                  <a:pt x="27811" y="1718"/>
                </a:lnTo>
                <a:cubicBezTo>
                  <a:pt x="27811" y="1730"/>
                  <a:pt x="27809" y="1742"/>
                  <a:pt x="27807" y="1754"/>
                </a:cubicBezTo>
                <a:cubicBezTo>
                  <a:pt x="27805" y="1766"/>
                  <a:pt x="27801" y="1778"/>
                  <a:pt x="27797" y="1789"/>
                </a:cubicBezTo>
                <a:cubicBezTo>
                  <a:pt x="27792" y="1800"/>
                  <a:pt x="27786" y="1811"/>
                  <a:pt x="27779" y="1821"/>
                </a:cubicBezTo>
                <a:cubicBezTo>
                  <a:pt x="27773" y="1832"/>
                  <a:pt x="27765" y="1842"/>
                  <a:pt x="27756" y="1850"/>
                </a:cubicBezTo>
                <a:cubicBezTo>
                  <a:pt x="27748" y="1859"/>
                  <a:pt x="27738" y="1867"/>
                  <a:pt x="27728" y="1873"/>
                </a:cubicBezTo>
                <a:cubicBezTo>
                  <a:pt x="27718" y="1880"/>
                  <a:pt x="27707" y="1886"/>
                  <a:pt x="27696" y="1890"/>
                </a:cubicBezTo>
                <a:cubicBezTo>
                  <a:pt x="27685" y="1895"/>
                  <a:pt x="27673" y="1899"/>
                  <a:pt x="27661" y="1901"/>
                </a:cubicBezTo>
                <a:cubicBezTo>
                  <a:pt x="27649" y="1903"/>
                  <a:pt x="27637" y="1905"/>
                  <a:pt x="27625" y="1905"/>
                </a:cubicBezTo>
                <a:lnTo>
                  <a:pt x="140" y="1905"/>
                </a:lnTo>
                <a:cubicBezTo>
                  <a:pt x="131" y="1905"/>
                  <a:pt x="122" y="1903"/>
                  <a:pt x="113" y="1901"/>
                </a:cubicBezTo>
                <a:cubicBezTo>
                  <a:pt x="104" y="1899"/>
                  <a:pt x="95" y="1895"/>
                  <a:pt x="86" y="1890"/>
                </a:cubicBezTo>
                <a:cubicBezTo>
                  <a:pt x="78" y="1886"/>
                  <a:pt x="70" y="1880"/>
                  <a:pt x="62" y="1873"/>
                </a:cubicBezTo>
                <a:cubicBezTo>
                  <a:pt x="55" y="1867"/>
                  <a:pt x="48" y="1859"/>
                  <a:pt x="41" y="1850"/>
                </a:cubicBezTo>
                <a:cubicBezTo>
                  <a:pt x="35" y="1842"/>
                  <a:pt x="29" y="1832"/>
                  <a:pt x="24" y="1821"/>
                </a:cubicBezTo>
                <a:cubicBezTo>
                  <a:pt x="19" y="1811"/>
                  <a:pt x="15" y="1800"/>
                  <a:pt x="11" y="1789"/>
                </a:cubicBezTo>
                <a:cubicBezTo>
                  <a:pt x="8" y="1778"/>
                  <a:pt x="5" y="1766"/>
                  <a:pt x="3" y="1754"/>
                </a:cubicBezTo>
                <a:cubicBezTo>
                  <a:pt x="1" y="1742"/>
                  <a:pt x="0" y="1730"/>
                  <a:pt x="0" y="171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reeform 468"/>
          <p:cNvSpPr/>
          <p:nvPr/>
        </p:nvSpPr>
        <p:spPr>
          <a:xfrm>
            <a:off x="334080" y="5164200"/>
            <a:ext cx="67320" cy="685800"/>
          </a:xfrm>
          <a:custGeom>
            <a:avLst/>
            <a:gdLst/>
            <a:ahLst/>
            <a:cxnLst/>
            <a:rect l="0" t="0" r="r" b="b"/>
            <a:pathLst>
              <a:path w="187" h="1905">
                <a:moveTo>
                  <a:pt x="0" y="0"/>
                </a:moveTo>
                <a:lnTo>
                  <a:pt x="187" y="0"/>
                </a:lnTo>
                <a:lnTo>
                  <a:pt x="187" y="1905"/>
                </a:lnTo>
                <a:lnTo>
                  <a:pt x="0" y="1905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0" name="Picture 469"/>
          <p:cNvPicPr/>
          <p:nvPr/>
        </p:nvPicPr>
        <p:blipFill>
          <a:blip r:embed="rId10"/>
          <a:stretch/>
        </p:blipFill>
        <p:spPr>
          <a:xfrm>
            <a:off x="501480" y="5298120"/>
            <a:ext cx="41904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1" name="Picture 470"/>
          <p:cNvPicPr/>
          <p:nvPr/>
        </p:nvPicPr>
        <p:blipFill>
          <a:blip r:embed="rId11"/>
          <a:stretch/>
        </p:blipFill>
        <p:spPr>
          <a:xfrm>
            <a:off x="635040" y="543168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TextBox 471"/>
          <p:cNvSpPr txBox="1"/>
          <p:nvPr/>
        </p:nvSpPr>
        <p:spPr>
          <a:xfrm>
            <a:off x="7320600" y="4614120"/>
            <a:ext cx="1085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energy transfer.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TextBox 472"/>
          <p:cNvSpPr txBox="1"/>
          <p:nvPr/>
        </p:nvSpPr>
        <p:spPr>
          <a:xfrm>
            <a:off x="1051200" y="5324400"/>
            <a:ext cx="8397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Project Goal: </a:t>
            </a:r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Use PINNs to identify the function of this presumed coupled driving force to investigate its precise generation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TextBox 473"/>
          <p:cNvSpPr txBox="1"/>
          <p:nvPr/>
        </p:nvSpPr>
        <p:spPr>
          <a:xfrm>
            <a:off x="1051200" y="5524920"/>
            <a:ext cx="82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mechanism.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TextBox 484"/>
          <p:cNvSpPr txBox="1"/>
          <p:nvPr/>
        </p:nvSpPr>
        <p:spPr>
          <a:xfrm>
            <a:off x="2479680" y="2614680"/>
            <a:ext cx="10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i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TextBox 485"/>
          <p:cNvSpPr txBox="1"/>
          <p:nvPr/>
        </p:nvSpPr>
        <p:spPr>
          <a:xfrm>
            <a:off x="4479480" y="2614680"/>
            <a:ext cx="10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i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TextBox 486"/>
          <p:cNvSpPr txBox="1"/>
          <p:nvPr/>
        </p:nvSpPr>
        <p:spPr>
          <a:xfrm>
            <a:off x="6788520" y="2614680"/>
            <a:ext cx="10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i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TextBox 487"/>
          <p:cNvSpPr txBox="1"/>
          <p:nvPr/>
        </p:nvSpPr>
        <p:spPr>
          <a:xfrm>
            <a:off x="10025640" y="596808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10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3FA1BB8D-6CB5-E245-77E5-0AC22D129F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667" y="1433077"/>
            <a:ext cx="7239333" cy="18278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Picture 489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Freeform 490"/>
          <p:cNvSpPr/>
          <p:nvPr/>
        </p:nvSpPr>
        <p:spPr>
          <a:xfrm>
            <a:off x="3379841" y="6269876"/>
            <a:ext cx="2966353" cy="53894"/>
          </a:xfrm>
          <a:custGeom>
            <a:avLst/>
            <a:gdLst/>
            <a:ahLst/>
            <a:cxnLst/>
            <a:rect l="0" t="0" r="r" b="b"/>
            <a:pathLst>
              <a:path w="28205" h="3274">
                <a:moveTo>
                  <a:pt x="0" y="3099"/>
                </a:moveTo>
                <a:lnTo>
                  <a:pt x="0" y="174"/>
                </a:lnTo>
                <a:cubicBezTo>
                  <a:pt x="0" y="162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5"/>
                  <a:pt x="77" y="29"/>
                </a:cubicBezTo>
                <a:cubicBezTo>
                  <a:pt x="87" y="23"/>
                  <a:pt x="97" y="17"/>
                  <a:pt x="107" y="13"/>
                </a:cubicBezTo>
                <a:cubicBezTo>
                  <a:pt x="118" y="9"/>
                  <a:pt x="129" y="5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28031" y="0"/>
                </a:lnTo>
                <a:cubicBezTo>
                  <a:pt x="28042" y="0"/>
                  <a:pt x="28053" y="1"/>
                  <a:pt x="28065" y="3"/>
                </a:cubicBezTo>
                <a:cubicBezTo>
                  <a:pt x="28076" y="5"/>
                  <a:pt x="28087" y="9"/>
                  <a:pt x="28097" y="13"/>
                </a:cubicBezTo>
                <a:cubicBezTo>
                  <a:pt x="28108" y="17"/>
                  <a:pt x="28118" y="23"/>
                  <a:pt x="28127" y="29"/>
                </a:cubicBezTo>
                <a:cubicBezTo>
                  <a:pt x="28137" y="35"/>
                  <a:pt x="28146" y="43"/>
                  <a:pt x="28154" y="51"/>
                </a:cubicBezTo>
                <a:cubicBezTo>
                  <a:pt x="28162" y="59"/>
                  <a:pt x="28169" y="68"/>
                  <a:pt x="28175" y="77"/>
                </a:cubicBezTo>
                <a:cubicBezTo>
                  <a:pt x="28182" y="87"/>
                  <a:pt x="28187" y="97"/>
                  <a:pt x="28192" y="107"/>
                </a:cubicBezTo>
                <a:cubicBezTo>
                  <a:pt x="28196" y="118"/>
                  <a:pt x="28199" y="129"/>
                  <a:pt x="28201" y="140"/>
                </a:cubicBezTo>
                <a:cubicBezTo>
                  <a:pt x="28204" y="151"/>
                  <a:pt x="28205" y="162"/>
                  <a:pt x="28205" y="174"/>
                </a:cubicBezTo>
                <a:lnTo>
                  <a:pt x="28205" y="3099"/>
                </a:lnTo>
                <a:cubicBezTo>
                  <a:pt x="28205" y="3110"/>
                  <a:pt x="28204" y="3122"/>
                  <a:pt x="28201" y="3134"/>
                </a:cubicBezTo>
                <a:cubicBezTo>
                  <a:pt x="28199" y="3145"/>
                  <a:pt x="28196" y="3156"/>
                  <a:pt x="28192" y="3166"/>
                </a:cubicBezTo>
                <a:cubicBezTo>
                  <a:pt x="28187" y="3177"/>
                  <a:pt x="28182" y="3187"/>
                  <a:pt x="28175" y="3196"/>
                </a:cubicBezTo>
                <a:cubicBezTo>
                  <a:pt x="28169" y="3206"/>
                  <a:pt x="28162" y="3215"/>
                  <a:pt x="28154" y="3223"/>
                </a:cubicBezTo>
                <a:cubicBezTo>
                  <a:pt x="28146" y="3231"/>
                  <a:pt x="28137" y="3238"/>
                  <a:pt x="28127" y="3244"/>
                </a:cubicBezTo>
                <a:cubicBezTo>
                  <a:pt x="28118" y="3251"/>
                  <a:pt x="28108" y="3256"/>
                  <a:pt x="28097" y="3260"/>
                </a:cubicBezTo>
                <a:cubicBezTo>
                  <a:pt x="28087" y="3265"/>
                  <a:pt x="28076" y="3268"/>
                  <a:pt x="28065" y="3270"/>
                </a:cubicBezTo>
                <a:cubicBezTo>
                  <a:pt x="28053" y="3273"/>
                  <a:pt x="28042" y="3274"/>
                  <a:pt x="28031" y="3274"/>
                </a:cubicBezTo>
                <a:lnTo>
                  <a:pt x="174" y="3274"/>
                </a:lnTo>
                <a:cubicBezTo>
                  <a:pt x="163" y="3274"/>
                  <a:pt x="151" y="3273"/>
                  <a:pt x="140" y="3270"/>
                </a:cubicBezTo>
                <a:cubicBezTo>
                  <a:pt x="129" y="3268"/>
                  <a:pt x="118" y="3265"/>
                  <a:pt x="107" y="3260"/>
                </a:cubicBezTo>
                <a:cubicBezTo>
                  <a:pt x="97" y="3256"/>
                  <a:pt x="87" y="3251"/>
                  <a:pt x="77" y="3244"/>
                </a:cubicBezTo>
                <a:cubicBezTo>
                  <a:pt x="68" y="3238"/>
                  <a:pt x="59" y="3231"/>
                  <a:pt x="51" y="3223"/>
                </a:cubicBezTo>
                <a:cubicBezTo>
                  <a:pt x="43" y="3215"/>
                  <a:pt x="36" y="3206"/>
                  <a:pt x="29" y="3196"/>
                </a:cubicBezTo>
                <a:cubicBezTo>
                  <a:pt x="23" y="3187"/>
                  <a:pt x="18" y="3177"/>
                  <a:pt x="13" y="3166"/>
                </a:cubicBezTo>
                <a:cubicBezTo>
                  <a:pt x="9" y="3156"/>
                  <a:pt x="5" y="3145"/>
                  <a:pt x="3" y="3134"/>
                </a:cubicBezTo>
                <a:cubicBezTo>
                  <a:pt x="1" y="3122"/>
                  <a:pt x="0" y="3110"/>
                  <a:pt x="0" y="30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Freeform 491"/>
          <p:cNvSpPr/>
          <p:nvPr/>
        </p:nvSpPr>
        <p:spPr>
          <a:xfrm>
            <a:off x="271440" y="4182480"/>
            <a:ext cx="10153800" cy="1178640"/>
          </a:xfrm>
          <a:custGeom>
            <a:avLst/>
            <a:gdLst/>
            <a:ahLst/>
            <a:cxnLst/>
            <a:rect l="0" t="0" r="r" b="b"/>
            <a:pathLst>
              <a:path w="28205" h="3274" fill="none">
                <a:moveTo>
                  <a:pt x="0" y="3099"/>
                </a:moveTo>
                <a:lnTo>
                  <a:pt x="0" y="174"/>
                </a:lnTo>
                <a:cubicBezTo>
                  <a:pt x="0" y="162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5"/>
                  <a:pt x="77" y="29"/>
                </a:cubicBezTo>
                <a:cubicBezTo>
                  <a:pt x="87" y="23"/>
                  <a:pt x="97" y="17"/>
                  <a:pt x="107" y="13"/>
                </a:cubicBezTo>
                <a:cubicBezTo>
                  <a:pt x="118" y="9"/>
                  <a:pt x="129" y="5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28031" y="0"/>
                </a:lnTo>
                <a:cubicBezTo>
                  <a:pt x="28042" y="0"/>
                  <a:pt x="28053" y="1"/>
                  <a:pt x="28065" y="3"/>
                </a:cubicBezTo>
                <a:cubicBezTo>
                  <a:pt x="28076" y="5"/>
                  <a:pt x="28087" y="9"/>
                  <a:pt x="28097" y="13"/>
                </a:cubicBezTo>
                <a:cubicBezTo>
                  <a:pt x="28108" y="17"/>
                  <a:pt x="28118" y="23"/>
                  <a:pt x="28127" y="29"/>
                </a:cubicBezTo>
                <a:cubicBezTo>
                  <a:pt x="28137" y="35"/>
                  <a:pt x="28146" y="43"/>
                  <a:pt x="28154" y="51"/>
                </a:cubicBezTo>
                <a:cubicBezTo>
                  <a:pt x="28162" y="59"/>
                  <a:pt x="28169" y="68"/>
                  <a:pt x="28175" y="77"/>
                </a:cubicBezTo>
                <a:cubicBezTo>
                  <a:pt x="28182" y="87"/>
                  <a:pt x="28187" y="97"/>
                  <a:pt x="28192" y="107"/>
                </a:cubicBezTo>
                <a:cubicBezTo>
                  <a:pt x="28196" y="118"/>
                  <a:pt x="28199" y="129"/>
                  <a:pt x="28201" y="140"/>
                </a:cubicBezTo>
                <a:cubicBezTo>
                  <a:pt x="28204" y="151"/>
                  <a:pt x="28205" y="162"/>
                  <a:pt x="28205" y="174"/>
                </a:cubicBezTo>
                <a:lnTo>
                  <a:pt x="28205" y="3099"/>
                </a:lnTo>
                <a:cubicBezTo>
                  <a:pt x="28205" y="3110"/>
                  <a:pt x="28204" y="3122"/>
                  <a:pt x="28201" y="3134"/>
                </a:cubicBezTo>
                <a:cubicBezTo>
                  <a:pt x="28199" y="3145"/>
                  <a:pt x="28196" y="3156"/>
                  <a:pt x="28192" y="3166"/>
                </a:cubicBezTo>
                <a:cubicBezTo>
                  <a:pt x="28187" y="3177"/>
                  <a:pt x="28182" y="3187"/>
                  <a:pt x="28175" y="3196"/>
                </a:cubicBezTo>
                <a:cubicBezTo>
                  <a:pt x="28169" y="3206"/>
                  <a:pt x="28162" y="3215"/>
                  <a:pt x="28154" y="3223"/>
                </a:cubicBezTo>
                <a:cubicBezTo>
                  <a:pt x="28146" y="3231"/>
                  <a:pt x="28137" y="3238"/>
                  <a:pt x="28127" y="3244"/>
                </a:cubicBezTo>
                <a:cubicBezTo>
                  <a:pt x="28118" y="3251"/>
                  <a:pt x="28108" y="3256"/>
                  <a:pt x="28097" y="3260"/>
                </a:cubicBezTo>
                <a:cubicBezTo>
                  <a:pt x="28087" y="3265"/>
                  <a:pt x="28076" y="3268"/>
                  <a:pt x="28065" y="3270"/>
                </a:cubicBezTo>
                <a:cubicBezTo>
                  <a:pt x="28053" y="3273"/>
                  <a:pt x="28042" y="3274"/>
                  <a:pt x="28031" y="3274"/>
                </a:cubicBezTo>
                <a:lnTo>
                  <a:pt x="174" y="3274"/>
                </a:lnTo>
                <a:cubicBezTo>
                  <a:pt x="163" y="3274"/>
                  <a:pt x="151" y="3273"/>
                  <a:pt x="140" y="3270"/>
                </a:cubicBezTo>
                <a:cubicBezTo>
                  <a:pt x="129" y="3268"/>
                  <a:pt x="118" y="3265"/>
                  <a:pt x="107" y="3260"/>
                </a:cubicBezTo>
                <a:cubicBezTo>
                  <a:pt x="97" y="3256"/>
                  <a:pt x="87" y="3251"/>
                  <a:pt x="77" y="3244"/>
                </a:cubicBezTo>
                <a:cubicBezTo>
                  <a:pt x="68" y="3238"/>
                  <a:pt x="59" y="3231"/>
                  <a:pt x="51" y="3223"/>
                </a:cubicBezTo>
                <a:cubicBezTo>
                  <a:pt x="43" y="3215"/>
                  <a:pt x="36" y="3206"/>
                  <a:pt x="29" y="3196"/>
                </a:cubicBezTo>
                <a:cubicBezTo>
                  <a:pt x="23" y="3187"/>
                  <a:pt x="18" y="3177"/>
                  <a:pt x="13" y="3166"/>
                </a:cubicBezTo>
                <a:cubicBezTo>
                  <a:pt x="9" y="3156"/>
                  <a:pt x="5" y="3145"/>
                  <a:pt x="3" y="3134"/>
                </a:cubicBezTo>
                <a:cubicBezTo>
                  <a:pt x="1" y="3122"/>
                  <a:pt x="0" y="3110"/>
                  <a:pt x="0" y="3099"/>
                </a:cubicBezTo>
              </a:path>
            </a:pathLst>
          </a:custGeom>
          <a:ln w="8280">
            <a:solidFill>
              <a:srgbClr val="DDDDDD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reeform 493"/>
          <p:cNvSpPr/>
          <p:nvPr/>
        </p:nvSpPr>
        <p:spPr>
          <a:xfrm>
            <a:off x="267120" y="5565240"/>
            <a:ext cx="67320" cy="468360"/>
          </a:xfrm>
          <a:custGeom>
            <a:avLst/>
            <a:gdLst/>
            <a:ahLst/>
            <a:cxnLst/>
            <a:rect l="0" t="0" r="r" b="b"/>
            <a:pathLst>
              <a:path w="187" h="1301">
                <a:moveTo>
                  <a:pt x="0" y="0"/>
                </a:moveTo>
                <a:lnTo>
                  <a:pt x="187" y="0"/>
                </a:lnTo>
                <a:lnTo>
                  <a:pt x="187" y="1301"/>
                </a:lnTo>
                <a:lnTo>
                  <a:pt x="0" y="1301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TextBox 494"/>
          <p:cNvSpPr txBox="1"/>
          <p:nvPr/>
        </p:nvSpPr>
        <p:spPr>
          <a:xfrm>
            <a:off x="334440" y="135000"/>
            <a:ext cx="2985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The APHYNITY Model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reeform 495"/>
          <p:cNvSpPr/>
          <p:nvPr/>
        </p:nvSpPr>
        <p:spPr>
          <a:xfrm>
            <a:off x="284040" y="1274040"/>
            <a:ext cx="4216320" cy="2633040"/>
          </a:xfrm>
          <a:custGeom>
            <a:avLst/>
            <a:gdLst/>
            <a:ahLst/>
            <a:cxnLst/>
            <a:rect l="0" t="0" r="r" b="b"/>
            <a:pathLst>
              <a:path w="11712" h="7314">
                <a:moveTo>
                  <a:pt x="0" y="7140"/>
                </a:moveTo>
                <a:lnTo>
                  <a:pt x="0" y="176"/>
                </a:lnTo>
                <a:cubicBezTo>
                  <a:pt x="0" y="164"/>
                  <a:pt x="1" y="153"/>
                  <a:pt x="2" y="142"/>
                </a:cubicBezTo>
                <a:cubicBezTo>
                  <a:pt x="4" y="130"/>
                  <a:pt x="7" y="120"/>
                  <a:pt x="10" y="108"/>
                </a:cubicBezTo>
                <a:cubicBezTo>
                  <a:pt x="14" y="97"/>
                  <a:pt x="18" y="87"/>
                  <a:pt x="23" y="78"/>
                </a:cubicBezTo>
                <a:cubicBezTo>
                  <a:pt x="28" y="68"/>
                  <a:pt x="34" y="60"/>
                  <a:pt x="41" y="51"/>
                </a:cubicBezTo>
                <a:cubicBezTo>
                  <a:pt x="47" y="43"/>
                  <a:pt x="54" y="36"/>
                  <a:pt x="62" y="30"/>
                </a:cubicBezTo>
                <a:cubicBezTo>
                  <a:pt x="69" y="23"/>
                  <a:pt x="77" y="18"/>
                  <a:pt x="86" y="14"/>
                </a:cubicBezTo>
                <a:cubicBezTo>
                  <a:pt x="94" y="9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11538" y="0"/>
                </a:lnTo>
                <a:cubicBezTo>
                  <a:pt x="11549" y="0"/>
                  <a:pt x="11560" y="2"/>
                  <a:pt x="11572" y="4"/>
                </a:cubicBezTo>
                <a:cubicBezTo>
                  <a:pt x="11583" y="6"/>
                  <a:pt x="11594" y="9"/>
                  <a:pt x="11604" y="14"/>
                </a:cubicBezTo>
                <a:cubicBezTo>
                  <a:pt x="11615" y="18"/>
                  <a:pt x="11625" y="23"/>
                  <a:pt x="11634" y="30"/>
                </a:cubicBezTo>
                <a:cubicBezTo>
                  <a:pt x="11644" y="36"/>
                  <a:pt x="11653" y="43"/>
                  <a:pt x="11661" y="51"/>
                </a:cubicBezTo>
                <a:cubicBezTo>
                  <a:pt x="11669" y="60"/>
                  <a:pt x="11676" y="68"/>
                  <a:pt x="11682" y="78"/>
                </a:cubicBezTo>
                <a:cubicBezTo>
                  <a:pt x="11689" y="87"/>
                  <a:pt x="11694" y="97"/>
                  <a:pt x="11698" y="108"/>
                </a:cubicBezTo>
                <a:cubicBezTo>
                  <a:pt x="11703" y="120"/>
                  <a:pt x="11706" y="130"/>
                  <a:pt x="11708" y="142"/>
                </a:cubicBezTo>
                <a:cubicBezTo>
                  <a:pt x="11711" y="153"/>
                  <a:pt x="11712" y="164"/>
                  <a:pt x="11712" y="176"/>
                </a:cubicBezTo>
                <a:lnTo>
                  <a:pt x="11712" y="7140"/>
                </a:lnTo>
                <a:cubicBezTo>
                  <a:pt x="11712" y="7151"/>
                  <a:pt x="11711" y="7162"/>
                  <a:pt x="11708" y="7173"/>
                </a:cubicBezTo>
                <a:cubicBezTo>
                  <a:pt x="11706" y="7185"/>
                  <a:pt x="11703" y="7196"/>
                  <a:pt x="11698" y="7206"/>
                </a:cubicBezTo>
                <a:cubicBezTo>
                  <a:pt x="11694" y="7217"/>
                  <a:pt x="11689" y="7227"/>
                  <a:pt x="11682" y="7236"/>
                </a:cubicBezTo>
                <a:cubicBezTo>
                  <a:pt x="11676" y="7246"/>
                  <a:pt x="11669" y="7255"/>
                  <a:pt x="11661" y="7263"/>
                </a:cubicBezTo>
                <a:cubicBezTo>
                  <a:pt x="11653" y="7271"/>
                  <a:pt x="11644" y="7278"/>
                  <a:pt x="11634" y="7284"/>
                </a:cubicBezTo>
                <a:cubicBezTo>
                  <a:pt x="11625" y="7291"/>
                  <a:pt x="11615" y="7296"/>
                  <a:pt x="11604" y="7300"/>
                </a:cubicBezTo>
                <a:cubicBezTo>
                  <a:pt x="11594" y="7305"/>
                  <a:pt x="11583" y="7308"/>
                  <a:pt x="11572" y="7310"/>
                </a:cubicBezTo>
                <a:cubicBezTo>
                  <a:pt x="11560" y="7312"/>
                  <a:pt x="11549" y="7314"/>
                  <a:pt x="11538" y="7314"/>
                </a:cubicBezTo>
                <a:lnTo>
                  <a:pt x="139" y="7314"/>
                </a:lnTo>
                <a:cubicBezTo>
                  <a:pt x="130" y="7314"/>
                  <a:pt x="121" y="7312"/>
                  <a:pt x="112" y="7310"/>
                </a:cubicBezTo>
                <a:cubicBezTo>
                  <a:pt x="103" y="7308"/>
                  <a:pt x="94" y="7305"/>
                  <a:pt x="86" y="7300"/>
                </a:cubicBezTo>
                <a:cubicBezTo>
                  <a:pt x="77" y="7296"/>
                  <a:pt x="69" y="7291"/>
                  <a:pt x="62" y="7284"/>
                </a:cubicBezTo>
                <a:cubicBezTo>
                  <a:pt x="54" y="7278"/>
                  <a:pt x="47" y="7271"/>
                  <a:pt x="41" y="7263"/>
                </a:cubicBezTo>
                <a:cubicBezTo>
                  <a:pt x="34" y="7255"/>
                  <a:pt x="28" y="7246"/>
                  <a:pt x="23" y="7236"/>
                </a:cubicBezTo>
                <a:cubicBezTo>
                  <a:pt x="18" y="7227"/>
                  <a:pt x="14" y="7217"/>
                  <a:pt x="10" y="7206"/>
                </a:cubicBezTo>
                <a:cubicBezTo>
                  <a:pt x="7" y="7196"/>
                  <a:pt x="4" y="7185"/>
                  <a:pt x="2" y="7173"/>
                </a:cubicBezTo>
                <a:cubicBezTo>
                  <a:pt x="1" y="7162"/>
                  <a:pt x="0" y="7151"/>
                  <a:pt x="0" y="71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Freeform 496"/>
          <p:cNvSpPr/>
          <p:nvPr/>
        </p:nvSpPr>
        <p:spPr>
          <a:xfrm>
            <a:off x="320040" y="1278360"/>
            <a:ext cx="4159440" cy="29520"/>
          </a:xfrm>
          <a:custGeom>
            <a:avLst/>
            <a:gdLst/>
            <a:ahLst/>
            <a:cxnLst/>
            <a:rect l="0" t="0" r="r" b="b"/>
            <a:pathLst>
              <a:path w="11554" h="82">
                <a:moveTo>
                  <a:pt x="11521" y="82"/>
                </a:moveTo>
                <a:lnTo>
                  <a:pt x="269" y="82"/>
                </a:lnTo>
                <a:lnTo>
                  <a:pt x="0" y="14"/>
                </a:lnTo>
                <a:cubicBezTo>
                  <a:pt x="12" y="5"/>
                  <a:pt x="25" y="0"/>
                  <a:pt x="39" y="0"/>
                </a:cubicBezTo>
                <a:lnTo>
                  <a:pt x="11438" y="0"/>
                </a:lnTo>
                <a:cubicBezTo>
                  <a:pt x="11459" y="0"/>
                  <a:pt x="11480" y="4"/>
                  <a:pt x="11500" y="12"/>
                </a:cubicBezTo>
                <a:cubicBezTo>
                  <a:pt x="11520" y="21"/>
                  <a:pt x="11537" y="32"/>
                  <a:pt x="11553" y="48"/>
                </a:cubicBezTo>
                <a:lnTo>
                  <a:pt x="11554" y="49"/>
                </a:lnTo>
                <a:lnTo>
                  <a:pt x="11521" y="82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Freeform 497"/>
          <p:cNvSpPr/>
          <p:nvPr/>
        </p:nvSpPr>
        <p:spPr>
          <a:xfrm>
            <a:off x="320040" y="3873240"/>
            <a:ext cx="4159440" cy="29520"/>
          </a:xfrm>
          <a:custGeom>
            <a:avLst/>
            <a:gdLst/>
            <a:ahLst/>
            <a:cxnLst/>
            <a:rect l="0" t="0" r="r" b="b"/>
            <a:pathLst>
              <a:path w="11554" h="82">
                <a:moveTo>
                  <a:pt x="269" y="0"/>
                </a:moveTo>
                <a:lnTo>
                  <a:pt x="11521" y="0"/>
                </a:lnTo>
                <a:lnTo>
                  <a:pt x="11554" y="32"/>
                </a:lnTo>
                <a:cubicBezTo>
                  <a:pt x="11553" y="33"/>
                  <a:pt x="11553" y="33"/>
                  <a:pt x="11553" y="33"/>
                </a:cubicBezTo>
                <a:cubicBezTo>
                  <a:pt x="11537" y="49"/>
                  <a:pt x="11520" y="61"/>
                  <a:pt x="11500" y="70"/>
                </a:cubicBezTo>
                <a:cubicBezTo>
                  <a:pt x="11480" y="78"/>
                  <a:pt x="11459" y="82"/>
                  <a:pt x="11438" y="82"/>
                </a:cubicBezTo>
                <a:lnTo>
                  <a:pt x="39" y="82"/>
                </a:lnTo>
                <a:cubicBezTo>
                  <a:pt x="25" y="82"/>
                  <a:pt x="12" y="77"/>
                  <a:pt x="0" y="68"/>
                </a:cubicBezTo>
                <a:lnTo>
                  <a:pt x="269" y="0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Freeform 498"/>
          <p:cNvSpPr/>
          <p:nvPr/>
        </p:nvSpPr>
        <p:spPr>
          <a:xfrm>
            <a:off x="4466520" y="1295640"/>
            <a:ext cx="29520" cy="2589840"/>
          </a:xfrm>
          <a:custGeom>
            <a:avLst/>
            <a:gdLst/>
            <a:ahLst/>
            <a:cxnLst/>
            <a:rect l="0" t="0" r="r" b="b"/>
            <a:pathLst>
              <a:path w="82" h="7194">
                <a:moveTo>
                  <a:pt x="0" y="7160"/>
                </a:moveTo>
                <a:lnTo>
                  <a:pt x="0" y="33"/>
                </a:lnTo>
                <a:lnTo>
                  <a:pt x="35" y="0"/>
                </a:lnTo>
                <a:cubicBezTo>
                  <a:pt x="50" y="15"/>
                  <a:pt x="62" y="32"/>
                  <a:pt x="70" y="52"/>
                </a:cubicBezTo>
                <a:cubicBezTo>
                  <a:pt x="78" y="72"/>
                  <a:pt x="82" y="93"/>
                  <a:pt x="82" y="115"/>
                </a:cubicBezTo>
                <a:lnTo>
                  <a:pt x="82" y="7079"/>
                </a:lnTo>
                <a:cubicBezTo>
                  <a:pt x="82" y="7100"/>
                  <a:pt x="78" y="7121"/>
                  <a:pt x="70" y="7141"/>
                </a:cubicBezTo>
                <a:cubicBezTo>
                  <a:pt x="62" y="7161"/>
                  <a:pt x="50" y="7178"/>
                  <a:pt x="35" y="7194"/>
                </a:cubicBezTo>
                <a:lnTo>
                  <a:pt x="0" y="7160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Freeform 499"/>
          <p:cNvSpPr/>
          <p:nvPr/>
        </p:nvSpPr>
        <p:spPr>
          <a:xfrm>
            <a:off x="300600" y="1283400"/>
            <a:ext cx="29520" cy="2614320"/>
          </a:xfrm>
          <a:custGeom>
            <a:avLst/>
            <a:gdLst/>
            <a:ahLst/>
            <a:cxnLst/>
            <a:rect l="0" t="0" r="r" b="b"/>
            <a:pathLst>
              <a:path w="82" h="7262">
                <a:moveTo>
                  <a:pt x="82" y="6"/>
                </a:moveTo>
                <a:lnTo>
                  <a:pt x="82" y="7256"/>
                </a:lnTo>
                <a:lnTo>
                  <a:pt x="56" y="7262"/>
                </a:lnTo>
                <a:cubicBezTo>
                  <a:pt x="46" y="7254"/>
                  <a:pt x="37" y="7243"/>
                  <a:pt x="28" y="7228"/>
                </a:cubicBezTo>
                <a:cubicBezTo>
                  <a:pt x="9" y="7197"/>
                  <a:pt x="0" y="7158"/>
                  <a:pt x="0" y="7114"/>
                </a:cubicBezTo>
                <a:lnTo>
                  <a:pt x="0" y="150"/>
                </a:lnTo>
                <a:cubicBezTo>
                  <a:pt x="0" y="105"/>
                  <a:pt x="9" y="65"/>
                  <a:pt x="28" y="34"/>
                </a:cubicBezTo>
                <a:cubicBezTo>
                  <a:pt x="37" y="19"/>
                  <a:pt x="46" y="8"/>
                  <a:pt x="56" y="0"/>
                </a:cubicBezTo>
                <a:lnTo>
                  <a:pt x="82" y="6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01" name="Picture 500"/>
          <p:cNvPicPr/>
          <p:nvPr/>
        </p:nvPicPr>
        <p:blipFill>
          <a:blip r:embed="rId4"/>
          <a:stretch/>
        </p:blipFill>
        <p:spPr>
          <a:xfrm>
            <a:off x="501480" y="14792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2" name="Picture 501"/>
          <p:cNvPicPr/>
          <p:nvPr/>
        </p:nvPicPr>
        <p:blipFill>
          <a:blip r:embed="rId5"/>
          <a:stretch/>
        </p:blipFill>
        <p:spPr>
          <a:xfrm>
            <a:off x="626760" y="16045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TextBox 502"/>
          <p:cNvSpPr txBox="1"/>
          <p:nvPr/>
        </p:nvSpPr>
        <p:spPr>
          <a:xfrm>
            <a:off x="267480" y="863280"/>
            <a:ext cx="70210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 machine learning approach that decomposes physical dynamics into two key components: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reeform 503"/>
          <p:cNvSpPr/>
          <p:nvPr/>
        </p:nvSpPr>
        <p:spPr>
          <a:xfrm>
            <a:off x="559800" y="21056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9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3" y="106"/>
                  <a:pt x="18" y="100"/>
                </a:cubicBezTo>
                <a:cubicBezTo>
                  <a:pt x="12" y="95"/>
                  <a:pt x="7" y="89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2"/>
                  <a:pt x="1" y="44"/>
                  <a:pt x="4" y="37"/>
                </a:cubicBezTo>
                <a:cubicBezTo>
                  <a:pt x="7" y="30"/>
                  <a:pt x="12" y="24"/>
                  <a:pt x="18" y="18"/>
                </a:cubicBezTo>
                <a:cubicBezTo>
                  <a:pt x="23" y="13"/>
                  <a:pt x="29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4" y="13"/>
                  <a:pt x="100" y="18"/>
                </a:cubicBezTo>
                <a:cubicBezTo>
                  <a:pt x="105" y="24"/>
                  <a:pt x="109" y="30"/>
                  <a:pt x="112" y="37"/>
                </a:cubicBezTo>
                <a:cubicBezTo>
                  <a:pt x="115" y="44"/>
                  <a:pt x="117" y="52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TextBox 504"/>
          <p:cNvSpPr txBox="1"/>
          <p:nvPr/>
        </p:nvSpPr>
        <p:spPr>
          <a:xfrm>
            <a:off x="1053000" y="1591560"/>
            <a:ext cx="1724831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Physical Component (F  )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reeform 505"/>
          <p:cNvSpPr/>
          <p:nvPr/>
        </p:nvSpPr>
        <p:spPr>
          <a:xfrm>
            <a:off x="559800" y="23731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29" y="110"/>
                  <a:pt x="23" y="106"/>
                  <a:pt x="18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8" y="17"/>
                </a:cubicBezTo>
                <a:cubicBezTo>
                  <a:pt x="23" y="12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TextBox 506"/>
          <p:cNvSpPr txBox="1"/>
          <p:nvPr/>
        </p:nvSpPr>
        <p:spPr>
          <a:xfrm>
            <a:off x="702000" y="2048760"/>
            <a:ext cx="3178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Derived from prior knowledge of ﬁrst principles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Freeform 507"/>
          <p:cNvSpPr/>
          <p:nvPr/>
        </p:nvSpPr>
        <p:spPr>
          <a:xfrm>
            <a:off x="559800" y="26406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10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10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TextBox 508"/>
          <p:cNvSpPr txBox="1"/>
          <p:nvPr/>
        </p:nvSpPr>
        <p:spPr>
          <a:xfrm>
            <a:off x="702000" y="2316240"/>
            <a:ext cx="3008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Represents the known physics of the system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TextBox 510"/>
          <p:cNvSpPr txBox="1"/>
          <p:nvPr/>
        </p:nvSpPr>
        <p:spPr>
          <a:xfrm>
            <a:off x="702000" y="2583360"/>
            <a:ext cx="2999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Includes the equation of motion for the rotor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TextBox 511"/>
          <p:cNvSpPr txBox="1"/>
          <p:nvPr/>
        </p:nvSpPr>
        <p:spPr>
          <a:xfrm>
            <a:off x="601560" y="3022560"/>
            <a:ext cx="16030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· 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TextBox 513"/>
          <p:cNvSpPr txBox="1"/>
          <p:nvPr/>
        </p:nvSpPr>
        <p:spPr>
          <a:xfrm>
            <a:off x="1078200" y="29847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Freeform 517"/>
          <p:cNvSpPr/>
          <p:nvPr/>
        </p:nvSpPr>
        <p:spPr>
          <a:xfrm>
            <a:off x="6208920" y="1274040"/>
            <a:ext cx="4216320" cy="2633040"/>
          </a:xfrm>
          <a:custGeom>
            <a:avLst/>
            <a:gdLst/>
            <a:ahLst/>
            <a:cxnLst/>
            <a:rect l="0" t="0" r="r" b="b"/>
            <a:pathLst>
              <a:path w="11712" h="7314">
                <a:moveTo>
                  <a:pt x="0" y="7140"/>
                </a:moveTo>
                <a:lnTo>
                  <a:pt x="0" y="176"/>
                </a:lnTo>
                <a:cubicBezTo>
                  <a:pt x="0" y="164"/>
                  <a:pt x="1" y="153"/>
                  <a:pt x="2" y="142"/>
                </a:cubicBezTo>
                <a:cubicBezTo>
                  <a:pt x="4" y="130"/>
                  <a:pt x="7" y="120"/>
                  <a:pt x="10" y="108"/>
                </a:cubicBezTo>
                <a:cubicBezTo>
                  <a:pt x="14" y="97"/>
                  <a:pt x="18" y="87"/>
                  <a:pt x="23" y="78"/>
                </a:cubicBezTo>
                <a:cubicBezTo>
                  <a:pt x="28" y="68"/>
                  <a:pt x="34" y="60"/>
                  <a:pt x="41" y="51"/>
                </a:cubicBezTo>
                <a:cubicBezTo>
                  <a:pt x="47" y="43"/>
                  <a:pt x="54" y="36"/>
                  <a:pt x="62" y="30"/>
                </a:cubicBezTo>
                <a:cubicBezTo>
                  <a:pt x="69" y="23"/>
                  <a:pt x="77" y="18"/>
                  <a:pt x="86" y="14"/>
                </a:cubicBezTo>
                <a:cubicBezTo>
                  <a:pt x="94" y="9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11538" y="0"/>
                </a:lnTo>
                <a:cubicBezTo>
                  <a:pt x="11549" y="0"/>
                  <a:pt x="11560" y="2"/>
                  <a:pt x="11572" y="4"/>
                </a:cubicBezTo>
                <a:cubicBezTo>
                  <a:pt x="11583" y="6"/>
                  <a:pt x="11594" y="9"/>
                  <a:pt x="11604" y="14"/>
                </a:cubicBezTo>
                <a:cubicBezTo>
                  <a:pt x="11615" y="18"/>
                  <a:pt x="11625" y="23"/>
                  <a:pt x="11634" y="30"/>
                </a:cubicBezTo>
                <a:cubicBezTo>
                  <a:pt x="11644" y="36"/>
                  <a:pt x="11653" y="43"/>
                  <a:pt x="11661" y="51"/>
                </a:cubicBezTo>
                <a:cubicBezTo>
                  <a:pt x="11669" y="60"/>
                  <a:pt x="11676" y="68"/>
                  <a:pt x="11682" y="78"/>
                </a:cubicBezTo>
                <a:cubicBezTo>
                  <a:pt x="11689" y="87"/>
                  <a:pt x="11694" y="97"/>
                  <a:pt x="11699" y="108"/>
                </a:cubicBezTo>
                <a:cubicBezTo>
                  <a:pt x="11703" y="120"/>
                  <a:pt x="11706" y="130"/>
                  <a:pt x="11708" y="142"/>
                </a:cubicBezTo>
                <a:cubicBezTo>
                  <a:pt x="11711" y="153"/>
                  <a:pt x="11712" y="164"/>
                  <a:pt x="11712" y="176"/>
                </a:cubicBezTo>
                <a:lnTo>
                  <a:pt x="11712" y="7140"/>
                </a:lnTo>
                <a:cubicBezTo>
                  <a:pt x="11712" y="7151"/>
                  <a:pt x="11711" y="7162"/>
                  <a:pt x="11708" y="7173"/>
                </a:cubicBezTo>
                <a:cubicBezTo>
                  <a:pt x="11706" y="7185"/>
                  <a:pt x="11703" y="7196"/>
                  <a:pt x="11699" y="7206"/>
                </a:cubicBezTo>
                <a:cubicBezTo>
                  <a:pt x="11694" y="7217"/>
                  <a:pt x="11689" y="7227"/>
                  <a:pt x="11682" y="7236"/>
                </a:cubicBezTo>
                <a:cubicBezTo>
                  <a:pt x="11676" y="7246"/>
                  <a:pt x="11669" y="7255"/>
                  <a:pt x="11661" y="7263"/>
                </a:cubicBezTo>
                <a:cubicBezTo>
                  <a:pt x="11653" y="7271"/>
                  <a:pt x="11644" y="7278"/>
                  <a:pt x="11634" y="7284"/>
                </a:cubicBezTo>
                <a:cubicBezTo>
                  <a:pt x="11625" y="7291"/>
                  <a:pt x="11615" y="7296"/>
                  <a:pt x="11604" y="7300"/>
                </a:cubicBezTo>
                <a:cubicBezTo>
                  <a:pt x="11594" y="7305"/>
                  <a:pt x="11583" y="7308"/>
                  <a:pt x="11572" y="7310"/>
                </a:cubicBezTo>
                <a:cubicBezTo>
                  <a:pt x="11560" y="7312"/>
                  <a:pt x="11549" y="7314"/>
                  <a:pt x="11538" y="7314"/>
                </a:cubicBezTo>
                <a:lnTo>
                  <a:pt x="139" y="7314"/>
                </a:lnTo>
                <a:cubicBezTo>
                  <a:pt x="130" y="7314"/>
                  <a:pt x="121" y="7312"/>
                  <a:pt x="112" y="7310"/>
                </a:cubicBezTo>
                <a:cubicBezTo>
                  <a:pt x="103" y="7308"/>
                  <a:pt x="94" y="7305"/>
                  <a:pt x="86" y="7300"/>
                </a:cubicBezTo>
                <a:cubicBezTo>
                  <a:pt x="77" y="7296"/>
                  <a:pt x="69" y="7291"/>
                  <a:pt x="62" y="7284"/>
                </a:cubicBezTo>
                <a:cubicBezTo>
                  <a:pt x="54" y="7278"/>
                  <a:pt x="47" y="7271"/>
                  <a:pt x="41" y="7263"/>
                </a:cubicBezTo>
                <a:cubicBezTo>
                  <a:pt x="34" y="7255"/>
                  <a:pt x="28" y="7246"/>
                  <a:pt x="23" y="7236"/>
                </a:cubicBezTo>
                <a:cubicBezTo>
                  <a:pt x="18" y="7227"/>
                  <a:pt x="14" y="7217"/>
                  <a:pt x="10" y="7206"/>
                </a:cubicBezTo>
                <a:cubicBezTo>
                  <a:pt x="7" y="7196"/>
                  <a:pt x="4" y="7185"/>
                  <a:pt x="2" y="7173"/>
                </a:cubicBezTo>
                <a:cubicBezTo>
                  <a:pt x="1" y="7162"/>
                  <a:pt x="0" y="7151"/>
                  <a:pt x="0" y="71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Freeform 518"/>
          <p:cNvSpPr/>
          <p:nvPr/>
        </p:nvSpPr>
        <p:spPr>
          <a:xfrm>
            <a:off x="6244920" y="1278360"/>
            <a:ext cx="4159440" cy="29520"/>
          </a:xfrm>
          <a:custGeom>
            <a:avLst/>
            <a:gdLst/>
            <a:ahLst/>
            <a:cxnLst/>
            <a:rect l="0" t="0" r="r" b="b"/>
            <a:pathLst>
              <a:path w="11554" h="82">
                <a:moveTo>
                  <a:pt x="11520" y="82"/>
                </a:moveTo>
                <a:lnTo>
                  <a:pt x="269" y="82"/>
                </a:lnTo>
                <a:lnTo>
                  <a:pt x="0" y="14"/>
                </a:lnTo>
                <a:cubicBezTo>
                  <a:pt x="12" y="5"/>
                  <a:pt x="25" y="0"/>
                  <a:pt x="39" y="0"/>
                </a:cubicBezTo>
                <a:lnTo>
                  <a:pt x="11437" y="0"/>
                </a:lnTo>
                <a:cubicBezTo>
                  <a:pt x="11458" y="0"/>
                  <a:pt x="11479" y="4"/>
                  <a:pt x="11499" y="12"/>
                </a:cubicBezTo>
                <a:cubicBezTo>
                  <a:pt x="11519" y="21"/>
                  <a:pt x="11537" y="32"/>
                  <a:pt x="11553" y="48"/>
                </a:cubicBezTo>
                <a:lnTo>
                  <a:pt x="11554" y="49"/>
                </a:lnTo>
                <a:lnTo>
                  <a:pt x="11520" y="82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Freeform 519"/>
          <p:cNvSpPr/>
          <p:nvPr/>
        </p:nvSpPr>
        <p:spPr>
          <a:xfrm>
            <a:off x="6244920" y="3873240"/>
            <a:ext cx="4159440" cy="29520"/>
          </a:xfrm>
          <a:custGeom>
            <a:avLst/>
            <a:gdLst/>
            <a:ahLst/>
            <a:cxnLst/>
            <a:rect l="0" t="0" r="r" b="b"/>
            <a:pathLst>
              <a:path w="11554" h="82">
                <a:moveTo>
                  <a:pt x="269" y="0"/>
                </a:moveTo>
                <a:lnTo>
                  <a:pt x="11520" y="0"/>
                </a:lnTo>
                <a:lnTo>
                  <a:pt x="11554" y="32"/>
                </a:lnTo>
                <a:cubicBezTo>
                  <a:pt x="11553" y="33"/>
                  <a:pt x="11553" y="33"/>
                  <a:pt x="11553" y="33"/>
                </a:cubicBezTo>
                <a:cubicBezTo>
                  <a:pt x="11537" y="49"/>
                  <a:pt x="11519" y="61"/>
                  <a:pt x="11499" y="70"/>
                </a:cubicBezTo>
                <a:cubicBezTo>
                  <a:pt x="11479" y="78"/>
                  <a:pt x="11458" y="82"/>
                  <a:pt x="11437" y="82"/>
                </a:cubicBezTo>
                <a:lnTo>
                  <a:pt x="39" y="82"/>
                </a:lnTo>
                <a:cubicBezTo>
                  <a:pt x="25" y="82"/>
                  <a:pt x="12" y="77"/>
                  <a:pt x="0" y="68"/>
                </a:cubicBezTo>
                <a:lnTo>
                  <a:pt x="269" y="0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Freeform 520"/>
          <p:cNvSpPr/>
          <p:nvPr/>
        </p:nvSpPr>
        <p:spPr>
          <a:xfrm>
            <a:off x="10391400" y="1295640"/>
            <a:ext cx="29520" cy="2589840"/>
          </a:xfrm>
          <a:custGeom>
            <a:avLst/>
            <a:gdLst/>
            <a:ahLst/>
            <a:cxnLst/>
            <a:rect l="0" t="0" r="r" b="b"/>
            <a:pathLst>
              <a:path w="82" h="7194">
                <a:moveTo>
                  <a:pt x="0" y="7160"/>
                </a:moveTo>
                <a:lnTo>
                  <a:pt x="0" y="33"/>
                </a:lnTo>
                <a:lnTo>
                  <a:pt x="35" y="0"/>
                </a:lnTo>
                <a:cubicBezTo>
                  <a:pt x="50" y="15"/>
                  <a:pt x="62" y="32"/>
                  <a:pt x="70" y="52"/>
                </a:cubicBezTo>
                <a:cubicBezTo>
                  <a:pt x="78" y="72"/>
                  <a:pt x="82" y="93"/>
                  <a:pt x="82" y="115"/>
                </a:cubicBezTo>
                <a:lnTo>
                  <a:pt x="82" y="7079"/>
                </a:lnTo>
                <a:cubicBezTo>
                  <a:pt x="82" y="7100"/>
                  <a:pt x="78" y="7121"/>
                  <a:pt x="70" y="7141"/>
                </a:cubicBezTo>
                <a:cubicBezTo>
                  <a:pt x="62" y="7161"/>
                  <a:pt x="50" y="7178"/>
                  <a:pt x="35" y="7194"/>
                </a:cubicBezTo>
                <a:lnTo>
                  <a:pt x="0" y="7160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Freeform 521"/>
          <p:cNvSpPr/>
          <p:nvPr/>
        </p:nvSpPr>
        <p:spPr>
          <a:xfrm>
            <a:off x="6225480" y="1283400"/>
            <a:ext cx="29520" cy="2614320"/>
          </a:xfrm>
          <a:custGeom>
            <a:avLst/>
            <a:gdLst/>
            <a:ahLst/>
            <a:cxnLst/>
            <a:rect l="0" t="0" r="r" b="b"/>
            <a:pathLst>
              <a:path w="82" h="7262">
                <a:moveTo>
                  <a:pt x="82" y="6"/>
                </a:moveTo>
                <a:lnTo>
                  <a:pt x="82" y="7256"/>
                </a:lnTo>
                <a:lnTo>
                  <a:pt x="56" y="7262"/>
                </a:lnTo>
                <a:cubicBezTo>
                  <a:pt x="46" y="7254"/>
                  <a:pt x="37" y="7243"/>
                  <a:pt x="28" y="7228"/>
                </a:cubicBezTo>
                <a:cubicBezTo>
                  <a:pt x="10" y="7197"/>
                  <a:pt x="0" y="7158"/>
                  <a:pt x="0" y="7114"/>
                </a:cubicBezTo>
                <a:lnTo>
                  <a:pt x="0" y="150"/>
                </a:lnTo>
                <a:cubicBezTo>
                  <a:pt x="0" y="105"/>
                  <a:pt x="10" y="65"/>
                  <a:pt x="28" y="34"/>
                </a:cubicBezTo>
                <a:cubicBezTo>
                  <a:pt x="37" y="19"/>
                  <a:pt x="46" y="8"/>
                  <a:pt x="56" y="0"/>
                </a:cubicBezTo>
                <a:lnTo>
                  <a:pt x="82" y="6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3" name="Picture 522"/>
          <p:cNvPicPr/>
          <p:nvPr/>
        </p:nvPicPr>
        <p:blipFill>
          <a:blip r:embed="rId6"/>
          <a:stretch/>
        </p:blipFill>
        <p:spPr>
          <a:xfrm>
            <a:off x="6426360" y="14792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4" name="Picture 523"/>
          <p:cNvPicPr/>
          <p:nvPr/>
        </p:nvPicPr>
        <p:blipFill>
          <a:blip r:embed="rId7"/>
          <a:stretch/>
        </p:blipFill>
        <p:spPr>
          <a:xfrm>
            <a:off x="6551640" y="16045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TextBox 524"/>
          <p:cNvSpPr txBox="1"/>
          <p:nvPr/>
        </p:nvSpPr>
        <p:spPr>
          <a:xfrm>
            <a:off x="5025960" y="2741040"/>
            <a:ext cx="646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Combines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reeform 525"/>
          <p:cNvSpPr/>
          <p:nvPr/>
        </p:nvSpPr>
        <p:spPr>
          <a:xfrm>
            <a:off x="6484680" y="21056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10" y="89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2" y="106"/>
                  <a:pt x="17" y="100"/>
                </a:cubicBezTo>
                <a:cubicBezTo>
                  <a:pt x="11" y="95"/>
                  <a:pt x="7" y="89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2"/>
                  <a:pt x="1" y="44"/>
                  <a:pt x="4" y="37"/>
                </a:cubicBezTo>
                <a:cubicBezTo>
                  <a:pt x="7" y="30"/>
                  <a:pt x="11" y="24"/>
                  <a:pt x="17" y="18"/>
                </a:cubicBezTo>
                <a:cubicBezTo>
                  <a:pt x="22" y="13"/>
                  <a:pt x="30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4" y="13"/>
                  <a:pt x="100" y="18"/>
                </a:cubicBezTo>
                <a:cubicBezTo>
                  <a:pt x="105" y="24"/>
                  <a:pt x="110" y="30"/>
                  <a:pt x="112" y="37"/>
                </a:cubicBezTo>
                <a:cubicBezTo>
                  <a:pt x="115" y="44"/>
                  <a:pt x="117" y="52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TextBox 526"/>
          <p:cNvSpPr txBox="1"/>
          <p:nvPr/>
        </p:nvSpPr>
        <p:spPr>
          <a:xfrm>
            <a:off x="6980760" y="1591560"/>
            <a:ext cx="2010166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Data-Driven Component (F  )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reeform 527"/>
          <p:cNvSpPr/>
          <p:nvPr/>
        </p:nvSpPr>
        <p:spPr>
          <a:xfrm>
            <a:off x="6484680" y="23731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1"/>
                </a:cubicBezTo>
                <a:cubicBezTo>
                  <a:pt x="110" y="88"/>
                  <a:pt x="105" y="95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2" y="106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10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TextBox 528"/>
          <p:cNvSpPr txBox="1"/>
          <p:nvPr/>
        </p:nvSpPr>
        <p:spPr>
          <a:xfrm>
            <a:off x="6629760" y="2048760"/>
            <a:ext cx="2087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Learns from experimental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reeform 529"/>
          <p:cNvSpPr/>
          <p:nvPr/>
        </p:nvSpPr>
        <p:spPr>
          <a:xfrm>
            <a:off x="6484680" y="26406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10" y="88"/>
                  <a:pt x="105" y="94"/>
                  <a:pt x="100" y="100"/>
                </a:cubicBezTo>
                <a:cubicBezTo>
                  <a:pt x="94" y="105"/>
                  <a:pt x="88" y="110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30" y="110"/>
                  <a:pt x="22" y="105"/>
                  <a:pt x="17" y="100"/>
                </a:cubicBezTo>
                <a:cubicBezTo>
                  <a:pt x="11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1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10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TextBox 530"/>
          <p:cNvSpPr txBox="1"/>
          <p:nvPr/>
        </p:nvSpPr>
        <p:spPr>
          <a:xfrm>
            <a:off x="6629760" y="2316240"/>
            <a:ext cx="2576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Discovers errors in the physical model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TextBox 532"/>
          <p:cNvSpPr txBox="1"/>
          <p:nvPr/>
        </p:nvSpPr>
        <p:spPr>
          <a:xfrm>
            <a:off x="6629760" y="2583360"/>
            <a:ext cx="2424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Identiﬁes missing physics equations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6" name="Picture 535"/>
          <p:cNvPicPr/>
          <p:nvPr/>
        </p:nvPicPr>
        <p:blipFill>
          <a:blip r:embed="rId8"/>
          <a:stretch/>
        </p:blipFill>
        <p:spPr>
          <a:xfrm>
            <a:off x="476280" y="475488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TextBox 536"/>
          <p:cNvSpPr txBox="1"/>
          <p:nvPr/>
        </p:nvSpPr>
        <p:spPr>
          <a:xfrm>
            <a:off x="476280" y="4407480"/>
            <a:ext cx="1576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Training Process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710280" y="4739400"/>
            <a:ext cx="1016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Parameters 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9" name="Picture 538"/>
          <p:cNvPicPr/>
          <p:nvPr/>
        </p:nvPicPr>
        <p:blipFill>
          <a:blip r:embed="rId9"/>
          <a:stretch/>
        </p:blipFill>
        <p:spPr>
          <a:xfrm>
            <a:off x="7006089" y="478537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TextBox 539"/>
          <p:cNvSpPr txBox="1"/>
          <p:nvPr/>
        </p:nvSpPr>
        <p:spPr>
          <a:xfrm>
            <a:off x="476280" y="5005800"/>
            <a:ext cx="2954520" cy="24622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800" b="0" u="none" strike="noStrike" dirty="0">
                <a:solidFill>
                  <a:srgbClr val="000000"/>
                </a:solidFill>
                <a:effectLst/>
                <a:uFillTx/>
                <a:latin typeface="+mn-ea"/>
                <a:cs typeface="+mj-cs"/>
              </a:rPr>
              <a:t>Variables of the </a:t>
            </a:r>
            <a:r>
              <a:rPr lang="en-US" sz="800" b="0" u="none" strike="noStrike" dirty="0" err="1">
                <a:solidFill>
                  <a:srgbClr val="000000"/>
                </a:solidFill>
                <a:effectLst/>
                <a:uFillTx/>
                <a:latin typeface="+mn-ea"/>
                <a:cs typeface="+mj-cs"/>
              </a:rPr>
              <a:t>Lagrangian</a:t>
            </a:r>
            <a:r>
              <a:rPr lang="en-US" sz="800" b="0" u="none" strike="noStrike" dirty="0">
                <a:solidFill>
                  <a:srgbClr val="000000"/>
                </a:solidFill>
                <a:effectLst/>
                <a:uFillTx/>
                <a:latin typeface="+mn-ea"/>
                <a:cs typeface="+mj-cs"/>
              </a:rPr>
              <a:t> which is considered the weights </a:t>
            </a:r>
            <a:r>
              <a:rPr lang="en-US" sz="800" dirty="0">
                <a:solidFill>
                  <a:srgbClr val="000000"/>
                </a:solidFill>
                <a:latin typeface="+mn-ea"/>
                <a:cs typeface="+mj-cs"/>
              </a:rPr>
              <a:t>of the Neural Network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+mn-ea"/>
              <a:cs typeface="+mj-cs"/>
            </a:endParaRPr>
          </a:p>
        </p:txBody>
      </p:sp>
      <p:sp>
        <p:nvSpPr>
          <p:cNvPr id="541" name="TextBox 540"/>
          <p:cNvSpPr txBox="1"/>
          <p:nvPr/>
        </p:nvSpPr>
        <p:spPr>
          <a:xfrm>
            <a:off x="7272720" y="4780893"/>
            <a:ext cx="1044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 dirty="0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Loss Function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7010030" y="5035320"/>
            <a:ext cx="2954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Mean squared errors between prediction and data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reeform 547"/>
          <p:cNvSpPr/>
          <p:nvPr/>
        </p:nvSpPr>
        <p:spPr>
          <a:xfrm>
            <a:off x="4921920" y="2456640"/>
            <a:ext cx="852840" cy="33840"/>
          </a:xfrm>
          <a:custGeom>
            <a:avLst/>
            <a:gdLst/>
            <a:ahLst/>
            <a:cxnLst/>
            <a:rect l="0" t="0" r="r" b="b"/>
            <a:pathLst>
              <a:path w="2369" h="94">
                <a:moveTo>
                  <a:pt x="0" y="0"/>
                </a:moveTo>
                <a:lnTo>
                  <a:pt x="2369" y="0"/>
                </a:lnTo>
                <a:lnTo>
                  <a:pt x="2369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reeform 548"/>
          <p:cNvSpPr/>
          <p:nvPr/>
        </p:nvSpPr>
        <p:spPr>
          <a:xfrm>
            <a:off x="5673960" y="2389680"/>
            <a:ext cx="100800" cy="167760"/>
          </a:xfrm>
          <a:custGeom>
            <a:avLst/>
            <a:gdLst/>
            <a:ahLst/>
            <a:cxnLst/>
            <a:rect l="0" t="0" r="r" b="b"/>
            <a:pathLst>
              <a:path w="280" h="466">
                <a:moveTo>
                  <a:pt x="0" y="0"/>
                </a:moveTo>
                <a:lnTo>
                  <a:pt x="0" y="466"/>
                </a:lnTo>
                <a:lnTo>
                  <a:pt x="28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TextBox 549"/>
          <p:cNvSpPr txBox="1"/>
          <p:nvPr/>
        </p:nvSpPr>
        <p:spPr>
          <a:xfrm>
            <a:off x="2613524" y="1654380"/>
            <a:ext cx="1249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1" u="none" strike="noStrike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8828962" y="1664820"/>
            <a:ext cx="1249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1" u="none" strike="noStrike" dirty="0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a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10025640" y="598464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11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math formula with a blue circle&#10;&#10;Description automatically generated with medium confidence">
            <a:extLst>
              <a:ext uri="{FF2B5EF4-FFF2-40B4-BE49-F238E27FC236}">
                <a16:creationId xmlns:a16="http://schemas.microsoft.com/office/drawing/2014/main" id="{65D2D0CA-65C6-B407-27A6-9406DAFB5E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41" y="2868631"/>
            <a:ext cx="2548002" cy="911572"/>
          </a:xfrm>
          <a:prstGeom prst="rect">
            <a:avLst/>
          </a:prstGeom>
        </p:spPr>
      </p:pic>
      <p:pic>
        <p:nvPicPr>
          <p:cNvPr id="2050" name="Picture 2" descr="A yellow and black text&#10;&#10;AI-generated content may be incorrect.">
            <a:extLst>
              <a:ext uri="{FF2B5EF4-FFF2-40B4-BE49-F238E27FC236}">
                <a16:creationId xmlns:a16="http://schemas.microsoft.com/office/drawing/2014/main" id="{07D22D72-3767-02A1-E9DE-97818564CC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6" r="6526" b="22662"/>
          <a:stretch/>
        </p:blipFill>
        <p:spPr bwMode="auto">
          <a:xfrm>
            <a:off x="1641544" y="4630156"/>
            <a:ext cx="1199576" cy="33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C136DAB-951D-2BBD-D0F6-34ECA92BEE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4" t="42398" r="56619" b="29606"/>
          <a:stretch/>
        </p:blipFill>
        <p:spPr bwMode="auto">
          <a:xfrm>
            <a:off x="4366744" y="4922882"/>
            <a:ext cx="1357616" cy="34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6F1BCE-6BE1-D496-8C7A-CD48765D7C46}"/>
              </a:ext>
            </a:extLst>
          </p:cNvPr>
          <p:cNvSpPr txBox="1"/>
          <p:nvPr/>
        </p:nvSpPr>
        <p:spPr>
          <a:xfrm>
            <a:off x="4671857" y="4723287"/>
            <a:ext cx="60914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 dirty="0" err="1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Lagrangian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50317E2C-B6CF-700D-6C58-8940EB79C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89480" y="4685495"/>
            <a:ext cx="199375" cy="199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Freeform 610"/>
          <p:cNvSpPr/>
          <p:nvPr/>
        </p:nvSpPr>
        <p:spPr>
          <a:xfrm>
            <a:off x="0" y="281520"/>
            <a:ext cx="10696680" cy="6760800"/>
          </a:xfrm>
          <a:custGeom>
            <a:avLst/>
            <a:gdLst/>
            <a:ahLst/>
            <a:cxnLst/>
            <a:rect l="0" t="0" r="r" b="b"/>
            <a:pathLst>
              <a:path w="29713" h="18780">
                <a:moveTo>
                  <a:pt x="0" y="0"/>
                </a:moveTo>
                <a:lnTo>
                  <a:pt x="29713" y="0"/>
                </a:lnTo>
                <a:lnTo>
                  <a:pt x="29713" y="18780"/>
                </a:lnTo>
                <a:lnTo>
                  <a:pt x="0" y="187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tile tx="0" ty="0" sx="87743" sy="-18757000" algn="ctr"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12" name="Picture 611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3" name="TextBox 612"/>
          <p:cNvSpPr txBox="1"/>
          <p:nvPr/>
        </p:nvSpPr>
        <p:spPr>
          <a:xfrm>
            <a:off x="334440" y="135000"/>
            <a:ext cx="4546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Project Roadmap: Six Key Steps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Freeform 613"/>
          <p:cNvSpPr/>
          <p:nvPr/>
        </p:nvSpPr>
        <p:spPr>
          <a:xfrm>
            <a:off x="484560" y="1270080"/>
            <a:ext cx="3058920" cy="1922400"/>
          </a:xfrm>
          <a:custGeom>
            <a:avLst/>
            <a:gdLst/>
            <a:ahLst/>
            <a:cxnLst/>
            <a:rect l="0" t="0" r="r" b="b"/>
            <a:pathLst>
              <a:path w="8497" h="5340">
                <a:moveTo>
                  <a:pt x="0" y="515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3"/>
                </a:cubicBezTo>
                <a:cubicBezTo>
                  <a:pt x="8359" y="6"/>
                  <a:pt x="8371" y="9"/>
                  <a:pt x="8382" y="14"/>
                </a:cubicBezTo>
                <a:cubicBezTo>
                  <a:pt x="8393" y="19"/>
                  <a:pt x="8404" y="24"/>
                  <a:pt x="8414" y="31"/>
                </a:cubicBezTo>
                <a:cubicBezTo>
                  <a:pt x="8424" y="38"/>
                  <a:pt x="8434" y="46"/>
                  <a:pt x="8442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2" y="93"/>
                  <a:pt x="8478" y="103"/>
                  <a:pt x="8483" y="115"/>
                </a:cubicBezTo>
                <a:cubicBezTo>
                  <a:pt x="8487" y="126"/>
                  <a:pt x="8491" y="137"/>
                  <a:pt x="8493" y="149"/>
                </a:cubicBezTo>
                <a:cubicBezTo>
                  <a:pt x="8496" y="161"/>
                  <a:pt x="8497" y="173"/>
                  <a:pt x="8497" y="186"/>
                </a:cubicBezTo>
                <a:lnTo>
                  <a:pt x="8497" y="5154"/>
                </a:lnTo>
                <a:cubicBezTo>
                  <a:pt x="8497" y="5166"/>
                  <a:pt x="8496" y="5178"/>
                  <a:pt x="8493" y="5190"/>
                </a:cubicBezTo>
                <a:cubicBezTo>
                  <a:pt x="8491" y="5202"/>
                  <a:pt x="8487" y="5214"/>
                  <a:pt x="8483" y="5225"/>
                </a:cubicBezTo>
                <a:cubicBezTo>
                  <a:pt x="8478" y="5237"/>
                  <a:pt x="8472" y="5247"/>
                  <a:pt x="8466" y="5257"/>
                </a:cubicBezTo>
                <a:cubicBezTo>
                  <a:pt x="8459" y="5267"/>
                  <a:pt x="8451" y="5277"/>
                  <a:pt x="8442" y="5285"/>
                </a:cubicBezTo>
                <a:cubicBezTo>
                  <a:pt x="8434" y="5294"/>
                  <a:pt x="8424" y="5302"/>
                  <a:pt x="8414" y="5309"/>
                </a:cubicBezTo>
                <a:cubicBezTo>
                  <a:pt x="8404" y="5315"/>
                  <a:pt x="8393" y="5321"/>
                  <a:pt x="8382" y="5326"/>
                </a:cubicBezTo>
                <a:cubicBezTo>
                  <a:pt x="8371" y="5330"/>
                  <a:pt x="8359" y="5334"/>
                  <a:pt x="8347" y="5336"/>
                </a:cubicBezTo>
                <a:cubicBezTo>
                  <a:pt x="8335" y="5339"/>
                  <a:pt x="8323" y="5340"/>
                  <a:pt x="8311" y="5340"/>
                </a:cubicBezTo>
                <a:lnTo>
                  <a:pt x="139" y="5340"/>
                </a:lnTo>
                <a:cubicBezTo>
                  <a:pt x="130" y="5340"/>
                  <a:pt x="121" y="5339"/>
                  <a:pt x="112" y="5336"/>
                </a:cubicBezTo>
                <a:cubicBezTo>
                  <a:pt x="103" y="5334"/>
                  <a:pt x="94" y="5330"/>
                  <a:pt x="86" y="5326"/>
                </a:cubicBezTo>
                <a:cubicBezTo>
                  <a:pt x="77" y="5321"/>
                  <a:pt x="69" y="5315"/>
                  <a:pt x="62" y="5309"/>
                </a:cubicBezTo>
                <a:cubicBezTo>
                  <a:pt x="54" y="5302"/>
                  <a:pt x="47" y="5294"/>
                  <a:pt x="41" y="5285"/>
                </a:cubicBezTo>
                <a:cubicBezTo>
                  <a:pt x="34" y="5277"/>
                  <a:pt x="28" y="5267"/>
                  <a:pt x="23" y="5257"/>
                </a:cubicBezTo>
                <a:cubicBezTo>
                  <a:pt x="18" y="5247"/>
                  <a:pt x="14" y="5237"/>
                  <a:pt x="10" y="5225"/>
                </a:cubicBezTo>
                <a:cubicBezTo>
                  <a:pt x="7" y="5214"/>
                  <a:pt x="4" y="5202"/>
                  <a:pt x="3" y="5190"/>
                </a:cubicBezTo>
                <a:cubicBezTo>
                  <a:pt x="1" y="5178"/>
                  <a:pt x="0" y="5166"/>
                  <a:pt x="0" y="51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Freeform 614"/>
          <p:cNvSpPr/>
          <p:nvPr/>
        </p:nvSpPr>
        <p:spPr>
          <a:xfrm>
            <a:off x="467640" y="1270080"/>
            <a:ext cx="67320" cy="1922400"/>
          </a:xfrm>
          <a:custGeom>
            <a:avLst/>
            <a:gdLst/>
            <a:ahLst/>
            <a:cxnLst/>
            <a:rect l="0" t="0" r="r" b="b"/>
            <a:pathLst>
              <a:path w="187" h="5340">
                <a:moveTo>
                  <a:pt x="0" y="0"/>
                </a:moveTo>
                <a:lnTo>
                  <a:pt x="187" y="0"/>
                </a:lnTo>
                <a:lnTo>
                  <a:pt x="187" y="5340"/>
                </a:lnTo>
                <a:lnTo>
                  <a:pt x="0" y="53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16" name="Picture 615"/>
          <p:cNvPicPr/>
          <p:nvPr/>
        </p:nvPicPr>
        <p:blipFill>
          <a:blip r:embed="rId4"/>
          <a:stretch/>
        </p:blipFill>
        <p:spPr>
          <a:xfrm>
            <a:off x="635040" y="140400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7" name="Picture 616"/>
          <p:cNvPicPr/>
          <p:nvPr/>
        </p:nvPicPr>
        <p:blipFill>
          <a:blip r:embed="rId5"/>
          <a:stretch/>
        </p:blipFill>
        <p:spPr>
          <a:xfrm>
            <a:off x="743760" y="152928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8" name="TextBox 617"/>
          <p:cNvSpPr txBox="1"/>
          <p:nvPr/>
        </p:nvSpPr>
        <p:spPr>
          <a:xfrm>
            <a:off x="334440" y="796320"/>
            <a:ext cx="8921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 multi-stage approach designed to build toward analyzing experimental data with Physics-Informed Neural Networks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TextBox 618"/>
          <p:cNvSpPr txBox="1"/>
          <p:nvPr/>
        </p:nvSpPr>
        <p:spPr>
          <a:xfrm>
            <a:off x="1186560" y="151632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1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TextBox 619"/>
          <p:cNvSpPr txBox="1"/>
          <p:nvPr/>
        </p:nvSpPr>
        <p:spPr>
          <a:xfrm>
            <a:off x="635040" y="1949760"/>
            <a:ext cx="2077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Script Conversion to JAX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TextBox 620"/>
          <p:cNvSpPr txBox="1"/>
          <p:nvPr/>
        </p:nvSpPr>
        <p:spPr>
          <a:xfrm>
            <a:off x="635040" y="2241000"/>
            <a:ext cx="2218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Convert Numpy script containing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TextBox 621"/>
          <p:cNvSpPr txBox="1"/>
          <p:nvPr/>
        </p:nvSpPr>
        <p:spPr>
          <a:xfrm>
            <a:off x="635040" y="2441520"/>
            <a:ext cx="2352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equations of motion and numerical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Freeform 622"/>
          <p:cNvSpPr/>
          <p:nvPr/>
        </p:nvSpPr>
        <p:spPr>
          <a:xfrm>
            <a:off x="3786840" y="1247040"/>
            <a:ext cx="3058920" cy="1922400"/>
          </a:xfrm>
          <a:custGeom>
            <a:avLst/>
            <a:gdLst/>
            <a:ahLst/>
            <a:cxnLst/>
            <a:rect l="0" t="0" r="r" b="b"/>
            <a:pathLst>
              <a:path w="8497" h="5340">
                <a:moveTo>
                  <a:pt x="0" y="515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5"/>
                </a:cubicBezTo>
                <a:cubicBezTo>
                  <a:pt x="14" y="103"/>
                  <a:pt x="18" y="93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70" y="24"/>
                  <a:pt x="78" y="19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6"/>
                  <a:pt x="8371" y="9"/>
                  <a:pt x="8382" y="14"/>
                </a:cubicBezTo>
                <a:cubicBezTo>
                  <a:pt x="8394" y="19"/>
                  <a:pt x="8404" y="24"/>
                  <a:pt x="8415" y="31"/>
                </a:cubicBezTo>
                <a:cubicBezTo>
                  <a:pt x="8425" y="38"/>
                  <a:pt x="8434" y="46"/>
                  <a:pt x="8443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3" y="93"/>
                  <a:pt x="8478" y="103"/>
                  <a:pt x="8483" y="115"/>
                </a:cubicBezTo>
                <a:cubicBezTo>
                  <a:pt x="8488" y="126"/>
                  <a:pt x="8491" y="137"/>
                  <a:pt x="8493" y="149"/>
                </a:cubicBezTo>
                <a:cubicBezTo>
                  <a:pt x="8496" y="161"/>
                  <a:pt x="8497" y="173"/>
                  <a:pt x="8497" y="186"/>
                </a:cubicBezTo>
                <a:lnTo>
                  <a:pt x="8497" y="5154"/>
                </a:lnTo>
                <a:cubicBezTo>
                  <a:pt x="8497" y="5166"/>
                  <a:pt x="8496" y="5178"/>
                  <a:pt x="8493" y="5190"/>
                </a:cubicBezTo>
                <a:cubicBezTo>
                  <a:pt x="8491" y="5202"/>
                  <a:pt x="8488" y="5214"/>
                  <a:pt x="8483" y="5225"/>
                </a:cubicBezTo>
                <a:cubicBezTo>
                  <a:pt x="8478" y="5237"/>
                  <a:pt x="8473" y="5247"/>
                  <a:pt x="8466" y="5257"/>
                </a:cubicBezTo>
                <a:cubicBezTo>
                  <a:pt x="8459" y="5267"/>
                  <a:pt x="8451" y="5277"/>
                  <a:pt x="8443" y="5285"/>
                </a:cubicBezTo>
                <a:cubicBezTo>
                  <a:pt x="8434" y="5294"/>
                  <a:pt x="8425" y="5302"/>
                  <a:pt x="8415" y="5309"/>
                </a:cubicBezTo>
                <a:cubicBezTo>
                  <a:pt x="8404" y="5315"/>
                  <a:pt x="8394" y="5321"/>
                  <a:pt x="8382" y="5326"/>
                </a:cubicBezTo>
                <a:cubicBezTo>
                  <a:pt x="8371" y="5330"/>
                  <a:pt x="8360" y="5334"/>
                  <a:pt x="8348" y="5336"/>
                </a:cubicBezTo>
                <a:cubicBezTo>
                  <a:pt x="8336" y="5339"/>
                  <a:pt x="8324" y="5340"/>
                  <a:pt x="8311" y="5340"/>
                </a:cubicBezTo>
                <a:lnTo>
                  <a:pt x="139" y="5340"/>
                </a:lnTo>
                <a:cubicBezTo>
                  <a:pt x="130" y="5340"/>
                  <a:pt x="121" y="5339"/>
                  <a:pt x="112" y="5336"/>
                </a:cubicBezTo>
                <a:cubicBezTo>
                  <a:pt x="103" y="5334"/>
                  <a:pt x="95" y="5330"/>
                  <a:pt x="86" y="5326"/>
                </a:cubicBezTo>
                <a:cubicBezTo>
                  <a:pt x="78" y="5321"/>
                  <a:pt x="70" y="5315"/>
                  <a:pt x="62" y="5309"/>
                </a:cubicBezTo>
                <a:cubicBezTo>
                  <a:pt x="54" y="5302"/>
                  <a:pt x="47" y="5294"/>
                  <a:pt x="41" y="5285"/>
                </a:cubicBezTo>
                <a:cubicBezTo>
                  <a:pt x="34" y="5277"/>
                  <a:pt x="29" y="5267"/>
                  <a:pt x="24" y="5257"/>
                </a:cubicBezTo>
                <a:cubicBezTo>
                  <a:pt x="18" y="5247"/>
                  <a:pt x="14" y="5237"/>
                  <a:pt x="11" y="5225"/>
                </a:cubicBezTo>
                <a:cubicBezTo>
                  <a:pt x="7" y="5214"/>
                  <a:pt x="5" y="5202"/>
                  <a:pt x="3" y="5190"/>
                </a:cubicBezTo>
                <a:cubicBezTo>
                  <a:pt x="1" y="5178"/>
                  <a:pt x="0" y="5166"/>
                  <a:pt x="0" y="51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Freeform 623"/>
          <p:cNvSpPr/>
          <p:nvPr/>
        </p:nvSpPr>
        <p:spPr>
          <a:xfrm>
            <a:off x="3810600" y="1270080"/>
            <a:ext cx="66960" cy="1922400"/>
          </a:xfrm>
          <a:custGeom>
            <a:avLst/>
            <a:gdLst/>
            <a:ahLst/>
            <a:cxnLst/>
            <a:rect l="0" t="0" r="r" b="b"/>
            <a:pathLst>
              <a:path w="186" h="5340">
                <a:moveTo>
                  <a:pt x="151" y="14"/>
                </a:moveTo>
                <a:cubicBezTo>
                  <a:pt x="139" y="23"/>
                  <a:pt x="129" y="37"/>
                  <a:pt x="121" y="54"/>
                </a:cubicBezTo>
                <a:cubicBezTo>
                  <a:pt x="112" y="72"/>
                  <a:pt x="105" y="92"/>
                  <a:pt x="101" y="115"/>
                </a:cubicBezTo>
                <a:cubicBezTo>
                  <a:pt x="96" y="137"/>
                  <a:pt x="94" y="161"/>
                  <a:pt x="94" y="186"/>
                </a:cubicBezTo>
                <a:lnTo>
                  <a:pt x="94" y="5154"/>
                </a:lnTo>
                <a:cubicBezTo>
                  <a:pt x="94" y="5179"/>
                  <a:pt x="96" y="5202"/>
                  <a:pt x="101" y="5225"/>
                </a:cubicBezTo>
                <a:cubicBezTo>
                  <a:pt x="105" y="5248"/>
                  <a:pt x="112" y="5268"/>
                  <a:pt x="121" y="5285"/>
                </a:cubicBezTo>
                <a:cubicBezTo>
                  <a:pt x="129" y="5303"/>
                  <a:pt x="139" y="5316"/>
                  <a:pt x="151" y="5326"/>
                </a:cubicBezTo>
                <a:cubicBezTo>
                  <a:pt x="162" y="5335"/>
                  <a:pt x="174" y="5340"/>
                  <a:pt x="186" y="5340"/>
                </a:cubicBezTo>
                <a:cubicBezTo>
                  <a:pt x="162" y="5340"/>
                  <a:pt x="138" y="5335"/>
                  <a:pt x="115" y="5326"/>
                </a:cubicBezTo>
                <a:cubicBezTo>
                  <a:pt x="93" y="5316"/>
                  <a:pt x="72" y="5303"/>
                  <a:pt x="55" y="5285"/>
                </a:cubicBezTo>
                <a:cubicBezTo>
                  <a:pt x="37" y="5268"/>
                  <a:pt x="23" y="5248"/>
                  <a:pt x="14" y="5225"/>
                </a:cubicBezTo>
                <a:cubicBezTo>
                  <a:pt x="4" y="5202"/>
                  <a:pt x="0" y="5179"/>
                  <a:pt x="0" y="5154"/>
                </a:cubicBez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5" y="54"/>
                </a:cubicBezTo>
                <a:cubicBezTo>
                  <a:pt x="72" y="37"/>
                  <a:pt x="93" y="23"/>
                  <a:pt x="115" y="14"/>
                </a:cubicBezTo>
                <a:cubicBezTo>
                  <a:pt x="138" y="5"/>
                  <a:pt x="162" y="0"/>
                  <a:pt x="186" y="0"/>
                </a:cubicBezTo>
                <a:cubicBezTo>
                  <a:pt x="174" y="0"/>
                  <a:pt x="162" y="5"/>
                  <a:pt x="151" y="14"/>
                </a:cubicBez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25" name="Picture 624"/>
          <p:cNvPicPr/>
          <p:nvPr/>
        </p:nvPicPr>
        <p:blipFill>
          <a:blip r:embed="rId6"/>
          <a:stretch/>
        </p:blipFill>
        <p:spPr>
          <a:xfrm>
            <a:off x="3977640" y="140400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6" name="Picture 625"/>
          <p:cNvPicPr/>
          <p:nvPr/>
        </p:nvPicPr>
        <p:blipFill>
          <a:blip r:embed="rId7"/>
          <a:stretch/>
        </p:blipFill>
        <p:spPr>
          <a:xfrm>
            <a:off x="4103280" y="15292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TextBox 626"/>
          <p:cNvSpPr txBox="1"/>
          <p:nvPr/>
        </p:nvSpPr>
        <p:spPr>
          <a:xfrm>
            <a:off x="635040" y="2642040"/>
            <a:ext cx="1614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solver to JAX framework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TextBox 627"/>
          <p:cNvSpPr txBox="1"/>
          <p:nvPr/>
        </p:nvSpPr>
        <p:spPr>
          <a:xfrm>
            <a:off x="4529160" y="151632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TextBox 628"/>
          <p:cNvSpPr txBox="1"/>
          <p:nvPr/>
        </p:nvSpPr>
        <p:spPr>
          <a:xfrm>
            <a:off x="3977640" y="2014020"/>
            <a:ext cx="2283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Neural Network for Torque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TextBox 629"/>
          <p:cNvSpPr txBox="1"/>
          <p:nvPr/>
        </p:nvSpPr>
        <p:spPr>
          <a:xfrm>
            <a:off x="3977640" y="2183400"/>
            <a:ext cx="8719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Prediction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TextBox 630"/>
          <p:cNvSpPr txBox="1"/>
          <p:nvPr/>
        </p:nvSpPr>
        <p:spPr>
          <a:xfrm>
            <a:off x="3977640" y="2475000"/>
            <a:ext cx="2633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Develop a neural network that predicts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TextBox 631"/>
          <p:cNvSpPr txBox="1"/>
          <p:nvPr/>
        </p:nvSpPr>
        <p:spPr>
          <a:xfrm>
            <a:off x="3977640" y="2675520"/>
            <a:ext cx="2694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the torque of the rotor system based 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Freeform 632"/>
          <p:cNvSpPr/>
          <p:nvPr/>
        </p:nvSpPr>
        <p:spPr>
          <a:xfrm>
            <a:off x="7169760" y="1270080"/>
            <a:ext cx="3058920" cy="1922400"/>
          </a:xfrm>
          <a:custGeom>
            <a:avLst/>
            <a:gdLst/>
            <a:ahLst/>
            <a:cxnLst/>
            <a:rect l="0" t="0" r="r" b="b"/>
            <a:pathLst>
              <a:path w="8497" h="5340">
                <a:moveTo>
                  <a:pt x="0" y="515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5"/>
                </a:cubicBezTo>
                <a:cubicBezTo>
                  <a:pt x="14" y="103"/>
                  <a:pt x="19" y="93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4"/>
                  <a:pt x="78" y="19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40" y="0"/>
                </a:cubicBezTo>
                <a:lnTo>
                  <a:pt x="8312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6"/>
                  <a:pt x="8371" y="9"/>
                  <a:pt x="8383" y="14"/>
                </a:cubicBezTo>
                <a:cubicBezTo>
                  <a:pt x="8394" y="19"/>
                  <a:pt x="8405" y="24"/>
                  <a:pt x="8415" y="31"/>
                </a:cubicBezTo>
                <a:cubicBezTo>
                  <a:pt x="8425" y="38"/>
                  <a:pt x="8434" y="46"/>
                  <a:pt x="8443" y="54"/>
                </a:cubicBezTo>
                <a:cubicBezTo>
                  <a:pt x="8452" y="63"/>
                  <a:pt x="8459" y="72"/>
                  <a:pt x="8466" y="82"/>
                </a:cubicBezTo>
                <a:cubicBezTo>
                  <a:pt x="8473" y="93"/>
                  <a:pt x="8478" y="103"/>
                  <a:pt x="8483" y="115"/>
                </a:cubicBezTo>
                <a:cubicBezTo>
                  <a:pt x="8488" y="126"/>
                  <a:pt x="8491" y="137"/>
                  <a:pt x="8494" y="149"/>
                </a:cubicBezTo>
                <a:cubicBezTo>
                  <a:pt x="8496" y="161"/>
                  <a:pt x="8497" y="173"/>
                  <a:pt x="8497" y="186"/>
                </a:cubicBezTo>
                <a:lnTo>
                  <a:pt x="8497" y="5154"/>
                </a:lnTo>
                <a:cubicBezTo>
                  <a:pt x="8497" y="5166"/>
                  <a:pt x="8496" y="5178"/>
                  <a:pt x="8494" y="5190"/>
                </a:cubicBezTo>
                <a:cubicBezTo>
                  <a:pt x="8491" y="5202"/>
                  <a:pt x="8488" y="5214"/>
                  <a:pt x="8483" y="5225"/>
                </a:cubicBezTo>
                <a:cubicBezTo>
                  <a:pt x="8478" y="5237"/>
                  <a:pt x="8473" y="5247"/>
                  <a:pt x="8466" y="5257"/>
                </a:cubicBezTo>
                <a:cubicBezTo>
                  <a:pt x="8459" y="5267"/>
                  <a:pt x="8452" y="5277"/>
                  <a:pt x="8443" y="5285"/>
                </a:cubicBezTo>
                <a:cubicBezTo>
                  <a:pt x="8434" y="5294"/>
                  <a:pt x="8425" y="5302"/>
                  <a:pt x="8415" y="5309"/>
                </a:cubicBezTo>
                <a:cubicBezTo>
                  <a:pt x="8405" y="5315"/>
                  <a:pt x="8394" y="5321"/>
                  <a:pt x="8383" y="5326"/>
                </a:cubicBezTo>
                <a:cubicBezTo>
                  <a:pt x="8371" y="5330"/>
                  <a:pt x="8360" y="5334"/>
                  <a:pt x="8348" y="5336"/>
                </a:cubicBezTo>
                <a:cubicBezTo>
                  <a:pt x="8336" y="5339"/>
                  <a:pt x="8324" y="5340"/>
                  <a:pt x="8312" y="5340"/>
                </a:cubicBezTo>
                <a:lnTo>
                  <a:pt x="140" y="5340"/>
                </a:lnTo>
                <a:cubicBezTo>
                  <a:pt x="130" y="5340"/>
                  <a:pt x="121" y="5339"/>
                  <a:pt x="112" y="5336"/>
                </a:cubicBezTo>
                <a:cubicBezTo>
                  <a:pt x="103" y="5334"/>
                  <a:pt x="95" y="5330"/>
                  <a:pt x="86" y="5326"/>
                </a:cubicBezTo>
                <a:cubicBezTo>
                  <a:pt x="78" y="5321"/>
                  <a:pt x="70" y="5315"/>
                  <a:pt x="62" y="5309"/>
                </a:cubicBezTo>
                <a:cubicBezTo>
                  <a:pt x="55" y="5302"/>
                  <a:pt x="48" y="5294"/>
                  <a:pt x="41" y="5285"/>
                </a:cubicBezTo>
                <a:cubicBezTo>
                  <a:pt x="35" y="5277"/>
                  <a:pt x="29" y="5267"/>
                  <a:pt x="24" y="5257"/>
                </a:cubicBezTo>
                <a:cubicBezTo>
                  <a:pt x="19" y="5247"/>
                  <a:pt x="14" y="5237"/>
                  <a:pt x="11" y="5225"/>
                </a:cubicBezTo>
                <a:cubicBezTo>
                  <a:pt x="7" y="5214"/>
                  <a:pt x="5" y="5202"/>
                  <a:pt x="3" y="5190"/>
                </a:cubicBezTo>
                <a:cubicBezTo>
                  <a:pt x="1" y="5178"/>
                  <a:pt x="0" y="5166"/>
                  <a:pt x="0" y="51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Freeform 633"/>
          <p:cNvSpPr/>
          <p:nvPr/>
        </p:nvSpPr>
        <p:spPr>
          <a:xfrm>
            <a:off x="7153200" y="1270080"/>
            <a:ext cx="67320" cy="1922400"/>
          </a:xfrm>
          <a:custGeom>
            <a:avLst/>
            <a:gdLst/>
            <a:ahLst/>
            <a:cxnLst/>
            <a:rect l="0" t="0" r="r" b="b"/>
            <a:pathLst>
              <a:path w="187" h="5340">
                <a:moveTo>
                  <a:pt x="0" y="0"/>
                </a:moveTo>
                <a:lnTo>
                  <a:pt x="187" y="0"/>
                </a:lnTo>
                <a:lnTo>
                  <a:pt x="187" y="5340"/>
                </a:lnTo>
                <a:lnTo>
                  <a:pt x="0" y="534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35" name="Picture 634"/>
          <p:cNvPicPr/>
          <p:nvPr/>
        </p:nvPicPr>
        <p:blipFill>
          <a:blip r:embed="rId8"/>
          <a:stretch/>
        </p:blipFill>
        <p:spPr>
          <a:xfrm>
            <a:off x="7320600" y="140400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Picture 635"/>
          <p:cNvPicPr/>
          <p:nvPr/>
        </p:nvPicPr>
        <p:blipFill>
          <a:blip r:embed="rId9"/>
          <a:stretch/>
        </p:blipFill>
        <p:spPr>
          <a:xfrm>
            <a:off x="7428960" y="152928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TextBox 636"/>
          <p:cNvSpPr txBox="1"/>
          <p:nvPr/>
        </p:nvSpPr>
        <p:spPr>
          <a:xfrm>
            <a:off x="3977640" y="2876040"/>
            <a:ext cx="1008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simulated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TextBox 637"/>
          <p:cNvSpPr txBox="1"/>
          <p:nvPr/>
        </p:nvSpPr>
        <p:spPr>
          <a:xfrm>
            <a:off x="7872120" y="151632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3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TextBox 638"/>
          <p:cNvSpPr txBox="1"/>
          <p:nvPr/>
        </p:nvSpPr>
        <p:spPr>
          <a:xfrm>
            <a:off x="7331729" y="2043000"/>
            <a:ext cx="1958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ODE Solver Integration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TextBox 639"/>
          <p:cNvSpPr txBox="1"/>
          <p:nvPr/>
        </p:nvSpPr>
        <p:spPr>
          <a:xfrm>
            <a:off x="7320600" y="2241000"/>
            <a:ext cx="2197718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Insert second equation into </a:t>
            </a:r>
            <a:r>
              <a:rPr lang="en-US" sz="1050" b="0" u="none" strike="noStrike" dirty="0" err="1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Numpy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 ODE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TextBox 640"/>
          <p:cNvSpPr txBox="1"/>
          <p:nvPr/>
        </p:nvSpPr>
        <p:spPr>
          <a:xfrm>
            <a:off x="7320600" y="2441520"/>
            <a:ext cx="2433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numerical solver and ensure correct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Freeform 641"/>
          <p:cNvSpPr/>
          <p:nvPr/>
        </p:nvSpPr>
        <p:spPr>
          <a:xfrm>
            <a:off x="484560" y="3727080"/>
            <a:ext cx="3058920" cy="1688400"/>
          </a:xfrm>
          <a:custGeom>
            <a:avLst/>
            <a:gdLst/>
            <a:ahLst/>
            <a:cxnLst/>
            <a:rect l="0" t="0" r="r" b="b"/>
            <a:pathLst>
              <a:path w="8497" h="4690">
                <a:moveTo>
                  <a:pt x="0" y="450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5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69" y="24"/>
                  <a:pt x="77" y="18"/>
                  <a:pt x="86" y="14"/>
                </a:cubicBezTo>
                <a:cubicBezTo>
                  <a:pt x="94" y="9"/>
                  <a:pt x="103" y="5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3"/>
                </a:cubicBezTo>
                <a:cubicBezTo>
                  <a:pt x="8359" y="5"/>
                  <a:pt x="8371" y="9"/>
                  <a:pt x="8382" y="14"/>
                </a:cubicBezTo>
                <a:cubicBezTo>
                  <a:pt x="8393" y="18"/>
                  <a:pt x="8404" y="24"/>
                  <a:pt x="8414" y="31"/>
                </a:cubicBezTo>
                <a:cubicBezTo>
                  <a:pt x="8424" y="38"/>
                  <a:pt x="8434" y="45"/>
                  <a:pt x="8442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2" y="92"/>
                  <a:pt x="8478" y="103"/>
                  <a:pt x="8483" y="114"/>
                </a:cubicBezTo>
                <a:cubicBezTo>
                  <a:pt x="8487" y="125"/>
                  <a:pt x="8491" y="137"/>
                  <a:pt x="8493" y="149"/>
                </a:cubicBezTo>
                <a:cubicBezTo>
                  <a:pt x="8496" y="161"/>
                  <a:pt x="8497" y="173"/>
                  <a:pt x="8497" y="185"/>
                </a:cubicBezTo>
                <a:lnTo>
                  <a:pt x="8497" y="4504"/>
                </a:lnTo>
                <a:cubicBezTo>
                  <a:pt x="8497" y="4516"/>
                  <a:pt x="8496" y="4528"/>
                  <a:pt x="8493" y="4540"/>
                </a:cubicBezTo>
                <a:cubicBezTo>
                  <a:pt x="8491" y="4552"/>
                  <a:pt x="8487" y="4564"/>
                  <a:pt x="8483" y="4575"/>
                </a:cubicBezTo>
                <a:cubicBezTo>
                  <a:pt x="8478" y="4586"/>
                  <a:pt x="8472" y="4597"/>
                  <a:pt x="8466" y="4607"/>
                </a:cubicBezTo>
                <a:cubicBezTo>
                  <a:pt x="8459" y="4617"/>
                  <a:pt x="8451" y="4627"/>
                  <a:pt x="8442" y="4635"/>
                </a:cubicBezTo>
                <a:cubicBezTo>
                  <a:pt x="8434" y="4644"/>
                  <a:pt x="8424" y="4651"/>
                  <a:pt x="8414" y="4658"/>
                </a:cubicBezTo>
                <a:cubicBezTo>
                  <a:pt x="8404" y="4665"/>
                  <a:pt x="8393" y="4671"/>
                  <a:pt x="8382" y="4675"/>
                </a:cubicBezTo>
                <a:cubicBezTo>
                  <a:pt x="8371" y="4680"/>
                  <a:pt x="8359" y="4684"/>
                  <a:pt x="8347" y="4686"/>
                </a:cubicBezTo>
                <a:cubicBezTo>
                  <a:pt x="8335" y="4688"/>
                  <a:pt x="8323" y="4690"/>
                  <a:pt x="8311" y="4690"/>
                </a:cubicBezTo>
                <a:lnTo>
                  <a:pt x="139" y="4690"/>
                </a:lnTo>
                <a:cubicBezTo>
                  <a:pt x="130" y="4690"/>
                  <a:pt x="121" y="4688"/>
                  <a:pt x="112" y="4686"/>
                </a:cubicBezTo>
                <a:cubicBezTo>
                  <a:pt x="103" y="4684"/>
                  <a:pt x="94" y="4680"/>
                  <a:pt x="86" y="4675"/>
                </a:cubicBezTo>
                <a:cubicBezTo>
                  <a:pt x="77" y="4671"/>
                  <a:pt x="69" y="4665"/>
                  <a:pt x="62" y="4658"/>
                </a:cubicBezTo>
                <a:cubicBezTo>
                  <a:pt x="54" y="4651"/>
                  <a:pt x="47" y="4644"/>
                  <a:pt x="41" y="4635"/>
                </a:cubicBezTo>
                <a:cubicBezTo>
                  <a:pt x="34" y="4627"/>
                  <a:pt x="28" y="4617"/>
                  <a:pt x="23" y="4607"/>
                </a:cubicBezTo>
                <a:cubicBezTo>
                  <a:pt x="18" y="4597"/>
                  <a:pt x="14" y="4586"/>
                  <a:pt x="10" y="4575"/>
                </a:cubicBezTo>
                <a:cubicBezTo>
                  <a:pt x="7" y="4564"/>
                  <a:pt x="4" y="4552"/>
                  <a:pt x="3" y="4540"/>
                </a:cubicBezTo>
                <a:cubicBezTo>
                  <a:pt x="1" y="4528"/>
                  <a:pt x="0" y="4516"/>
                  <a:pt x="0" y="45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Freeform 642"/>
          <p:cNvSpPr/>
          <p:nvPr/>
        </p:nvSpPr>
        <p:spPr>
          <a:xfrm>
            <a:off x="467640" y="3727080"/>
            <a:ext cx="67320" cy="1688400"/>
          </a:xfrm>
          <a:custGeom>
            <a:avLst/>
            <a:gdLst/>
            <a:ahLst/>
            <a:cxnLst/>
            <a:rect l="0" t="0" r="r" b="b"/>
            <a:pathLst>
              <a:path w="187" h="4690">
                <a:moveTo>
                  <a:pt x="0" y="0"/>
                </a:moveTo>
                <a:lnTo>
                  <a:pt x="187" y="0"/>
                </a:lnTo>
                <a:lnTo>
                  <a:pt x="187" y="4690"/>
                </a:lnTo>
                <a:lnTo>
                  <a:pt x="0" y="469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44" name="Picture 643"/>
          <p:cNvPicPr/>
          <p:nvPr/>
        </p:nvPicPr>
        <p:blipFill>
          <a:blip r:embed="rId10"/>
          <a:stretch/>
        </p:blipFill>
        <p:spPr>
          <a:xfrm>
            <a:off x="635040" y="38606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5" name="Picture 644"/>
          <p:cNvPicPr/>
          <p:nvPr/>
        </p:nvPicPr>
        <p:blipFill>
          <a:blip r:embed="rId11"/>
          <a:stretch/>
        </p:blipFill>
        <p:spPr>
          <a:xfrm>
            <a:off x="752040" y="398628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TextBox 645"/>
          <p:cNvSpPr txBox="1"/>
          <p:nvPr/>
        </p:nvSpPr>
        <p:spPr>
          <a:xfrm>
            <a:off x="7320600" y="2642040"/>
            <a:ext cx="1940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conversion to JAX framework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TextBox 646"/>
          <p:cNvSpPr txBox="1"/>
          <p:nvPr/>
        </p:nvSpPr>
        <p:spPr>
          <a:xfrm>
            <a:off x="1186560" y="397296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4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TextBox 647"/>
          <p:cNvSpPr txBox="1"/>
          <p:nvPr/>
        </p:nvSpPr>
        <p:spPr>
          <a:xfrm>
            <a:off x="635040" y="4406400"/>
            <a:ext cx="2399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Physics-Informed Prediction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TextBox 648"/>
          <p:cNvSpPr txBox="1"/>
          <p:nvPr/>
        </p:nvSpPr>
        <p:spPr>
          <a:xfrm>
            <a:off x="635040" y="4697640"/>
            <a:ext cx="2297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Use physics-informed approach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Freeform 649"/>
          <p:cNvSpPr/>
          <p:nvPr/>
        </p:nvSpPr>
        <p:spPr>
          <a:xfrm>
            <a:off x="3827160" y="3727080"/>
            <a:ext cx="3058920" cy="1688400"/>
          </a:xfrm>
          <a:custGeom>
            <a:avLst/>
            <a:gdLst/>
            <a:ahLst/>
            <a:cxnLst/>
            <a:rect l="0" t="0" r="r" b="b"/>
            <a:pathLst>
              <a:path w="8497" h="4690">
                <a:moveTo>
                  <a:pt x="0" y="450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5"/>
                  <a:pt x="11" y="114"/>
                </a:cubicBezTo>
                <a:cubicBezTo>
                  <a:pt x="14" y="103"/>
                  <a:pt x="18" y="92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5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5"/>
                  <a:pt x="8371" y="9"/>
                  <a:pt x="8382" y="14"/>
                </a:cubicBezTo>
                <a:cubicBezTo>
                  <a:pt x="8394" y="18"/>
                  <a:pt x="8404" y="24"/>
                  <a:pt x="8415" y="31"/>
                </a:cubicBezTo>
                <a:cubicBezTo>
                  <a:pt x="8425" y="38"/>
                  <a:pt x="8434" y="45"/>
                  <a:pt x="8443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3" y="92"/>
                  <a:pt x="8478" y="103"/>
                  <a:pt x="8483" y="114"/>
                </a:cubicBezTo>
                <a:cubicBezTo>
                  <a:pt x="8488" y="125"/>
                  <a:pt x="8491" y="137"/>
                  <a:pt x="8493" y="149"/>
                </a:cubicBezTo>
                <a:cubicBezTo>
                  <a:pt x="8496" y="161"/>
                  <a:pt x="8497" y="173"/>
                  <a:pt x="8497" y="185"/>
                </a:cubicBezTo>
                <a:lnTo>
                  <a:pt x="8497" y="4504"/>
                </a:lnTo>
                <a:cubicBezTo>
                  <a:pt x="8497" y="4516"/>
                  <a:pt x="8496" y="4528"/>
                  <a:pt x="8493" y="4540"/>
                </a:cubicBezTo>
                <a:cubicBezTo>
                  <a:pt x="8491" y="4552"/>
                  <a:pt x="8488" y="4564"/>
                  <a:pt x="8483" y="4575"/>
                </a:cubicBezTo>
                <a:cubicBezTo>
                  <a:pt x="8478" y="4586"/>
                  <a:pt x="8473" y="4597"/>
                  <a:pt x="8466" y="4607"/>
                </a:cubicBezTo>
                <a:cubicBezTo>
                  <a:pt x="8459" y="4617"/>
                  <a:pt x="8451" y="4627"/>
                  <a:pt x="8443" y="4635"/>
                </a:cubicBezTo>
                <a:cubicBezTo>
                  <a:pt x="8434" y="4644"/>
                  <a:pt x="8425" y="4651"/>
                  <a:pt x="8415" y="4658"/>
                </a:cubicBezTo>
                <a:cubicBezTo>
                  <a:pt x="8404" y="4665"/>
                  <a:pt x="8394" y="4671"/>
                  <a:pt x="8382" y="4675"/>
                </a:cubicBezTo>
                <a:cubicBezTo>
                  <a:pt x="8371" y="4680"/>
                  <a:pt x="8360" y="4684"/>
                  <a:pt x="8348" y="4686"/>
                </a:cubicBezTo>
                <a:cubicBezTo>
                  <a:pt x="8336" y="4688"/>
                  <a:pt x="8324" y="4690"/>
                  <a:pt x="8311" y="4690"/>
                </a:cubicBezTo>
                <a:lnTo>
                  <a:pt x="139" y="4690"/>
                </a:lnTo>
                <a:cubicBezTo>
                  <a:pt x="130" y="4690"/>
                  <a:pt x="121" y="4688"/>
                  <a:pt x="112" y="4686"/>
                </a:cubicBezTo>
                <a:cubicBezTo>
                  <a:pt x="103" y="4684"/>
                  <a:pt x="95" y="4680"/>
                  <a:pt x="86" y="4675"/>
                </a:cubicBezTo>
                <a:cubicBezTo>
                  <a:pt x="78" y="4671"/>
                  <a:pt x="70" y="4665"/>
                  <a:pt x="62" y="4658"/>
                </a:cubicBezTo>
                <a:cubicBezTo>
                  <a:pt x="54" y="4651"/>
                  <a:pt x="47" y="4644"/>
                  <a:pt x="41" y="4635"/>
                </a:cubicBezTo>
                <a:cubicBezTo>
                  <a:pt x="34" y="4627"/>
                  <a:pt x="29" y="4617"/>
                  <a:pt x="24" y="4607"/>
                </a:cubicBezTo>
                <a:cubicBezTo>
                  <a:pt x="18" y="4597"/>
                  <a:pt x="14" y="4586"/>
                  <a:pt x="11" y="4575"/>
                </a:cubicBezTo>
                <a:cubicBezTo>
                  <a:pt x="7" y="4564"/>
                  <a:pt x="5" y="4552"/>
                  <a:pt x="3" y="4540"/>
                </a:cubicBezTo>
                <a:cubicBezTo>
                  <a:pt x="1" y="4528"/>
                  <a:pt x="0" y="4516"/>
                  <a:pt x="0" y="45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Freeform 650"/>
          <p:cNvSpPr/>
          <p:nvPr/>
        </p:nvSpPr>
        <p:spPr>
          <a:xfrm>
            <a:off x="3810600" y="3727080"/>
            <a:ext cx="66960" cy="1688400"/>
          </a:xfrm>
          <a:custGeom>
            <a:avLst/>
            <a:gdLst/>
            <a:ahLst/>
            <a:cxnLst/>
            <a:rect l="0" t="0" r="r" b="b"/>
            <a:pathLst>
              <a:path w="186" h="4690">
                <a:moveTo>
                  <a:pt x="151" y="14"/>
                </a:moveTo>
                <a:cubicBezTo>
                  <a:pt x="139" y="23"/>
                  <a:pt x="129" y="37"/>
                  <a:pt x="121" y="54"/>
                </a:cubicBezTo>
                <a:cubicBezTo>
                  <a:pt x="112" y="71"/>
                  <a:pt x="105" y="91"/>
                  <a:pt x="101" y="114"/>
                </a:cubicBezTo>
                <a:cubicBezTo>
                  <a:pt x="96" y="137"/>
                  <a:pt x="94" y="161"/>
                  <a:pt x="94" y="185"/>
                </a:cubicBezTo>
                <a:lnTo>
                  <a:pt x="94" y="4504"/>
                </a:lnTo>
                <a:cubicBezTo>
                  <a:pt x="94" y="4528"/>
                  <a:pt x="96" y="4552"/>
                  <a:pt x="101" y="4575"/>
                </a:cubicBezTo>
                <a:cubicBezTo>
                  <a:pt x="105" y="4598"/>
                  <a:pt x="112" y="4618"/>
                  <a:pt x="121" y="4635"/>
                </a:cubicBezTo>
                <a:cubicBezTo>
                  <a:pt x="129" y="4653"/>
                  <a:pt x="139" y="4666"/>
                  <a:pt x="151" y="4675"/>
                </a:cubicBezTo>
                <a:cubicBezTo>
                  <a:pt x="162" y="4685"/>
                  <a:pt x="174" y="4690"/>
                  <a:pt x="186" y="4690"/>
                </a:cubicBezTo>
                <a:cubicBezTo>
                  <a:pt x="162" y="4690"/>
                  <a:pt x="138" y="4685"/>
                  <a:pt x="115" y="4675"/>
                </a:cubicBezTo>
                <a:cubicBezTo>
                  <a:pt x="93" y="4666"/>
                  <a:pt x="72" y="4653"/>
                  <a:pt x="55" y="4635"/>
                </a:cubicBezTo>
                <a:cubicBezTo>
                  <a:pt x="37" y="4618"/>
                  <a:pt x="23" y="4598"/>
                  <a:pt x="14" y="4575"/>
                </a:cubicBezTo>
                <a:cubicBezTo>
                  <a:pt x="4" y="4552"/>
                  <a:pt x="0" y="4528"/>
                  <a:pt x="0" y="4504"/>
                </a:cubicBezTo>
                <a:lnTo>
                  <a:pt x="0" y="185"/>
                </a:lnTo>
                <a:cubicBezTo>
                  <a:pt x="0" y="161"/>
                  <a:pt x="4" y="137"/>
                  <a:pt x="14" y="114"/>
                </a:cubicBezTo>
                <a:cubicBezTo>
                  <a:pt x="23" y="91"/>
                  <a:pt x="37" y="71"/>
                  <a:pt x="55" y="54"/>
                </a:cubicBezTo>
                <a:cubicBezTo>
                  <a:pt x="72" y="37"/>
                  <a:pt x="93" y="23"/>
                  <a:pt x="115" y="14"/>
                </a:cubicBezTo>
                <a:cubicBezTo>
                  <a:pt x="138" y="4"/>
                  <a:pt x="162" y="0"/>
                  <a:pt x="186" y="0"/>
                </a:cubicBezTo>
                <a:cubicBezTo>
                  <a:pt x="174" y="0"/>
                  <a:pt x="162" y="4"/>
                  <a:pt x="151" y="14"/>
                </a:cubicBez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52" name="Picture 651"/>
          <p:cNvPicPr/>
          <p:nvPr/>
        </p:nvPicPr>
        <p:blipFill>
          <a:blip r:embed="rId12"/>
          <a:stretch/>
        </p:blipFill>
        <p:spPr>
          <a:xfrm>
            <a:off x="3977640" y="38606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3" name="Picture 652"/>
          <p:cNvPicPr/>
          <p:nvPr/>
        </p:nvPicPr>
        <p:blipFill>
          <a:blip r:embed="rId13"/>
          <a:stretch/>
        </p:blipFill>
        <p:spPr>
          <a:xfrm>
            <a:off x="4103280" y="39862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TextBox 653"/>
          <p:cNvSpPr txBox="1"/>
          <p:nvPr/>
        </p:nvSpPr>
        <p:spPr>
          <a:xfrm>
            <a:off x="635040" y="4898160"/>
            <a:ext cx="2625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predict the driving force on the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TextBox 654"/>
          <p:cNvSpPr txBox="1"/>
          <p:nvPr/>
        </p:nvSpPr>
        <p:spPr>
          <a:xfrm>
            <a:off x="4529160" y="397296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5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TextBox 655"/>
          <p:cNvSpPr txBox="1"/>
          <p:nvPr/>
        </p:nvSpPr>
        <p:spPr>
          <a:xfrm>
            <a:off x="3977640" y="4406400"/>
            <a:ext cx="18874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Coupled Driving Force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TextBox 656"/>
          <p:cNvSpPr txBox="1"/>
          <p:nvPr/>
        </p:nvSpPr>
        <p:spPr>
          <a:xfrm>
            <a:off x="3977640" y="4697640"/>
            <a:ext cx="258564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Repeat procedure after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 adding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 ﬁrst equation of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TextBox 657"/>
          <p:cNvSpPr txBox="1"/>
          <p:nvPr/>
        </p:nvSpPr>
        <p:spPr>
          <a:xfrm>
            <a:off x="3977640" y="4898160"/>
            <a:ext cx="161743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Motion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. Now 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the constructed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Freeform 658"/>
          <p:cNvSpPr/>
          <p:nvPr/>
        </p:nvSpPr>
        <p:spPr>
          <a:xfrm>
            <a:off x="7169760" y="3727080"/>
            <a:ext cx="3058920" cy="1688400"/>
          </a:xfrm>
          <a:custGeom>
            <a:avLst/>
            <a:gdLst/>
            <a:ahLst/>
            <a:cxnLst/>
            <a:rect l="0" t="0" r="r" b="b"/>
            <a:pathLst>
              <a:path w="8497" h="4690">
                <a:moveTo>
                  <a:pt x="0" y="450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5"/>
                  <a:pt x="11" y="114"/>
                </a:cubicBezTo>
                <a:cubicBezTo>
                  <a:pt x="14" y="103"/>
                  <a:pt x="19" y="92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5"/>
                  <a:pt x="55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5"/>
                  <a:pt x="112" y="3"/>
                </a:cubicBezTo>
                <a:cubicBezTo>
                  <a:pt x="121" y="1"/>
                  <a:pt x="130" y="0"/>
                  <a:pt x="140" y="0"/>
                </a:cubicBezTo>
                <a:lnTo>
                  <a:pt x="8312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5"/>
                  <a:pt x="8371" y="9"/>
                  <a:pt x="8383" y="14"/>
                </a:cubicBezTo>
                <a:cubicBezTo>
                  <a:pt x="8394" y="18"/>
                  <a:pt x="8405" y="24"/>
                  <a:pt x="8415" y="31"/>
                </a:cubicBezTo>
                <a:cubicBezTo>
                  <a:pt x="8425" y="38"/>
                  <a:pt x="8434" y="45"/>
                  <a:pt x="8443" y="54"/>
                </a:cubicBezTo>
                <a:cubicBezTo>
                  <a:pt x="8452" y="63"/>
                  <a:pt x="8459" y="72"/>
                  <a:pt x="8466" y="82"/>
                </a:cubicBezTo>
                <a:cubicBezTo>
                  <a:pt x="8473" y="92"/>
                  <a:pt x="8478" y="103"/>
                  <a:pt x="8483" y="114"/>
                </a:cubicBezTo>
                <a:cubicBezTo>
                  <a:pt x="8488" y="125"/>
                  <a:pt x="8491" y="137"/>
                  <a:pt x="8494" y="149"/>
                </a:cubicBezTo>
                <a:cubicBezTo>
                  <a:pt x="8496" y="161"/>
                  <a:pt x="8497" y="173"/>
                  <a:pt x="8497" y="185"/>
                </a:cubicBezTo>
                <a:lnTo>
                  <a:pt x="8497" y="4504"/>
                </a:lnTo>
                <a:cubicBezTo>
                  <a:pt x="8497" y="4516"/>
                  <a:pt x="8496" y="4528"/>
                  <a:pt x="8494" y="4540"/>
                </a:cubicBezTo>
                <a:cubicBezTo>
                  <a:pt x="8491" y="4552"/>
                  <a:pt x="8488" y="4564"/>
                  <a:pt x="8483" y="4575"/>
                </a:cubicBezTo>
                <a:cubicBezTo>
                  <a:pt x="8478" y="4586"/>
                  <a:pt x="8473" y="4597"/>
                  <a:pt x="8466" y="4607"/>
                </a:cubicBezTo>
                <a:cubicBezTo>
                  <a:pt x="8459" y="4617"/>
                  <a:pt x="8452" y="4627"/>
                  <a:pt x="8443" y="4635"/>
                </a:cubicBezTo>
                <a:cubicBezTo>
                  <a:pt x="8434" y="4644"/>
                  <a:pt x="8425" y="4651"/>
                  <a:pt x="8415" y="4658"/>
                </a:cubicBezTo>
                <a:cubicBezTo>
                  <a:pt x="8405" y="4665"/>
                  <a:pt x="8394" y="4671"/>
                  <a:pt x="8383" y="4675"/>
                </a:cubicBezTo>
                <a:cubicBezTo>
                  <a:pt x="8371" y="4680"/>
                  <a:pt x="8360" y="4684"/>
                  <a:pt x="8348" y="4686"/>
                </a:cubicBezTo>
                <a:cubicBezTo>
                  <a:pt x="8336" y="4688"/>
                  <a:pt x="8324" y="4690"/>
                  <a:pt x="8312" y="4690"/>
                </a:cubicBezTo>
                <a:lnTo>
                  <a:pt x="140" y="4690"/>
                </a:lnTo>
                <a:cubicBezTo>
                  <a:pt x="130" y="4690"/>
                  <a:pt x="121" y="4688"/>
                  <a:pt x="112" y="4686"/>
                </a:cubicBezTo>
                <a:cubicBezTo>
                  <a:pt x="103" y="4684"/>
                  <a:pt x="95" y="4680"/>
                  <a:pt x="86" y="4675"/>
                </a:cubicBezTo>
                <a:cubicBezTo>
                  <a:pt x="78" y="4671"/>
                  <a:pt x="70" y="4665"/>
                  <a:pt x="62" y="4658"/>
                </a:cubicBezTo>
                <a:cubicBezTo>
                  <a:pt x="55" y="4651"/>
                  <a:pt x="48" y="4644"/>
                  <a:pt x="41" y="4635"/>
                </a:cubicBezTo>
                <a:cubicBezTo>
                  <a:pt x="35" y="4627"/>
                  <a:pt x="29" y="4617"/>
                  <a:pt x="24" y="4607"/>
                </a:cubicBezTo>
                <a:cubicBezTo>
                  <a:pt x="19" y="4597"/>
                  <a:pt x="14" y="4586"/>
                  <a:pt x="11" y="4575"/>
                </a:cubicBezTo>
                <a:cubicBezTo>
                  <a:pt x="7" y="4564"/>
                  <a:pt x="5" y="4552"/>
                  <a:pt x="3" y="4540"/>
                </a:cubicBezTo>
                <a:cubicBezTo>
                  <a:pt x="1" y="4528"/>
                  <a:pt x="0" y="4516"/>
                  <a:pt x="0" y="45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Freeform 659"/>
          <p:cNvSpPr/>
          <p:nvPr/>
        </p:nvSpPr>
        <p:spPr>
          <a:xfrm>
            <a:off x="7153200" y="3727080"/>
            <a:ext cx="67320" cy="1688400"/>
          </a:xfrm>
          <a:custGeom>
            <a:avLst/>
            <a:gdLst/>
            <a:ahLst/>
            <a:cxnLst/>
            <a:rect l="0" t="0" r="r" b="b"/>
            <a:pathLst>
              <a:path w="187" h="4690">
                <a:moveTo>
                  <a:pt x="0" y="0"/>
                </a:moveTo>
                <a:lnTo>
                  <a:pt x="187" y="0"/>
                </a:lnTo>
                <a:lnTo>
                  <a:pt x="187" y="4690"/>
                </a:lnTo>
                <a:lnTo>
                  <a:pt x="0" y="469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61" name="Picture 660"/>
          <p:cNvPicPr/>
          <p:nvPr/>
        </p:nvPicPr>
        <p:blipFill>
          <a:blip r:embed="rId14"/>
          <a:stretch/>
        </p:blipFill>
        <p:spPr>
          <a:xfrm>
            <a:off x="7320600" y="38606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2" name="Picture 661"/>
          <p:cNvPicPr/>
          <p:nvPr/>
        </p:nvPicPr>
        <p:blipFill>
          <a:blip r:embed="rId15"/>
          <a:stretch/>
        </p:blipFill>
        <p:spPr>
          <a:xfrm>
            <a:off x="7445880" y="39862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TextBox 662"/>
          <p:cNvSpPr txBox="1"/>
          <p:nvPr/>
        </p:nvSpPr>
        <p:spPr>
          <a:xfrm>
            <a:off x="3971152" y="5098680"/>
            <a:ext cx="2630528" cy="3231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driving force is a function of both mode position</a:t>
            </a:r>
          </a:p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and angular position. 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TextBox 663"/>
          <p:cNvSpPr txBox="1"/>
          <p:nvPr/>
        </p:nvSpPr>
        <p:spPr>
          <a:xfrm>
            <a:off x="7872120" y="3972960"/>
            <a:ext cx="610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6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TextBox 664"/>
          <p:cNvSpPr txBox="1"/>
          <p:nvPr/>
        </p:nvSpPr>
        <p:spPr>
          <a:xfrm>
            <a:off x="7320600" y="4406400"/>
            <a:ext cx="2343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Experimental Data Analysis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TextBox 665"/>
          <p:cNvSpPr txBox="1"/>
          <p:nvPr/>
        </p:nvSpPr>
        <p:spPr>
          <a:xfrm>
            <a:off x="7320600" y="4697640"/>
            <a:ext cx="2541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Obtain actual experimental data from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TextBox 666"/>
          <p:cNvSpPr txBox="1"/>
          <p:nvPr/>
        </p:nvSpPr>
        <p:spPr>
          <a:xfrm>
            <a:off x="7320600" y="4898160"/>
            <a:ext cx="2174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collaborators and use it with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8" name="Picture 667"/>
          <p:cNvPicPr/>
          <p:nvPr/>
        </p:nvPicPr>
        <p:blipFill>
          <a:blip r:embed="rId16"/>
          <a:stretch/>
        </p:blipFill>
        <p:spPr>
          <a:xfrm>
            <a:off x="3426120" y="1980360"/>
            <a:ext cx="1336680" cy="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9" name="Picture 668"/>
          <p:cNvPicPr/>
          <p:nvPr/>
        </p:nvPicPr>
        <p:blipFill>
          <a:blip r:embed="rId17"/>
          <a:stretch/>
        </p:blipFill>
        <p:spPr>
          <a:xfrm>
            <a:off x="6601680" y="1980360"/>
            <a:ext cx="1336680" cy="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0" name="Picture 669"/>
          <p:cNvPicPr/>
          <p:nvPr/>
        </p:nvPicPr>
        <p:blipFill>
          <a:blip r:embed="rId18"/>
          <a:stretch/>
        </p:blipFill>
        <p:spPr>
          <a:xfrm>
            <a:off x="5239800" y="2899800"/>
            <a:ext cx="21708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1" name="Picture 670"/>
          <p:cNvPicPr/>
          <p:nvPr/>
        </p:nvPicPr>
        <p:blipFill>
          <a:blip r:embed="rId19"/>
          <a:stretch/>
        </p:blipFill>
        <p:spPr>
          <a:xfrm>
            <a:off x="3426120" y="3818880"/>
            <a:ext cx="1336680" cy="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2" name="Picture 671"/>
          <p:cNvPicPr/>
          <p:nvPr/>
        </p:nvPicPr>
        <p:blipFill>
          <a:blip r:embed="rId20"/>
          <a:stretch/>
        </p:blipFill>
        <p:spPr>
          <a:xfrm>
            <a:off x="6601680" y="3818880"/>
            <a:ext cx="1336680" cy="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3" name="Picture 672"/>
          <p:cNvPicPr/>
          <p:nvPr/>
        </p:nvPicPr>
        <p:blipFill>
          <a:blip r:embed="rId21"/>
          <a:stretch/>
        </p:blipFill>
        <p:spPr>
          <a:xfrm>
            <a:off x="7833" y="5636700"/>
            <a:ext cx="5759640" cy="40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4" name="TextBox 673"/>
          <p:cNvSpPr txBox="1"/>
          <p:nvPr/>
        </p:nvSpPr>
        <p:spPr>
          <a:xfrm>
            <a:off x="7320600" y="5098680"/>
            <a:ext cx="15084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developed 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Neural Network.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TextBox 674"/>
          <p:cNvSpPr txBox="1"/>
          <p:nvPr/>
        </p:nvSpPr>
        <p:spPr>
          <a:xfrm>
            <a:off x="119340" y="5785380"/>
            <a:ext cx="5237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Goal: Identify missing physics equations based on experimental data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TextBox 675"/>
          <p:cNvSpPr txBox="1"/>
          <p:nvPr/>
        </p:nvSpPr>
        <p:spPr>
          <a:xfrm>
            <a:off x="10025640" y="644436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13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Picture 676"/>
          <p:cNvPicPr/>
          <p:nvPr/>
        </p:nvPicPr>
        <p:blipFill>
          <a:blip r:embed="rId2"/>
          <a:stretch/>
        </p:blipFill>
        <p:spPr>
          <a:xfrm>
            <a:off x="12091" y="305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8" name="Picture 677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Freeform 678"/>
          <p:cNvSpPr/>
          <p:nvPr/>
        </p:nvSpPr>
        <p:spPr>
          <a:xfrm>
            <a:off x="284040" y="3977640"/>
            <a:ext cx="10145160" cy="1236960"/>
          </a:xfrm>
          <a:custGeom>
            <a:avLst/>
            <a:gdLst/>
            <a:ahLst/>
            <a:cxnLst/>
            <a:rect l="0" t="0" r="r" b="b"/>
            <a:pathLst>
              <a:path w="28181" h="3436">
                <a:moveTo>
                  <a:pt x="0" y="3251"/>
                </a:moveTo>
                <a:lnTo>
                  <a:pt x="0" y="186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1"/>
                  <a:pt x="28032" y="3"/>
                </a:cubicBezTo>
                <a:cubicBezTo>
                  <a:pt x="28044" y="6"/>
                  <a:pt x="28055" y="9"/>
                  <a:pt x="28067" y="14"/>
                </a:cubicBezTo>
                <a:cubicBezTo>
                  <a:pt x="28078" y="19"/>
                  <a:pt x="28089" y="24"/>
                  <a:pt x="28099" y="31"/>
                </a:cubicBezTo>
                <a:cubicBezTo>
                  <a:pt x="28109" y="38"/>
                  <a:pt x="28118" y="46"/>
                  <a:pt x="28127" y="54"/>
                </a:cubicBezTo>
                <a:cubicBezTo>
                  <a:pt x="28136" y="63"/>
                  <a:pt x="28143" y="72"/>
                  <a:pt x="28150" y="82"/>
                </a:cubicBezTo>
                <a:cubicBezTo>
                  <a:pt x="28157" y="93"/>
                  <a:pt x="28163" y="103"/>
                  <a:pt x="28167" y="115"/>
                </a:cubicBezTo>
                <a:cubicBezTo>
                  <a:pt x="28172" y="126"/>
                  <a:pt x="28175" y="137"/>
                  <a:pt x="28178" y="149"/>
                </a:cubicBezTo>
                <a:cubicBezTo>
                  <a:pt x="28180" y="161"/>
                  <a:pt x="28181" y="173"/>
                  <a:pt x="28181" y="186"/>
                </a:cubicBezTo>
                <a:lnTo>
                  <a:pt x="28181" y="3251"/>
                </a:lnTo>
                <a:cubicBezTo>
                  <a:pt x="28181" y="3263"/>
                  <a:pt x="28180" y="3275"/>
                  <a:pt x="28178" y="3287"/>
                </a:cubicBezTo>
                <a:cubicBezTo>
                  <a:pt x="28175" y="3299"/>
                  <a:pt x="28172" y="3311"/>
                  <a:pt x="28167" y="3322"/>
                </a:cubicBezTo>
                <a:cubicBezTo>
                  <a:pt x="28163" y="3333"/>
                  <a:pt x="28157" y="3344"/>
                  <a:pt x="28150" y="3354"/>
                </a:cubicBezTo>
                <a:cubicBezTo>
                  <a:pt x="28143" y="3364"/>
                  <a:pt x="28136" y="3373"/>
                  <a:pt x="28127" y="3382"/>
                </a:cubicBezTo>
                <a:cubicBezTo>
                  <a:pt x="28118" y="3391"/>
                  <a:pt x="28109" y="3398"/>
                  <a:pt x="28099" y="3405"/>
                </a:cubicBezTo>
                <a:cubicBezTo>
                  <a:pt x="28089" y="3412"/>
                  <a:pt x="28078" y="3418"/>
                  <a:pt x="28067" y="3422"/>
                </a:cubicBezTo>
                <a:cubicBezTo>
                  <a:pt x="28055" y="3427"/>
                  <a:pt x="28044" y="3430"/>
                  <a:pt x="28032" y="3433"/>
                </a:cubicBezTo>
                <a:cubicBezTo>
                  <a:pt x="28020" y="3435"/>
                  <a:pt x="28008" y="3436"/>
                  <a:pt x="27996" y="3436"/>
                </a:cubicBezTo>
                <a:lnTo>
                  <a:pt x="139" y="3436"/>
                </a:lnTo>
                <a:cubicBezTo>
                  <a:pt x="130" y="3436"/>
                  <a:pt x="121" y="3435"/>
                  <a:pt x="112" y="3433"/>
                </a:cubicBezTo>
                <a:cubicBezTo>
                  <a:pt x="103" y="3430"/>
                  <a:pt x="94" y="3427"/>
                  <a:pt x="86" y="3422"/>
                </a:cubicBezTo>
                <a:cubicBezTo>
                  <a:pt x="77" y="3418"/>
                  <a:pt x="69" y="3412"/>
                  <a:pt x="62" y="3405"/>
                </a:cubicBezTo>
                <a:cubicBezTo>
                  <a:pt x="54" y="3398"/>
                  <a:pt x="47" y="3391"/>
                  <a:pt x="41" y="3382"/>
                </a:cubicBezTo>
                <a:cubicBezTo>
                  <a:pt x="34" y="3373"/>
                  <a:pt x="28" y="3364"/>
                  <a:pt x="23" y="3354"/>
                </a:cubicBezTo>
                <a:cubicBezTo>
                  <a:pt x="18" y="3344"/>
                  <a:pt x="14" y="3333"/>
                  <a:pt x="10" y="3322"/>
                </a:cubicBezTo>
                <a:cubicBezTo>
                  <a:pt x="7" y="3311"/>
                  <a:pt x="4" y="3299"/>
                  <a:pt x="2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Freeform 679"/>
          <p:cNvSpPr/>
          <p:nvPr/>
        </p:nvSpPr>
        <p:spPr>
          <a:xfrm>
            <a:off x="267120" y="3977640"/>
            <a:ext cx="67320" cy="1236960"/>
          </a:xfrm>
          <a:custGeom>
            <a:avLst/>
            <a:gdLst/>
            <a:ahLst/>
            <a:cxnLst/>
            <a:rect l="0" t="0" r="r" b="b"/>
            <a:pathLst>
              <a:path w="187" h="3436">
                <a:moveTo>
                  <a:pt x="0" y="0"/>
                </a:moveTo>
                <a:lnTo>
                  <a:pt x="187" y="0"/>
                </a:lnTo>
                <a:lnTo>
                  <a:pt x="187" y="3436"/>
                </a:lnTo>
                <a:lnTo>
                  <a:pt x="0" y="3436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TextBox 680"/>
          <p:cNvSpPr txBox="1"/>
          <p:nvPr/>
        </p:nvSpPr>
        <p:spPr>
          <a:xfrm>
            <a:off x="334440" y="135000"/>
            <a:ext cx="4563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Step 1: Script Conversion to JAX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Freeform 681"/>
          <p:cNvSpPr/>
          <p:nvPr/>
        </p:nvSpPr>
        <p:spPr>
          <a:xfrm>
            <a:off x="284040" y="1270080"/>
            <a:ext cx="4220280" cy="1203840"/>
          </a:xfrm>
          <a:custGeom>
            <a:avLst/>
            <a:gdLst/>
            <a:ahLst/>
            <a:cxnLst/>
            <a:rect l="0" t="0" r="r" b="b"/>
            <a:pathLst>
              <a:path w="11723" h="3344">
                <a:moveTo>
                  <a:pt x="0" y="3158"/>
                </a:moveTo>
                <a:lnTo>
                  <a:pt x="0" y="186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1538" y="0"/>
                </a:lnTo>
                <a:cubicBezTo>
                  <a:pt x="11550" y="0"/>
                  <a:pt x="11562" y="1"/>
                  <a:pt x="11574" y="3"/>
                </a:cubicBezTo>
                <a:cubicBezTo>
                  <a:pt x="11586" y="6"/>
                  <a:pt x="11597" y="9"/>
                  <a:pt x="11609" y="14"/>
                </a:cubicBezTo>
                <a:cubicBezTo>
                  <a:pt x="11620" y="19"/>
                  <a:pt x="11631" y="24"/>
                  <a:pt x="11641" y="31"/>
                </a:cubicBezTo>
                <a:cubicBezTo>
                  <a:pt x="11651" y="38"/>
                  <a:pt x="11660" y="46"/>
                  <a:pt x="11669" y="54"/>
                </a:cubicBezTo>
                <a:cubicBezTo>
                  <a:pt x="11678" y="63"/>
                  <a:pt x="11685" y="72"/>
                  <a:pt x="11692" y="82"/>
                </a:cubicBezTo>
                <a:cubicBezTo>
                  <a:pt x="11699" y="93"/>
                  <a:pt x="11705" y="103"/>
                  <a:pt x="11709" y="115"/>
                </a:cubicBezTo>
                <a:cubicBezTo>
                  <a:pt x="11714" y="126"/>
                  <a:pt x="11717" y="137"/>
                  <a:pt x="11720" y="149"/>
                </a:cubicBezTo>
                <a:cubicBezTo>
                  <a:pt x="11722" y="161"/>
                  <a:pt x="11723" y="173"/>
                  <a:pt x="11723" y="186"/>
                </a:cubicBezTo>
                <a:lnTo>
                  <a:pt x="11723" y="3158"/>
                </a:lnTo>
                <a:cubicBezTo>
                  <a:pt x="11723" y="3170"/>
                  <a:pt x="11722" y="3182"/>
                  <a:pt x="11720" y="3194"/>
                </a:cubicBezTo>
                <a:cubicBezTo>
                  <a:pt x="11717" y="3206"/>
                  <a:pt x="11714" y="3218"/>
                  <a:pt x="11709" y="3229"/>
                </a:cubicBezTo>
                <a:cubicBezTo>
                  <a:pt x="11705" y="3240"/>
                  <a:pt x="11699" y="3251"/>
                  <a:pt x="11692" y="3261"/>
                </a:cubicBezTo>
                <a:cubicBezTo>
                  <a:pt x="11685" y="3271"/>
                  <a:pt x="11678" y="3281"/>
                  <a:pt x="11669" y="3289"/>
                </a:cubicBezTo>
                <a:cubicBezTo>
                  <a:pt x="11660" y="3298"/>
                  <a:pt x="11651" y="3305"/>
                  <a:pt x="11641" y="3312"/>
                </a:cubicBezTo>
                <a:cubicBezTo>
                  <a:pt x="11631" y="3319"/>
                  <a:pt x="11620" y="3325"/>
                  <a:pt x="11609" y="3329"/>
                </a:cubicBezTo>
                <a:cubicBezTo>
                  <a:pt x="11597" y="3334"/>
                  <a:pt x="11586" y="3338"/>
                  <a:pt x="11574" y="3340"/>
                </a:cubicBezTo>
                <a:cubicBezTo>
                  <a:pt x="11562" y="3342"/>
                  <a:pt x="11550" y="3344"/>
                  <a:pt x="11538" y="3344"/>
                </a:cubicBezTo>
                <a:lnTo>
                  <a:pt x="139" y="3344"/>
                </a:lnTo>
                <a:cubicBezTo>
                  <a:pt x="130" y="3344"/>
                  <a:pt x="121" y="3342"/>
                  <a:pt x="112" y="3340"/>
                </a:cubicBezTo>
                <a:cubicBezTo>
                  <a:pt x="103" y="3338"/>
                  <a:pt x="94" y="3334"/>
                  <a:pt x="86" y="3329"/>
                </a:cubicBezTo>
                <a:cubicBezTo>
                  <a:pt x="77" y="3325"/>
                  <a:pt x="69" y="3319"/>
                  <a:pt x="62" y="3312"/>
                </a:cubicBezTo>
                <a:cubicBezTo>
                  <a:pt x="54" y="3305"/>
                  <a:pt x="47" y="3298"/>
                  <a:pt x="41" y="3289"/>
                </a:cubicBezTo>
                <a:cubicBezTo>
                  <a:pt x="34" y="3281"/>
                  <a:pt x="28" y="3271"/>
                  <a:pt x="23" y="3261"/>
                </a:cubicBezTo>
                <a:cubicBezTo>
                  <a:pt x="18" y="3251"/>
                  <a:pt x="14" y="3240"/>
                  <a:pt x="10" y="3229"/>
                </a:cubicBezTo>
                <a:cubicBezTo>
                  <a:pt x="7" y="3218"/>
                  <a:pt x="4" y="3206"/>
                  <a:pt x="2" y="3194"/>
                </a:cubicBezTo>
                <a:cubicBezTo>
                  <a:pt x="1" y="3182"/>
                  <a:pt x="0" y="3170"/>
                  <a:pt x="0" y="31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Freeform 682"/>
          <p:cNvSpPr/>
          <p:nvPr/>
        </p:nvSpPr>
        <p:spPr>
          <a:xfrm>
            <a:off x="267120" y="1270080"/>
            <a:ext cx="67320" cy="1203840"/>
          </a:xfrm>
          <a:custGeom>
            <a:avLst/>
            <a:gdLst/>
            <a:ahLst/>
            <a:cxnLst/>
            <a:rect l="0" t="0" r="r" b="b"/>
            <a:pathLst>
              <a:path w="187" h="3344">
                <a:moveTo>
                  <a:pt x="0" y="0"/>
                </a:moveTo>
                <a:lnTo>
                  <a:pt x="187" y="0"/>
                </a:lnTo>
                <a:lnTo>
                  <a:pt x="187" y="3344"/>
                </a:lnTo>
                <a:lnTo>
                  <a:pt x="0" y="3344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Freeform 684"/>
          <p:cNvSpPr/>
          <p:nvPr/>
        </p:nvSpPr>
        <p:spPr>
          <a:xfrm>
            <a:off x="434520" y="1403640"/>
            <a:ext cx="234360" cy="267840"/>
          </a:xfrm>
          <a:custGeom>
            <a:avLst/>
            <a:gdLst/>
            <a:ahLst/>
            <a:cxnLst/>
            <a:rect l="0" t="0" r="r" b="b"/>
            <a:pathLst>
              <a:path w="651" h="744">
                <a:moveTo>
                  <a:pt x="0" y="419"/>
                </a:moveTo>
                <a:lnTo>
                  <a:pt x="0" y="326"/>
                </a:lnTo>
                <a:cubicBezTo>
                  <a:pt x="0" y="305"/>
                  <a:pt x="2" y="284"/>
                  <a:pt x="6" y="263"/>
                </a:cubicBezTo>
                <a:cubicBezTo>
                  <a:pt x="10" y="242"/>
                  <a:pt x="16" y="222"/>
                  <a:pt x="24" y="202"/>
                </a:cubicBezTo>
                <a:cubicBezTo>
                  <a:pt x="32" y="181"/>
                  <a:pt x="42" y="162"/>
                  <a:pt x="54" y="145"/>
                </a:cubicBezTo>
                <a:cubicBezTo>
                  <a:pt x="66" y="127"/>
                  <a:pt x="80" y="111"/>
                  <a:pt x="95" y="95"/>
                </a:cubicBezTo>
                <a:cubicBezTo>
                  <a:pt x="110" y="80"/>
                  <a:pt x="126" y="67"/>
                  <a:pt x="144" y="55"/>
                </a:cubicBezTo>
                <a:cubicBezTo>
                  <a:pt x="162" y="43"/>
                  <a:pt x="180" y="33"/>
                  <a:pt x="200" y="25"/>
                </a:cubicBezTo>
                <a:cubicBezTo>
                  <a:pt x="220" y="17"/>
                  <a:pt x="240" y="11"/>
                  <a:pt x="261" y="7"/>
                </a:cubicBezTo>
                <a:cubicBezTo>
                  <a:pt x="282" y="2"/>
                  <a:pt x="303" y="0"/>
                  <a:pt x="325" y="0"/>
                </a:cubicBezTo>
                <a:cubicBezTo>
                  <a:pt x="346" y="0"/>
                  <a:pt x="367" y="2"/>
                  <a:pt x="388" y="7"/>
                </a:cubicBezTo>
                <a:cubicBezTo>
                  <a:pt x="409" y="11"/>
                  <a:pt x="430" y="17"/>
                  <a:pt x="450" y="25"/>
                </a:cubicBezTo>
                <a:cubicBezTo>
                  <a:pt x="470" y="33"/>
                  <a:pt x="488" y="43"/>
                  <a:pt x="506" y="55"/>
                </a:cubicBezTo>
                <a:cubicBezTo>
                  <a:pt x="524" y="67"/>
                  <a:pt x="540" y="80"/>
                  <a:pt x="555" y="95"/>
                </a:cubicBezTo>
                <a:cubicBezTo>
                  <a:pt x="570" y="111"/>
                  <a:pt x="584" y="127"/>
                  <a:pt x="596" y="145"/>
                </a:cubicBezTo>
                <a:cubicBezTo>
                  <a:pt x="608" y="162"/>
                  <a:pt x="618" y="181"/>
                  <a:pt x="626" y="202"/>
                </a:cubicBezTo>
                <a:cubicBezTo>
                  <a:pt x="634" y="222"/>
                  <a:pt x="640" y="242"/>
                  <a:pt x="644" y="263"/>
                </a:cubicBezTo>
                <a:cubicBezTo>
                  <a:pt x="648" y="284"/>
                  <a:pt x="651" y="305"/>
                  <a:pt x="651" y="326"/>
                </a:cubicBezTo>
                <a:lnTo>
                  <a:pt x="651" y="419"/>
                </a:lnTo>
                <a:cubicBezTo>
                  <a:pt x="651" y="440"/>
                  <a:pt x="648" y="462"/>
                  <a:pt x="644" y="483"/>
                </a:cubicBezTo>
                <a:cubicBezTo>
                  <a:pt x="640" y="503"/>
                  <a:pt x="634" y="524"/>
                  <a:pt x="626" y="543"/>
                </a:cubicBezTo>
                <a:cubicBezTo>
                  <a:pt x="618" y="563"/>
                  <a:pt x="608" y="582"/>
                  <a:pt x="596" y="600"/>
                </a:cubicBezTo>
                <a:cubicBezTo>
                  <a:pt x="584" y="617"/>
                  <a:pt x="570" y="634"/>
                  <a:pt x="555" y="649"/>
                </a:cubicBezTo>
                <a:cubicBezTo>
                  <a:pt x="540" y="664"/>
                  <a:pt x="524" y="677"/>
                  <a:pt x="506" y="689"/>
                </a:cubicBezTo>
                <a:cubicBezTo>
                  <a:pt x="488" y="701"/>
                  <a:pt x="470" y="711"/>
                  <a:pt x="450" y="719"/>
                </a:cubicBezTo>
                <a:cubicBezTo>
                  <a:pt x="430" y="728"/>
                  <a:pt x="409" y="734"/>
                  <a:pt x="388" y="738"/>
                </a:cubicBezTo>
                <a:cubicBezTo>
                  <a:pt x="367" y="742"/>
                  <a:pt x="346" y="744"/>
                  <a:pt x="325" y="744"/>
                </a:cubicBezTo>
                <a:cubicBezTo>
                  <a:pt x="303" y="744"/>
                  <a:pt x="282" y="742"/>
                  <a:pt x="261" y="738"/>
                </a:cubicBezTo>
                <a:cubicBezTo>
                  <a:pt x="240" y="734"/>
                  <a:pt x="220" y="728"/>
                  <a:pt x="200" y="719"/>
                </a:cubicBezTo>
                <a:cubicBezTo>
                  <a:pt x="180" y="711"/>
                  <a:pt x="162" y="701"/>
                  <a:pt x="144" y="689"/>
                </a:cubicBezTo>
                <a:cubicBezTo>
                  <a:pt x="126" y="677"/>
                  <a:pt x="110" y="664"/>
                  <a:pt x="95" y="649"/>
                </a:cubicBezTo>
                <a:cubicBezTo>
                  <a:pt x="80" y="634"/>
                  <a:pt x="66" y="617"/>
                  <a:pt x="54" y="600"/>
                </a:cubicBezTo>
                <a:cubicBezTo>
                  <a:pt x="42" y="582"/>
                  <a:pt x="32" y="563"/>
                  <a:pt x="24" y="543"/>
                </a:cubicBezTo>
                <a:cubicBezTo>
                  <a:pt x="16" y="524"/>
                  <a:pt x="10" y="503"/>
                  <a:pt x="6" y="483"/>
                </a:cubicBezTo>
                <a:cubicBezTo>
                  <a:pt x="2" y="462"/>
                  <a:pt x="0" y="440"/>
                  <a:pt x="0" y="419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6" name="Picture 685"/>
          <p:cNvPicPr/>
          <p:nvPr/>
        </p:nvPicPr>
        <p:blipFill>
          <a:blip r:embed="rId4"/>
          <a:stretch/>
        </p:blipFill>
        <p:spPr>
          <a:xfrm>
            <a:off x="501480" y="147060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7" name="TextBox 686"/>
          <p:cNvSpPr txBox="1"/>
          <p:nvPr/>
        </p:nvSpPr>
        <p:spPr>
          <a:xfrm>
            <a:off x="267480" y="863280"/>
            <a:ext cx="5005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Convert the Numpy script to JAX for high-performance computing.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Freeform 687"/>
          <p:cNvSpPr/>
          <p:nvPr/>
        </p:nvSpPr>
        <p:spPr>
          <a:xfrm>
            <a:off x="492840" y="1813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4" y="37"/>
                </a:cubicBezTo>
                <a:cubicBezTo>
                  <a:pt x="7" y="29"/>
                  <a:pt x="12" y="23"/>
                  <a:pt x="17" y="18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8" y="7"/>
                  <a:pt x="95" y="12"/>
                  <a:pt x="100" y="18"/>
                </a:cubicBezTo>
                <a:cubicBezTo>
                  <a:pt x="106" y="23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TextBox 688"/>
          <p:cNvSpPr txBox="1"/>
          <p:nvPr/>
        </p:nvSpPr>
        <p:spPr>
          <a:xfrm>
            <a:off x="768960" y="1441080"/>
            <a:ext cx="2091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Original Numpy Script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Freeform 689"/>
          <p:cNvSpPr/>
          <p:nvPr/>
        </p:nvSpPr>
        <p:spPr>
          <a:xfrm>
            <a:off x="492840" y="2013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10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4" y="37"/>
                </a:cubicBezTo>
                <a:cubicBezTo>
                  <a:pt x="7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TextBox 690"/>
          <p:cNvSpPr txBox="1"/>
          <p:nvPr/>
        </p:nvSpPr>
        <p:spPr>
          <a:xfrm>
            <a:off x="635040" y="1756080"/>
            <a:ext cx="1348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Equations of motion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Freeform 691"/>
          <p:cNvSpPr/>
          <p:nvPr/>
        </p:nvSpPr>
        <p:spPr>
          <a:xfrm>
            <a:off x="492840" y="2214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5"/>
                  <a:pt x="88" y="110"/>
                  <a:pt x="80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8" y="7"/>
                  <a:pt x="95" y="12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TextBox 692"/>
          <p:cNvSpPr txBox="1"/>
          <p:nvPr/>
        </p:nvSpPr>
        <p:spPr>
          <a:xfrm>
            <a:off x="635040" y="1956600"/>
            <a:ext cx="743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ODE solver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TextBox 693"/>
          <p:cNvSpPr txBox="1"/>
          <p:nvPr/>
        </p:nvSpPr>
        <p:spPr>
          <a:xfrm>
            <a:off x="635040" y="2157120"/>
            <a:ext cx="1831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Simulation data generation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9" name="Picture 698"/>
          <p:cNvPicPr/>
          <p:nvPr/>
        </p:nvPicPr>
        <p:blipFill>
          <a:blip r:embed="rId5"/>
          <a:stretch/>
        </p:blipFill>
        <p:spPr>
          <a:xfrm>
            <a:off x="4947120" y="2590560"/>
            <a:ext cx="807120" cy="23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0" name="Picture 699"/>
          <p:cNvPicPr/>
          <p:nvPr/>
        </p:nvPicPr>
        <p:blipFill>
          <a:blip r:embed="rId6"/>
          <a:stretch/>
        </p:blipFill>
        <p:spPr>
          <a:xfrm>
            <a:off x="5047560" y="2649240"/>
            <a:ext cx="1000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Freeform 701"/>
          <p:cNvSpPr/>
          <p:nvPr/>
        </p:nvSpPr>
        <p:spPr>
          <a:xfrm>
            <a:off x="6208920" y="1270080"/>
            <a:ext cx="4220280" cy="1203840"/>
          </a:xfrm>
          <a:custGeom>
            <a:avLst/>
            <a:gdLst/>
            <a:ahLst/>
            <a:cxnLst/>
            <a:rect l="0" t="0" r="r" b="b"/>
            <a:pathLst>
              <a:path w="11723" h="3344">
                <a:moveTo>
                  <a:pt x="0" y="3158"/>
                </a:moveTo>
                <a:lnTo>
                  <a:pt x="0" y="186"/>
                </a:lnTo>
                <a:cubicBezTo>
                  <a:pt x="0" y="173"/>
                  <a:pt x="1" y="161"/>
                  <a:pt x="2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1538" y="0"/>
                </a:lnTo>
                <a:cubicBezTo>
                  <a:pt x="11550" y="0"/>
                  <a:pt x="11562" y="1"/>
                  <a:pt x="11574" y="3"/>
                </a:cubicBezTo>
                <a:cubicBezTo>
                  <a:pt x="11586" y="6"/>
                  <a:pt x="11597" y="9"/>
                  <a:pt x="11609" y="14"/>
                </a:cubicBezTo>
                <a:cubicBezTo>
                  <a:pt x="11620" y="19"/>
                  <a:pt x="11631" y="24"/>
                  <a:pt x="11641" y="31"/>
                </a:cubicBezTo>
                <a:cubicBezTo>
                  <a:pt x="11651" y="38"/>
                  <a:pt x="11660" y="46"/>
                  <a:pt x="11669" y="54"/>
                </a:cubicBezTo>
                <a:cubicBezTo>
                  <a:pt x="11678" y="63"/>
                  <a:pt x="11685" y="72"/>
                  <a:pt x="11692" y="82"/>
                </a:cubicBezTo>
                <a:cubicBezTo>
                  <a:pt x="11699" y="93"/>
                  <a:pt x="11705" y="103"/>
                  <a:pt x="11709" y="115"/>
                </a:cubicBezTo>
                <a:cubicBezTo>
                  <a:pt x="11714" y="126"/>
                  <a:pt x="11717" y="137"/>
                  <a:pt x="11720" y="149"/>
                </a:cubicBezTo>
                <a:cubicBezTo>
                  <a:pt x="11722" y="161"/>
                  <a:pt x="11723" y="173"/>
                  <a:pt x="11723" y="186"/>
                </a:cubicBezTo>
                <a:lnTo>
                  <a:pt x="11723" y="3158"/>
                </a:lnTo>
                <a:cubicBezTo>
                  <a:pt x="11723" y="3170"/>
                  <a:pt x="11722" y="3182"/>
                  <a:pt x="11720" y="3194"/>
                </a:cubicBezTo>
                <a:cubicBezTo>
                  <a:pt x="11717" y="3206"/>
                  <a:pt x="11714" y="3218"/>
                  <a:pt x="11709" y="3229"/>
                </a:cubicBezTo>
                <a:cubicBezTo>
                  <a:pt x="11705" y="3240"/>
                  <a:pt x="11699" y="3251"/>
                  <a:pt x="11692" y="3261"/>
                </a:cubicBezTo>
                <a:cubicBezTo>
                  <a:pt x="11685" y="3271"/>
                  <a:pt x="11678" y="3281"/>
                  <a:pt x="11669" y="3289"/>
                </a:cubicBezTo>
                <a:cubicBezTo>
                  <a:pt x="11660" y="3298"/>
                  <a:pt x="11651" y="3305"/>
                  <a:pt x="11641" y="3312"/>
                </a:cubicBezTo>
                <a:cubicBezTo>
                  <a:pt x="11631" y="3319"/>
                  <a:pt x="11620" y="3325"/>
                  <a:pt x="11609" y="3329"/>
                </a:cubicBezTo>
                <a:cubicBezTo>
                  <a:pt x="11597" y="3334"/>
                  <a:pt x="11586" y="3338"/>
                  <a:pt x="11574" y="3340"/>
                </a:cubicBezTo>
                <a:cubicBezTo>
                  <a:pt x="11562" y="3342"/>
                  <a:pt x="11550" y="3344"/>
                  <a:pt x="11538" y="3344"/>
                </a:cubicBezTo>
                <a:lnTo>
                  <a:pt x="139" y="3344"/>
                </a:lnTo>
                <a:cubicBezTo>
                  <a:pt x="130" y="3344"/>
                  <a:pt x="121" y="3342"/>
                  <a:pt x="112" y="3340"/>
                </a:cubicBezTo>
                <a:cubicBezTo>
                  <a:pt x="103" y="3338"/>
                  <a:pt x="94" y="3334"/>
                  <a:pt x="86" y="3329"/>
                </a:cubicBezTo>
                <a:cubicBezTo>
                  <a:pt x="77" y="3325"/>
                  <a:pt x="69" y="3319"/>
                  <a:pt x="62" y="3312"/>
                </a:cubicBezTo>
                <a:cubicBezTo>
                  <a:pt x="54" y="3305"/>
                  <a:pt x="47" y="3298"/>
                  <a:pt x="41" y="3289"/>
                </a:cubicBezTo>
                <a:cubicBezTo>
                  <a:pt x="34" y="3281"/>
                  <a:pt x="28" y="3271"/>
                  <a:pt x="23" y="3261"/>
                </a:cubicBezTo>
                <a:cubicBezTo>
                  <a:pt x="18" y="3251"/>
                  <a:pt x="14" y="3240"/>
                  <a:pt x="10" y="3229"/>
                </a:cubicBezTo>
                <a:cubicBezTo>
                  <a:pt x="7" y="3218"/>
                  <a:pt x="4" y="3206"/>
                  <a:pt x="2" y="3194"/>
                </a:cubicBezTo>
                <a:cubicBezTo>
                  <a:pt x="1" y="3182"/>
                  <a:pt x="0" y="3170"/>
                  <a:pt x="0" y="31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Freeform 702"/>
          <p:cNvSpPr/>
          <p:nvPr/>
        </p:nvSpPr>
        <p:spPr>
          <a:xfrm>
            <a:off x="6192000" y="1270080"/>
            <a:ext cx="67320" cy="1203840"/>
          </a:xfrm>
          <a:custGeom>
            <a:avLst/>
            <a:gdLst/>
            <a:ahLst/>
            <a:cxnLst/>
            <a:rect l="0" t="0" r="r" b="b"/>
            <a:pathLst>
              <a:path w="187" h="3344">
                <a:moveTo>
                  <a:pt x="0" y="0"/>
                </a:moveTo>
                <a:lnTo>
                  <a:pt x="187" y="0"/>
                </a:lnTo>
                <a:lnTo>
                  <a:pt x="187" y="3344"/>
                </a:lnTo>
                <a:lnTo>
                  <a:pt x="0" y="3344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Freeform 704"/>
          <p:cNvSpPr/>
          <p:nvPr/>
        </p:nvSpPr>
        <p:spPr>
          <a:xfrm>
            <a:off x="6359400" y="1403640"/>
            <a:ext cx="234360" cy="267840"/>
          </a:xfrm>
          <a:custGeom>
            <a:avLst/>
            <a:gdLst/>
            <a:ahLst/>
            <a:cxnLst/>
            <a:rect l="0" t="0" r="r" b="b"/>
            <a:pathLst>
              <a:path w="651" h="744">
                <a:moveTo>
                  <a:pt x="0" y="419"/>
                </a:moveTo>
                <a:lnTo>
                  <a:pt x="0" y="326"/>
                </a:lnTo>
                <a:cubicBezTo>
                  <a:pt x="0" y="305"/>
                  <a:pt x="2" y="284"/>
                  <a:pt x="6" y="263"/>
                </a:cubicBezTo>
                <a:cubicBezTo>
                  <a:pt x="10" y="242"/>
                  <a:pt x="16" y="222"/>
                  <a:pt x="24" y="202"/>
                </a:cubicBezTo>
                <a:cubicBezTo>
                  <a:pt x="33" y="181"/>
                  <a:pt x="43" y="162"/>
                  <a:pt x="54" y="145"/>
                </a:cubicBezTo>
                <a:cubicBezTo>
                  <a:pt x="66" y="127"/>
                  <a:pt x="80" y="111"/>
                  <a:pt x="95" y="95"/>
                </a:cubicBezTo>
                <a:cubicBezTo>
                  <a:pt x="110" y="80"/>
                  <a:pt x="126" y="67"/>
                  <a:pt x="144" y="55"/>
                </a:cubicBezTo>
                <a:cubicBezTo>
                  <a:pt x="162" y="43"/>
                  <a:pt x="181" y="33"/>
                  <a:pt x="201" y="25"/>
                </a:cubicBezTo>
                <a:cubicBezTo>
                  <a:pt x="221" y="17"/>
                  <a:pt x="241" y="11"/>
                  <a:pt x="262" y="7"/>
                </a:cubicBezTo>
                <a:cubicBezTo>
                  <a:pt x="283" y="2"/>
                  <a:pt x="304" y="0"/>
                  <a:pt x="326" y="0"/>
                </a:cubicBezTo>
                <a:cubicBezTo>
                  <a:pt x="347" y="0"/>
                  <a:pt x="368" y="2"/>
                  <a:pt x="389" y="7"/>
                </a:cubicBezTo>
                <a:cubicBezTo>
                  <a:pt x="410" y="11"/>
                  <a:pt x="430" y="17"/>
                  <a:pt x="450" y="25"/>
                </a:cubicBezTo>
                <a:cubicBezTo>
                  <a:pt x="470" y="33"/>
                  <a:pt x="488" y="43"/>
                  <a:pt x="506" y="55"/>
                </a:cubicBezTo>
                <a:cubicBezTo>
                  <a:pt x="524" y="67"/>
                  <a:pt x="540" y="80"/>
                  <a:pt x="555" y="95"/>
                </a:cubicBezTo>
                <a:cubicBezTo>
                  <a:pt x="571" y="111"/>
                  <a:pt x="584" y="127"/>
                  <a:pt x="596" y="145"/>
                </a:cubicBezTo>
                <a:cubicBezTo>
                  <a:pt x="608" y="162"/>
                  <a:pt x="618" y="181"/>
                  <a:pt x="626" y="202"/>
                </a:cubicBezTo>
                <a:cubicBezTo>
                  <a:pt x="634" y="222"/>
                  <a:pt x="640" y="242"/>
                  <a:pt x="644" y="263"/>
                </a:cubicBezTo>
                <a:cubicBezTo>
                  <a:pt x="649" y="284"/>
                  <a:pt x="651" y="305"/>
                  <a:pt x="651" y="326"/>
                </a:cubicBezTo>
                <a:lnTo>
                  <a:pt x="651" y="419"/>
                </a:lnTo>
                <a:cubicBezTo>
                  <a:pt x="651" y="440"/>
                  <a:pt x="649" y="462"/>
                  <a:pt x="644" y="483"/>
                </a:cubicBezTo>
                <a:cubicBezTo>
                  <a:pt x="640" y="503"/>
                  <a:pt x="634" y="524"/>
                  <a:pt x="626" y="543"/>
                </a:cubicBezTo>
                <a:cubicBezTo>
                  <a:pt x="618" y="563"/>
                  <a:pt x="608" y="582"/>
                  <a:pt x="596" y="600"/>
                </a:cubicBezTo>
                <a:cubicBezTo>
                  <a:pt x="584" y="617"/>
                  <a:pt x="571" y="634"/>
                  <a:pt x="555" y="649"/>
                </a:cubicBezTo>
                <a:cubicBezTo>
                  <a:pt x="540" y="664"/>
                  <a:pt x="524" y="677"/>
                  <a:pt x="506" y="689"/>
                </a:cubicBezTo>
                <a:cubicBezTo>
                  <a:pt x="488" y="701"/>
                  <a:pt x="470" y="711"/>
                  <a:pt x="450" y="719"/>
                </a:cubicBezTo>
                <a:cubicBezTo>
                  <a:pt x="430" y="728"/>
                  <a:pt x="410" y="734"/>
                  <a:pt x="389" y="738"/>
                </a:cubicBezTo>
                <a:cubicBezTo>
                  <a:pt x="368" y="742"/>
                  <a:pt x="347" y="744"/>
                  <a:pt x="326" y="744"/>
                </a:cubicBezTo>
                <a:cubicBezTo>
                  <a:pt x="304" y="744"/>
                  <a:pt x="283" y="742"/>
                  <a:pt x="262" y="738"/>
                </a:cubicBezTo>
                <a:cubicBezTo>
                  <a:pt x="241" y="734"/>
                  <a:pt x="221" y="728"/>
                  <a:pt x="201" y="719"/>
                </a:cubicBezTo>
                <a:cubicBezTo>
                  <a:pt x="181" y="711"/>
                  <a:pt x="162" y="701"/>
                  <a:pt x="144" y="689"/>
                </a:cubicBezTo>
                <a:cubicBezTo>
                  <a:pt x="126" y="677"/>
                  <a:pt x="110" y="664"/>
                  <a:pt x="95" y="649"/>
                </a:cubicBezTo>
                <a:cubicBezTo>
                  <a:pt x="80" y="634"/>
                  <a:pt x="66" y="617"/>
                  <a:pt x="54" y="600"/>
                </a:cubicBezTo>
                <a:cubicBezTo>
                  <a:pt x="43" y="582"/>
                  <a:pt x="33" y="563"/>
                  <a:pt x="24" y="543"/>
                </a:cubicBezTo>
                <a:cubicBezTo>
                  <a:pt x="16" y="524"/>
                  <a:pt x="10" y="503"/>
                  <a:pt x="6" y="483"/>
                </a:cubicBezTo>
                <a:cubicBezTo>
                  <a:pt x="2" y="462"/>
                  <a:pt x="0" y="440"/>
                  <a:pt x="0" y="419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6" name="Picture 705"/>
          <p:cNvPicPr/>
          <p:nvPr/>
        </p:nvPicPr>
        <p:blipFill>
          <a:blip r:embed="rId7"/>
          <a:stretch/>
        </p:blipFill>
        <p:spPr>
          <a:xfrm>
            <a:off x="6426360" y="147060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Freeform 707"/>
          <p:cNvSpPr/>
          <p:nvPr/>
        </p:nvSpPr>
        <p:spPr>
          <a:xfrm>
            <a:off x="6417720" y="1813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7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7" y="29"/>
                  <a:pt x="12" y="23"/>
                  <a:pt x="17" y="18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2"/>
                  <a:pt x="100" y="18"/>
                </a:cubicBezTo>
                <a:cubicBezTo>
                  <a:pt x="106" y="23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TextBox 708"/>
          <p:cNvSpPr txBox="1"/>
          <p:nvPr/>
        </p:nvSpPr>
        <p:spPr>
          <a:xfrm>
            <a:off x="6696720" y="1441080"/>
            <a:ext cx="14432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JAX Framework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Freeform 709"/>
          <p:cNvSpPr/>
          <p:nvPr/>
        </p:nvSpPr>
        <p:spPr>
          <a:xfrm>
            <a:off x="6417720" y="2013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10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4"/>
                  <a:pt x="7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7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TextBox 710"/>
          <p:cNvSpPr txBox="1"/>
          <p:nvPr/>
        </p:nvSpPr>
        <p:spPr>
          <a:xfrm>
            <a:off x="6562800" y="1756080"/>
            <a:ext cx="1977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High-performance computing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Freeform 711"/>
          <p:cNvSpPr/>
          <p:nvPr/>
        </p:nvSpPr>
        <p:spPr>
          <a:xfrm>
            <a:off x="6417720" y="2214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4" y="105"/>
                  <a:pt x="87" y="110"/>
                  <a:pt x="80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7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2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TextBox 712"/>
          <p:cNvSpPr txBox="1"/>
          <p:nvPr/>
        </p:nvSpPr>
        <p:spPr>
          <a:xfrm>
            <a:off x="6562800" y="1956600"/>
            <a:ext cx="1309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Auto-diﬀerentiation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TextBox 713"/>
          <p:cNvSpPr txBox="1"/>
          <p:nvPr/>
        </p:nvSpPr>
        <p:spPr>
          <a:xfrm>
            <a:off x="6562800" y="2157120"/>
            <a:ext cx="1147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GPU/TPU support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9" name="Picture 718"/>
          <p:cNvPicPr/>
          <p:nvPr/>
        </p:nvPicPr>
        <p:blipFill>
          <a:blip r:embed="rId8"/>
          <a:stretch/>
        </p:blipFill>
        <p:spPr>
          <a:xfrm>
            <a:off x="468000" y="417852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1" name="Freeform 720"/>
          <p:cNvSpPr/>
          <p:nvPr/>
        </p:nvSpPr>
        <p:spPr>
          <a:xfrm>
            <a:off x="467640" y="4445640"/>
            <a:ext cx="3175920" cy="601920"/>
          </a:xfrm>
          <a:custGeom>
            <a:avLst/>
            <a:gdLst/>
            <a:ahLst/>
            <a:cxnLst/>
            <a:rect l="0" t="0" r="r" b="b"/>
            <a:pathLst>
              <a:path w="8822" h="1672">
                <a:moveTo>
                  <a:pt x="0" y="1579"/>
                </a:moveTo>
                <a:lnTo>
                  <a:pt x="0" y="93"/>
                </a:ln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8730" y="0"/>
                </a:lnTo>
                <a:cubicBezTo>
                  <a:pt x="8742" y="0"/>
                  <a:pt x="8754" y="2"/>
                  <a:pt x="8765" y="7"/>
                </a:cubicBezTo>
                <a:cubicBezTo>
                  <a:pt x="8776" y="12"/>
                  <a:pt x="8786" y="18"/>
                  <a:pt x="8795" y="27"/>
                </a:cubicBezTo>
                <a:cubicBezTo>
                  <a:pt x="8804" y="36"/>
                  <a:pt x="8811" y="46"/>
                  <a:pt x="8815" y="57"/>
                </a:cubicBezTo>
                <a:cubicBezTo>
                  <a:pt x="8820" y="69"/>
                  <a:pt x="8822" y="80"/>
                  <a:pt x="8822" y="93"/>
                </a:cubicBezTo>
                <a:lnTo>
                  <a:pt x="8822" y="1579"/>
                </a:lnTo>
                <a:cubicBezTo>
                  <a:pt x="8822" y="1592"/>
                  <a:pt x="8820" y="1603"/>
                  <a:pt x="8815" y="1615"/>
                </a:cubicBezTo>
                <a:cubicBezTo>
                  <a:pt x="8811" y="1626"/>
                  <a:pt x="8804" y="1636"/>
                  <a:pt x="8795" y="1645"/>
                </a:cubicBezTo>
                <a:cubicBezTo>
                  <a:pt x="8786" y="1654"/>
                  <a:pt x="8776" y="1660"/>
                  <a:pt x="8765" y="1665"/>
                </a:cubicBezTo>
                <a:cubicBezTo>
                  <a:pt x="8754" y="1670"/>
                  <a:pt x="8742" y="1672"/>
                  <a:pt x="8730" y="1672"/>
                </a:cubicBezTo>
                <a:lnTo>
                  <a:pt x="93" y="1672"/>
                </a:lnTo>
                <a:cubicBezTo>
                  <a:pt x="81" y="1672"/>
                  <a:pt x="69" y="1670"/>
                  <a:pt x="58" y="1665"/>
                </a:cubicBezTo>
                <a:cubicBezTo>
                  <a:pt x="46" y="1660"/>
                  <a:pt x="36" y="1654"/>
                  <a:pt x="28" y="1645"/>
                </a:cubicBezTo>
                <a:cubicBezTo>
                  <a:pt x="19" y="1636"/>
                  <a:pt x="12" y="1626"/>
                  <a:pt x="7" y="1615"/>
                </a:cubicBezTo>
                <a:cubicBezTo>
                  <a:pt x="3" y="1603"/>
                  <a:pt x="0" y="1592"/>
                  <a:pt x="0" y="15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2" name="Picture 721"/>
          <p:cNvPicPr/>
          <p:nvPr/>
        </p:nvPicPr>
        <p:blipFill>
          <a:blip r:embed="rId9"/>
          <a:stretch/>
        </p:blipFill>
        <p:spPr>
          <a:xfrm>
            <a:off x="568080" y="45795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3" name="TextBox 722"/>
          <p:cNvSpPr txBox="1"/>
          <p:nvPr/>
        </p:nvSpPr>
        <p:spPr>
          <a:xfrm>
            <a:off x="660240" y="4165200"/>
            <a:ext cx="2620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 Key Conversion Challenges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TextBox 723"/>
          <p:cNvSpPr txBox="1"/>
          <p:nvPr/>
        </p:nvSpPr>
        <p:spPr>
          <a:xfrm>
            <a:off x="768960" y="4564080"/>
            <a:ext cx="1296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Array Operations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Freeform 724"/>
          <p:cNvSpPr/>
          <p:nvPr/>
        </p:nvSpPr>
        <p:spPr>
          <a:xfrm>
            <a:off x="3777120" y="4445640"/>
            <a:ext cx="3175920" cy="601920"/>
          </a:xfrm>
          <a:custGeom>
            <a:avLst/>
            <a:gdLst/>
            <a:ahLst/>
            <a:cxnLst/>
            <a:rect l="0" t="0" r="r" b="b"/>
            <a:pathLst>
              <a:path w="8822" h="1672">
                <a:moveTo>
                  <a:pt x="0" y="1579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lnTo>
                  <a:pt x="8729" y="0"/>
                </a:lnTo>
                <a:cubicBezTo>
                  <a:pt x="8741" y="0"/>
                  <a:pt x="8753" y="2"/>
                  <a:pt x="8764" y="7"/>
                </a:cubicBezTo>
                <a:cubicBezTo>
                  <a:pt x="8776" y="12"/>
                  <a:pt x="8786" y="18"/>
                  <a:pt x="8795" y="27"/>
                </a:cubicBezTo>
                <a:cubicBezTo>
                  <a:pt x="8803" y="36"/>
                  <a:pt x="8810" y="46"/>
                  <a:pt x="8815" y="57"/>
                </a:cubicBezTo>
                <a:cubicBezTo>
                  <a:pt x="8819" y="69"/>
                  <a:pt x="8822" y="80"/>
                  <a:pt x="8822" y="93"/>
                </a:cubicBezTo>
                <a:lnTo>
                  <a:pt x="8822" y="1579"/>
                </a:lnTo>
                <a:cubicBezTo>
                  <a:pt x="8822" y="1592"/>
                  <a:pt x="8819" y="1603"/>
                  <a:pt x="8815" y="1615"/>
                </a:cubicBezTo>
                <a:cubicBezTo>
                  <a:pt x="8810" y="1626"/>
                  <a:pt x="8803" y="1636"/>
                  <a:pt x="8795" y="1645"/>
                </a:cubicBezTo>
                <a:cubicBezTo>
                  <a:pt x="8786" y="1654"/>
                  <a:pt x="8776" y="1660"/>
                  <a:pt x="8764" y="1665"/>
                </a:cubicBezTo>
                <a:cubicBezTo>
                  <a:pt x="8753" y="1670"/>
                  <a:pt x="8741" y="1672"/>
                  <a:pt x="8729" y="1672"/>
                </a:cubicBezTo>
                <a:lnTo>
                  <a:pt x="93" y="1672"/>
                </a:lnTo>
                <a:cubicBezTo>
                  <a:pt x="80" y="1672"/>
                  <a:pt x="68" y="1670"/>
                  <a:pt x="57" y="1665"/>
                </a:cubicBezTo>
                <a:cubicBezTo>
                  <a:pt x="46" y="1660"/>
                  <a:pt x="36" y="1654"/>
                  <a:pt x="27" y="1645"/>
                </a:cubicBezTo>
                <a:cubicBezTo>
                  <a:pt x="18" y="1636"/>
                  <a:pt x="12" y="1626"/>
                  <a:pt x="7" y="1615"/>
                </a:cubicBezTo>
                <a:cubicBezTo>
                  <a:pt x="2" y="1603"/>
                  <a:pt x="0" y="1592"/>
                  <a:pt x="0" y="15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6" name="Picture 725"/>
          <p:cNvPicPr/>
          <p:nvPr/>
        </p:nvPicPr>
        <p:blipFill>
          <a:blip r:embed="rId10"/>
          <a:stretch/>
        </p:blipFill>
        <p:spPr>
          <a:xfrm>
            <a:off x="3877560" y="457956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7" name="TextBox 726"/>
          <p:cNvSpPr txBox="1"/>
          <p:nvPr/>
        </p:nvSpPr>
        <p:spPr>
          <a:xfrm>
            <a:off x="568080" y="4796640"/>
            <a:ext cx="2126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Convert Numpy arrays to JAX arrays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TextBox 727"/>
          <p:cNvSpPr txBox="1"/>
          <p:nvPr/>
        </p:nvSpPr>
        <p:spPr>
          <a:xfrm>
            <a:off x="4044600" y="4564080"/>
            <a:ext cx="1373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Numerical Solvers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Freeform 728"/>
          <p:cNvSpPr/>
          <p:nvPr/>
        </p:nvSpPr>
        <p:spPr>
          <a:xfrm>
            <a:off x="7086240" y="4445640"/>
            <a:ext cx="3175920" cy="601920"/>
          </a:xfrm>
          <a:custGeom>
            <a:avLst/>
            <a:gdLst/>
            <a:ahLst/>
            <a:cxnLst/>
            <a:rect l="0" t="0" r="r" b="b"/>
            <a:pathLst>
              <a:path w="8822" h="1672">
                <a:moveTo>
                  <a:pt x="0" y="1579"/>
                </a:moveTo>
                <a:lnTo>
                  <a:pt x="0" y="93"/>
                </a:ln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8729" y="0"/>
                </a:lnTo>
                <a:cubicBezTo>
                  <a:pt x="8742" y="0"/>
                  <a:pt x="8753" y="2"/>
                  <a:pt x="8765" y="7"/>
                </a:cubicBezTo>
                <a:cubicBezTo>
                  <a:pt x="8776" y="12"/>
                  <a:pt x="8786" y="18"/>
                  <a:pt x="8795" y="27"/>
                </a:cubicBezTo>
                <a:cubicBezTo>
                  <a:pt x="8804" y="36"/>
                  <a:pt x="8810" y="46"/>
                  <a:pt x="8815" y="57"/>
                </a:cubicBezTo>
                <a:cubicBezTo>
                  <a:pt x="8820" y="69"/>
                  <a:pt x="8822" y="80"/>
                  <a:pt x="8822" y="93"/>
                </a:cubicBezTo>
                <a:lnTo>
                  <a:pt x="8822" y="1579"/>
                </a:lnTo>
                <a:cubicBezTo>
                  <a:pt x="8822" y="1592"/>
                  <a:pt x="8820" y="1603"/>
                  <a:pt x="8815" y="1615"/>
                </a:cubicBezTo>
                <a:cubicBezTo>
                  <a:pt x="8810" y="1626"/>
                  <a:pt x="8804" y="1636"/>
                  <a:pt x="8795" y="1645"/>
                </a:cubicBezTo>
                <a:cubicBezTo>
                  <a:pt x="8786" y="1654"/>
                  <a:pt x="8776" y="1660"/>
                  <a:pt x="8765" y="1665"/>
                </a:cubicBezTo>
                <a:cubicBezTo>
                  <a:pt x="8753" y="1670"/>
                  <a:pt x="8742" y="1672"/>
                  <a:pt x="8729" y="1672"/>
                </a:cubicBezTo>
                <a:lnTo>
                  <a:pt x="93" y="1672"/>
                </a:lnTo>
                <a:cubicBezTo>
                  <a:pt x="81" y="1672"/>
                  <a:pt x="69" y="1670"/>
                  <a:pt x="57" y="1665"/>
                </a:cubicBezTo>
                <a:cubicBezTo>
                  <a:pt x="46" y="1660"/>
                  <a:pt x="36" y="1654"/>
                  <a:pt x="27" y="1645"/>
                </a:cubicBezTo>
                <a:cubicBezTo>
                  <a:pt x="19" y="1636"/>
                  <a:pt x="12" y="1626"/>
                  <a:pt x="7" y="1615"/>
                </a:cubicBezTo>
                <a:cubicBezTo>
                  <a:pt x="3" y="1603"/>
                  <a:pt x="0" y="1592"/>
                  <a:pt x="0" y="15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0" name="Picture 729"/>
          <p:cNvPicPr/>
          <p:nvPr/>
        </p:nvPicPr>
        <p:blipFill>
          <a:blip r:embed="rId11"/>
          <a:stretch/>
        </p:blipFill>
        <p:spPr>
          <a:xfrm>
            <a:off x="7186680" y="457956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1" name="TextBox 730"/>
          <p:cNvSpPr txBox="1"/>
          <p:nvPr/>
        </p:nvSpPr>
        <p:spPr>
          <a:xfrm>
            <a:off x="3877560" y="4796640"/>
            <a:ext cx="2288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Adjust ODE solver for JAX compatibility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TextBox 731"/>
          <p:cNvSpPr txBox="1"/>
          <p:nvPr/>
        </p:nvSpPr>
        <p:spPr>
          <a:xfrm>
            <a:off x="7404120" y="4564080"/>
            <a:ext cx="1143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Code Structure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3" name="Picture 732"/>
          <p:cNvPicPr/>
          <p:nvPr/>
        </p:nvPicPr>
        <p:blipFill>
          <a:blip r:embed="rId12"/>
          <a:stretch/>
        </p:blipFill>
        <p:spPr>
          <a:xfrm>
            <a:off x="4504320" y="2323080"/>
            <a:ext cx="1690560" cy="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Freeform 733"/>
          <p:cNvSpPr/>
          <p:nvPr/>
        </p:nvSpPr>
        <p:spPr>
          <a:xfrm>
            <a:off x="6150240" y="2256120"/>
            <a:ext cx="126000" cy="167400"/>
          </a:xfrm>
          <a:custGeom>
            <a:avLst/>
            <a:gdLst/>
            <a:ahLst/>
            <a:cxnLst/>
            <a:rect l="0" t="0" r="r" b="b"/>
            <a:pathLst>
              <a:path w="350" h="465">
                <a:moveTo>
                  <a:pt x="0" y="0"/>
                </a:moveTo>
                <a:lnTo>
                  <a:pt x="0" y="465"/>
                </a:lnTo>
                <a:lnTo>
                  <a:pt x="350" y="232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TextBox 734"/>
          <p:cNvSpPr txBox="1"/>
          <p:nvPr/>
        </p:nvSpPr>
        <p:spPr>
          <a:xfrm>
            <a:off x="7186680" y="4796640"/>
            <a:ext cx="2126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Reorganize for JAX's functional style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TextBox 735"/>
          <p:cNvSpPr txBox="1"/>
          <p:nvPr/>
        </p:nvSpPr>
        <p:spPr>
          <a:xfrm>
            <a:off x="10025640" y="57006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14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66603F1-C69F-0485-DC69-56FE71DA47E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20" y="2695380"/>
            <a:ext cx="4216400" cy="990600"/>
          </a:xfrm>
          <a:prstGeom prst="rect">
            <a:avLst/>
          </a:prstGeom>
        </p:spPr>
      </p:pic>
      <p:pic>
        <p:nvPicPr>
          <p:cNvPr id="5" name="Picture 4" descr="A computer screen with text&#10;&#10;Description automatically generated">
            <a:extLst>
              <a:ext uri="{FF2B5EF4-FFF2-40B4-BE49-F238E27FC236}">
                <a16:creationId xmlns:a16="http://schemas.microsoft.com/office/drawing/2014/main" id="{2AAF886B-E9C9-3E09-3FFD-53850DAF893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00" y="2638800"/>
            <a:ext cx="3251654" cy="1087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Picture 736"/>
          <p:cNvPicPr/>
          <p:nvPr/>
        </p:nvPicPr>
        <p:blipFill>
          <a:blip r:embed="rId2"/>
          <a:stretch/>
        </p:blipFill>
        <p:spPr>
          <a:xfrm>
            <a:off x="0" y="0"/>
            <a:ext cx="10696320" cy="691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8" name="Picture 737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Freeform 738"/>
          <p:cNvSpPr/>
          <p:nvPr/>
        </p:nvSpPr>
        <p:spPr>
          <a:xfrm>
            <a:off x="267120" y="835560"/>
            <a:ext cx="10162080" cy="702360"/>
          </a:xfrm>
          <a:custGeom>
            <a:avLst/>
            <a:gdLst/>
            <a:ahLst/>
            <a:cxnLst/>
            <a:rect l="0" t="0" r="r" b="b"/>
            <a:pathLst>
              <a:path w="28228" h="1951">
                <a:moveTo>
                  <a:pt x="0" y="0"/>
                </a:moveTo>
                <a:lnTo>
                  <a:pt x="28228" y="0"/>
                </a:lnTo>
                <a:lnTo>
                  <a:pt x="28228" y="1951"/>
                </a:lnTo>
                <a:lnTo>
                  <a:pt x="0" y="19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Freeform 739"/>
          <p:cNvSpPr/>
          <p:nvPr/>
        </p:nvSpPr>
        <p:spPr>
          <a:xfrm>
            <a:off x="267120" y="835560"/>
            <a:ext cx="33840" cy="702360"/>
          </a:xfrm>
          <a:custGeom>
            <a:avLst/>
            <a:gdLst/>
            <a:ahLst/>
            <a:cxnLst/>
            <a:rect l="0" t="0" r="r" b="b"/>
            <a:pathLst>
              <a:path w="94" h="1951">
                <a:moveTo>
                  <a:pt x="0" y="0"/>
                </a:moveTo>
                <a:lnTo>
                  <a:pt x="94" y="0"/>
                </a:lnTo>
                <a:lnTo>
                  <a:pt x="94" y="1951"/>
                </a:lnTo>
                <a:lnTo>
                  <a:pt x="0" y="1951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41" name="Picture 740"/>
          <p:cNvPicPr/>
          <p:nvPr/>
        </p:nvPicPr>
        <p:blipFill>
          <a:blip r:embed="rId4"/>
          <a:stretch/>
        </p:blipFill>
        <p:spPr>
          <a:xfrm>
            <a:off x="434520" y="97776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2" name="Picture 741"/>
          <p:cNvPicPr/>
          <p:nvPr/>
        </p:nvPicPr>
        <p:blipFill>
          <a:blip r:embed="rId5"/>
          <a:stretch/>
        </p:blipFill>
        <p:spPr>
          <a:xfrm>
            <a:off x="559800" y="11030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3" name="TextBox 742"/>
          <p:cNvSpPr txBox="1"/>
          <p:nvPr/>
        </p:nvSpPr>
        <p:spPr>
          <a:xfrm>
            <a:off x="334440" y="135000"/>
            <a:ext cx="6447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Step 2: Neural Network for Torque Prediction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TextBox 743"/>
          <p:cNvSpPr txBox="1"/>
          <p:nvPr/>
        </p:nvSpPr>
        <p:spPr>
          <a:xfrm>
            <a:off x="986040" y="989640"/>
            <a:ext cx="1266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Practice Task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Freeform 744"/>
          <p:cNvSpPr/>
          <p:nvPr/>
        </p:nvSpPr>
        <p:spPr>
          <a:xfrm>
            <a:off x="267120" y="1738080"/>
            <a:ext cx="4880880" cy="3877920"/>
          </a:xfrm>
          <a:custGeom>
            <a:avLst/>
            <a:gdLst/>
            <a:ahLst/>
            <a:cxnLst/>
            <a:rect l="0" t="0" r="r" b="b"/>
            <a:pathLst>
              <a:path w="13558" h="10772">
                <a:moveTo>
                  <a:pt x="0" y="10586"/>
                </a:moveTo>
                <a:lnTo>
                  <a:pt x="0" y="186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6"/>
                  <a:pt x="13432" y="9"/>
                  <a:pt x="13443" y="14"/>
                </a:cubicBezTo>
                <a:cubicBezTo>
                  <a:pt x="13454" y="19"/>
                  <a:pt x="13465" y="24"/>
                  <a:pt x="13475" y="31"/>
                </a:cubicBezTo>
                <a:cubicBezTo>
                  <a:pt x="13485" y="38"/>
                  <a:pt x="13495" y="46"/>
                  <a:pt x="13503" y="54"/>
                </a:cubicBezTo>
                <a:cubicBezTo>
                  <a:pt x="13512" y="63"/>
                  <a:pt x="13520" y="72"/>
                  <a:pt x="13526" y="82"/>
                </a:cubicBezTo>
                <a:cubicBezTo>
                  <a:pt x="13533" y="92"/>
                  <a:pt x="13539" y="103"/>
                  <a:pt x="13544" y="114"/>
                </a:cubicBezTo>
                <a:cubicBezTo>
                  <a:pt x="13548" y="126"/>
                  <a:pt x="13552" y="137"/>
                  <a:pt x="13554" y="149"/>
                </a:cubicBezTo>
                <a:cubicBezTo>
                  <a:pt x="13557" y="161"/>
                  <a:pt x="13558" y="173"/>
                  <a:pt x="13558" y="186"/>
                </a:cubicBezTo>
                <a:lnTo>
                  <a:pt x="13558" y="10586"/>
                </a:lnTo>
                <a:cubicBezTo>
                  <a:pt x="13558" y="10598"/>
                  <a:pt x="13557" y="10610"/>
                  <a:pt x="13554" y="10622"/>
                </a:cubicBezTo>
                <a:cubicBezTo>
                  <a:pt x="13552" y="10634"/>
                  <a:pt x="13548" y="10646"/>
                  <a:pt x="13544" y="10657"/>
                </a:cubicBezTo>
                <a:cubicBezTo>
                  <a:pt x="13539" y="10668"/>
                  <a:pt x="13533" y="10679"/>
                  <a:pt x="13526" y="10689"/>
                </a:cubicBezTo>
                <a:cubicBezTo>
                  <a:pt x="13520" y="10699"/>
                  <a:pt x="13512" y="10709"/>
                  <a:pt x="13503" y="10717"/>
                </a:cubicBezTo>
                <a:cubicBezTo>
                  <a:pt x="13495" y="10726"/>
                  <a:pt x="13485" y="10734"/>
                  <a:pt x="13475" y="10740"/>
                </a:cubicBezTo>
                <a:cubicBezTo>
                  <a:pt x="13465" y="10747"/>
                  <a:pt x="13454" y="10753"/>
                  <a:pt x="13443" y="10758"/>
                </a:cubicBezTo>
                <a:cubicBezTo>
                  <a:pt x="13432" y="10762"/>
                  <a:pt x="13420" y="10766"/>
                  <a:pt x="13408" y="10768"/>
                </a:cubicBezTo>
                <a:cubicBezTo>
                  <a:pt x="13396" y="10770"/>
                  <a:pt x="13384" y="10772"/>
                  <a:pt x="13372" y="10772"/>
                </a:cubicBezTo>
                <a:lnTo>
                  <a:pt x="186" y="10772"/>
                </a:lnTo>
                <a:cubicBezTo>
                  <a:pt x="174" y="10772"/>
                  <a:pt x="162" y="10770"/>
                  <a:pt x="150" y="10768"/>
                </a:cubicBezTo>
                <a:cubicBezTo>
                  <a:pt x="138" y="10766"/>
                  <a:pt x="126" y="10762"/>
                  <a:pt x="115" y="10758"/>
                </a:cubicBezTo>
                <a:cubicBezTo>
                  <a:pt x="104" y="10753"/>
                  <a:pt x="93" y="10747"/>
                  <a:pt x="83" y="10740"/>
                </a:cubicBezTo>
                <a:cubicBezTo>
                  <a:pt x="73" y="10734"/>
                  <a:pt x="63" y="10726"/>
                  <a:pt x="55" y="10717"/>
                </a:cubicBezTo>
                <a:cubicBezTo>
                  <a:pt x="46" y="10709"/>
                  <a:pt x="38" y="10699"/>
                  <a:pt x="32" y="10689"/>
                </a:cubicBezTo>
                <a:cubicBezTo>
                  <a:pt x="25" y="10679"/>
                  <a:pt x="19" y="10668"/>
                  <a:pt x="14" y="10657"/>
                </a:cubicBezTo>
                <a:cubicBezTo>
                  <a:pt x="10" y="10646"/>
                  <a:pt x="6" y="10634"/>
                  <a:pt x="4" y="10622"/>
                </a:cubicBezTo>
                <a:cubicBezTo>
                  <a:pt x="2" y="10610"/>
                  <a:pt x="0" y="10598"/>
                  <a:pt x="0" y="105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Freeform 745"/>
          <p:cNvSpPr/>
          <p:nvPr/>
        </p:nvSpPr>
        <p:spPr>
          <a:xfrm>
            <a:off x="267120" y="1738080"/>
            <a:ext cx="4880880" cy="501840"/>
          </a:xfrm>
          <a:custGeom>
            <a:avLst/>
            <a:gdLst/>
            <a:ahLst/>
            <a:cxnLst/>
            <a:rect l="0" t="0" r="r" b="b"/>
            <a:pathLst>
              <a:path w="13558" h="1394">
                <a:moveTo>
                  <a:pt x="0" y="1394"/>
                </a:moveTo>
                <a:lnTo>
                  <a:pt x="0" y="187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7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4"/>
                  <a:pt x="55" y="55"/>
                </a:cubicBezTo>
                <a:cubicBezTo>
                  <a:pt x="63" y="47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6"/>
                  <a:pt x="13432" y="9"/>
                  <a:pt x="13443" y="14"/>
                </a:cubicBezTo>
                <a:cubicBezTo>
                  <a:pt x="13454" y="19"/>
                  <a:pt x="13465" y="24"/>
                  <a:pt x="13475" y="31"/>
                </a:cubicBezTo>
                <a:cubicBezTo>
                  <a:pt x="13485" y="38"/>
                  <a:pt x="13495" y="47"/>
                  <a:pt x="13503" y="55"/>
                </a:cubicBezTo>
                <a:cubicBezTo>
                  <a:pt x="13512" y="64"/>
                  <a:pt x="13520" y="73"/>
                  <a:pt x="13526" y="83"/>
                </a:cubicBezTo>
                <a:cubicBezTo>
                  <a:pt x="13533" y="93"/>
                  <a:pt x="13539" y="104"/>
                  <a:pt x="13544" y="115"/>
                </a:cubicBezTo>
                <a:cubicBezTo>
                  <a:pt x="13548" y="127"/>
                  <a:pt x="13552" y="138"/>
                  <a:pt x="13554" y="150"/>
                </a:cubicBezTo>
                <a:cubicBezTo>
                  <a:pt x="13557" y="162"/>
                  <a:pt x="13558" y="174"/>
                  <a:pt x="13558" y="187"/>
                </a:cubicBezTo>
                <a:lnTo>
                  <a:pt x="13558" y="1394"/>
                </a:lnTo>
                <a:lnTo>
                  <a:pt x="0" y="1394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47" name="Picture 746"/>
          <p:cNvPicPr/>
          <p:nvPr/>
        </p:nvPicPr>
        <p:blipFill>
          <a:blip r:embed="rId6"/>
          <a:stretch/>
        </p:blipFill>
        <p:spPr>
          <a:xfrm>
            <a:off x="401040" y="190548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8" name="TextBox 747"/>
          <p:cNvSpPr txBox="1"/>
          <p:nvPr/>
        </p:nvSpPr>
        <p:spPr>
          <a:xfrm>
            <a:off x="986040" y="1221480"/>
            <a:ext cx="7506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Developing a neural network to predict rotor system torque to learn how to create accurate physics predictions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49" name="Picture 748"/>
          <p:cNvPicPr/>
          <p:nvPr/>
        </p:nvPicPr>
        <p:blipFill>
          <a:blip r:embed="rId7"/>
          <a:stretch/>
        </p:blipFill>
        <p:spPr>
          <a:xfrm>
            <a:off x="401040" y="237348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0" name="Picture 749"/>
          <p:cNvPicPr/>
          <p:nvPr/>
        </p:nvPicPr>
        <p:blipFill>
          <a:blip r:embed="rId8"/>
          <a:stretch/>
        </p:blipFill>
        <p:spPr>
          <a:xfrm>
            <a:off x="518040" y="245700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1" name="TextBox 750"/>
          <p:cNvSpPr txBox="1"/>
          <p:nvPr/>
        </p:nvSpPr>
        <p:spPr>
          <a:xfrm>
            <a:off x="660240" y="1892160"/>
            <a:ext cx="28951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1-Dimensional Neural Network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Freeform 751"/>
          <p:cNvSpPr/>
          <p:nvPr/>
        </p:nvSpPr>
        <p:spPr>
          <a:xfrm>
            <a:off x="659880" y="284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8" y="0"/>
                </a:cubicBezTo>
                <a:cubicBezTo>
                  <a:pt x="66" y="0"/>
                  <a:pt x="73" y="2"/>
                  <a:pt x="82" y="5"/>
                </a:cubicBezTo>
                <a:cubicBezTo>
                  <a:pt x="89" y="8"/>
                  <a:pt x="95" y="12"/>
                  <a:pt x="100" y="17"/>
                </a:cubicBezTo>
                <a:cubicBezTo>
                  <a:pt x="106" y="23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TextBox 752"/>
          <p:cNvSpPr txBox="1"/>
          <p:nvPr/>
        </p:nvSpPr>
        <p:spPr>
          <a:xfrm>
            <a:off x="802080" y="2441520"/>
            <a:ext cx="1950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Single variable prediction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Freeform 753"/>
          <p:cNvSpPr/>
          <p:nvPr/>
        </p:nvSpPr>
        <p:spPr>
          <a:xfrm>
            <a:off x="659880" y="3116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0"/>
                </a:cubicBezTo>
                <a:cubicBezTo>
                  <a:pt x="110" y="87"/>
                  <a:pt x="106" y="94"/>
                  <a:pt x="100" y="99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5"/>
                  <a:pt x="17" y="99"/>
                </a:cubicBezTo>
                <a:cubicBezTo>
                  <a:pt x="12" y="94"/>
                  <a:pt x="8" y="87"/>
                  <a:pt x="5" y="80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3" y="1"/>
                  <a:pt x="82" y="4"/>
                </a:cubicBezTo>
                <a:cubicBezTo>
                  <a:pt x="89" y="7"/>
                  <a:pt x="95" y="12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TextBox 754"/>
          <p:cNvSpPr txBox="1"/>
          <p:nvPr/>
        </p:nvSpPr>
        <p:spPr>
          <a:xfrm>
            <a:off x="802080" y="2792520"/>
            <a:ext cx="3065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Predicts torque based on angular position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(θ)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Freeform 755"/>
          <p:cNvSpPr/>
          <p:nvPr/>
        </p:nvSpPr>
        <p:spPr>
          <a:xfrm>
            <a:off x="659880" y="3384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3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TextBox 756"/>
          <p:cNvSpPr txBox="1"/>
          <p:nvPr/>
        </p:nvSpPr>
        <p:spPr>
          <a:xfrm>
            <a:off x="802080" y="3060000"/>
            <a:ext cx="3512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Simple architecture focusing on rotational dynamics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Freeform 757"/>
          <p:cNvSpPr/>
          <p:nvPr/>
        </p:nvSpPr>
        <p:spPr>
          <a:xfrm>
            <a:off x="5548680" y="1738080"/>
            <a:ext cx="4880520" cy="3877920"/>
          </a:xfrm>
          <a:custGeom>
            <a:avLst/>
            <a:gdLst/>
            <a:ahLst/>
            <a:cxnLst/>
            <a:rect l="0" t="0" r="r" b="b"/>
            <a:pathLst>
              <a:path w="13557" h="10772">
                <a:moveTo>
                  <a:pt x="0" y="1058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6"/>
                  <a:pt x="13431" y="9"/>
                  <a:pt x="13443" y="14"/>
                </a:cubicBezTo>
                <a:cubicBezTo>
                  <a:pt x="13454" y="19"/>
                  <a:pt x="13465" y="24"/>
                  <a:pt x="13475" y="31"/>
                </a:cubicBezTo>
                <a:cubicBezTo>
                  <a:pt x="13485" y="38"/>
                  <a:pt x="13494" y="46"/>
                  <a:pt x="13503" y="54"/>
                </a:cubicBezTo>
                <a:cubicBezTo>
                  <a:pt x="13512" y="63"/>
                  <a:pt x="13519" y="72"/>
                  <a:pt x="13526" y="82"/>
                </a:cubicBezTo>
                <a:cubicBezTo>
                  <a:pt x="13533" y="92"/>
                  <a:pt x="13539" y="103"/>
                  <a:pt x="13543" y="114"/>
                </a:cubicBezTo>
                <a:cubicBezTo>
                  <a:pt x="13548" y="126"/>
                  <a:pt x="13551" y="137"/>
                  <a:pt x="13554" y="149"/>
                </a:cubicBezTo>
                <a:cubicBezTo>
                  <a:pt x="13556" y="161"/>
                  <a:pt x="13557" y="173"/>
                  <a:pt x="13557" y="186"/>
                </a:cubicBezTo>
                <a:lnTo>
                  <a:pt x="13557" y="10586"/>
                </a:lnTo>
                <a:cubicBezTo>
                  <a:pt x="13557" y="10598"/>
                  <a:pt x="13556" y="10610"/>
                  <a:pt x="13554" y="10622"/>
                </a:cubicBezTo>
                <a:cubicBezTo>
                  <a:pt x="13551" y="10634"/>
                  <a:pt x="13548" y="10646"/>
                  <a:pt x="13543" y="10657"/>
                </a:cubicBezTo>
                <a:cubicBezTo>
                  <a:pt x="13539" y="10668"/>
                  <a:pt x="13533" y="10679"/>
                  <a:pt x="13526" y="10689"/>
                </a:cubicBezTo>
                <a:cubicBezTo>
                  <a:pt x="13519" y="10699"/>
                  <a:pt x="13512" y="10709"/>
                  <a:pt x="13503" y="10717"/>
                </a:cubicBezTo>
                <a:cubicBezTo>
                  <a:pt x="13494" y="10726"/>
                  <a:pt x="13485" y="10734"/>
                  <a:pt x="13475" y="10740"/>
                </a:cubicBezTo>
                <a:cubicBezTo>
                  <a:pt x="13465" y="10747"/>
                  <a:pt x="13454" y="10753"/>
                  <a:pt x="13443" y="10758"/>
                </a:cubicBezTo>
                <a:cubicBezTo>
                  <a:pt x="13431" y="10762"/>
                  <a:pt x="13420" y="10766"/>
                  <a:pt x="13408" y="10768"/>
                </a:cubicBezTo>
                <a:cubicBezTo>
                  <a:pt x="13396" y="10770"/>
                  <a:pt x="13384" y="10772"/>
                  <a:pt x="13372" y="10772"/>
                </a:cubicBezTo>
                <a:lnTo>
                  <a:pt x="186" y="10772"/>
                </a:lnTo>
                <a:cubicBezTo>
                  <a:pt x="173" y="10772"/>
                  <a:pt x="161" y="10770"/>
                  <a:pt x="149" y="10768"/>
                </a:cubicBezTo>
                <a:cubicBezTo>
                  <a:pt x="137" y="10766"/>
                  <a:pt x="126" y="10762"/>
                  <a:pt x="115" y="10758"/>
                </a:cubicBezTo>
                <a:cubicBezTo>
                  <a:pt x="103" y="10753"/>
                  <a:pt x="93" y="10747"/>
                  <a:pt x="83" y="10740"/>
                </a:cubicBezTo>
                <a:cubicBezTo>
                  <a:pt x="72" y="10734"/>
                  <a:pt x="63" y="10726"/>
                  <a:pt x="54" y="10717"/>
                </a:cubicBezTo>
                <a:cubicBezTo>
                  <a:pt x="46" y="10709"/>
                  <a:pt x="38" y="10699"/>
                  <a:pt x="31" y="10689"/>
                </a:cubicBezTo>
                <a:cubicBezTo>
                  <a:pt x="24" y="10679"/>
                  <a:pt x="19" y="10668"/>
                  <a:pt x="14" y="10657"/>
                </a:cubicBezTo>
                <a:cubicBezTo>
                  <a:pt x="9" y="10646"/>
                  <a:pt x="6" y="10634"/>
                  <a:pt x="4" y="10622"/>
                </a:cubicBezTo>
                <a:cubicBezTo>
                  <a:pt x="1" y="10610"/>
                  <a:pt x="0" y="10598"/>
                  <a:pt x="0" y="105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Freeform 758"/>
          <p:cNvSpPr/>
          <p:nvPr/>
        </p:nvSpPr>
        <p:spPr>
          <a:xfrm>
            <a:off x="5548680" y="1738080"/>
            <a:ext cx="4880520" cy="501840"/>
          </a:xfrm>
          <a:custGeom>
            <a:avLst/>
            <a:gdLst/>
            <a:ahLst/>
            <a:cxnLst/>
            <a:rect l="0" t="0" r="r" b="b"/>
            <a:pathLst>
              <a:path w="13557" h="1394">
                <a:moveTo>
                  <a:pt x="0" y="1394"/>
                </a:moveTo>
                <a:lnTo>
                  <a:pt x="0" y="187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7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4"/>
                  <a:pt x="54" y="55"/>
                </a:cubicBezTo>
                <a:cubicBezTo>
                  <a:pt x="63" y="47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6"/>
                  <a:pt x="13431" y="9"/>
                  <a:pt x="13443" y="14"/>
                </a:cubicBezTo>
                <a:cubicBezTo>
                  <a:pt x="13454" y="19"/>
                  <a:pt x="13465" y="24"/>
                  <a:pt x="13475" y="31"/>
                </a:cubicBezTo>
                <a:cubicBezTo>
                  <a:pt x="13485" y="38"/>
                  <a:pt x="13494" y="47"/>
                  <a:pt x="13503" y="55"/>
                </a:cubicBezTo>
                <a:cubicBezTo>
                  <a:pt x="13512" y="64"/>
                  <a:pt x="13519" y="73"/>
                  <a:pt x="13526" y="83"/>
                </a:cubicBezTo>
                <a:cubicBezTo>
                  <a:pt x="13533" y="93"/>
                  <a:pt x="13539" y="104"/>
                  <a:pt x="13543" y="115"/>
                </a:cubicBezTo>
                <a:cubicBezTo>
                  <a:pt x="13548" y="127"/>
                  <a:pt x="13551" y="138"/>
                  <a:pt x="13554" y="150"/>
                </a:cubicBezTo>
                <a:cubicBezTo>
                  <a:pt x="13556" y="162"/>
                  <a:pt x="13557" y="174"/>
                  <a:pt x="13557" y="187"/>
                </a:cubicBezTo>
                <a:lnTo>
                  <a:pt x="13557" y="1394"/>
                </a:lnTo>
                <a:lnTo>
                  <a:pt x="0" y="1394"/>
                </a:lnTo>
                <a:close/>
              </a:path>
            </a:pathLst>
          </a:custGeom>
          <a:solidFill>
            <a:srgbClr val="0096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60" name="Picture 759"/>
          <p:cNvPicPr/>
          <p:nvPr/>
        </p:nvPicPr>
        <p:blipFill>
          <a:blip r:embed="rId9"/>
          <a:stretch/>
        </p:blipFill>
        <p:spPr>
          <a:xfrm>
            <a:off x="5682600" y="19054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1" name="TextBox 760"/>
          <p:cNvSpPr txBox="1"/>
          <p:nvPr/>
        </p:nvSpPr>
        <p:spPr>
          <a:xfrm>
            <a:off x="802080" y="3327120"/>
            <a:ext cx="3174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Validates basic neural network implementation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62" name="Picture 761"/>
          <p:cNvPicPr/>
          <p:nvPr/>
        </p:nvPicPr>
        <p:blipFill>
          <a:blip r:embed="rId10"/>
          <a:stretch/>
        </p:blipFill>
        <p:spPr>
          <a:xfrm>
            <a:off x="5682600" y="237348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3" name="Picture 762"/>
          <p:cNvPicPr/>
          <p:nvPr/>
        </p:nvPicPr>
        <p:blipFill>
          <a:blip r:embed="rId8"/>
          <a:stretch/>
        </p:blipFill>
        <p:spPr>
          <a:xfrm>
            <a:off x="5799600" y="2457000"/>
            <a:ext cx="666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4" name="TextBox 763"/>
          <p:cNvSpPr txBox="1"/>
          <p:nvPr/>
        </p:nvSpPr>
        <p:spPr>
          <a:xfrm>
            <a:off x="5916600" y="1892160"/>
            <a:ext cx="28951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2-Dimensional Neural Network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Freeform 764"/>
          <p:cNvSpPr/>
          <p:nvPr/>
        </p:nvSpPr>
        <p:spPr>
          <a:xfrm>
            <a:off x="5941440" y="284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9"/>
                  <a:pt x="105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2" y="106"/>
                  <a:pt x="17" y="100"/>
                </a:cubicBezTo>
                <a:cubicBezTo>
                  <a:pt x="12" y="95"/>
                  <a:pt x="7" y="89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2" y="23"/>
                  <a:pt x="17" y="17"/>
                </a:cubicBezTo>
                <a:cubicBezTo>
                  <a:pt x="22" y="12"/>
                  <a:pt x="30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5" y="12"/>
                  <a:pt x="100" y="17"/>
                </a:cubicBezTo>
                <a:cubicBezTo>
                  <a:pt x="105" y="23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TextBox 765"/>
          <p:cNvSpPr txBox="1"/>
          <p:nvPr/>
        </p:nvSpPr>
        <p:spPr>
          <a:xfrm>
            <a:off x="6083640" y="2441520"/>
            <a:ext cx="1873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Multi-variable prediction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TextBox 766"/>
          <p:cNvSpPr txBox="1"/>
          <p:nvPr/>
        </p:nvSpPr>
        <p:spPr>
          <a:xfrm>
            <a:off x="6083640" y="2792520"/>
            <a:ext cx="4082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Predicts torque based on angular position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(θ)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and frequency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Freeform 767"/>
          <p:cNvSpPr/>
          <p:nvPr/>
        </p:nvSpPr>
        <p:spPr>
          <a:xfrm>
            <a:off x="5941440" y="3317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5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2" y="106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2" y="24"/>
                  <a:pt x="17" y="18"/>
                </a:cubicBezTo>
                <a:cubicBezTo>
                  <a:pt x="22" y="13"/>
                  <a:pt x="30" y="8"/>
                  <a:pt x="37" y="4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4"/>
                </a:cubicBezTo>
                <a:cubicBezTo>
                  <a:pt x="88" y="8"/>
                  <a:pt x="95" y="13"/>
                  <a:pt x="100" y="18"/>
                </a:cubicBezTo>
                <a:cubicBezTo>
                  <a:pt x="105" y="24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TextBox 768"/>
          <p:cNvSpPr txBox="1"/>
          <p:nvPr/>
        </p:nvSpPr>
        <p:spPr>
          <a:xfrm>
            <a:off x="6083640" y="2993040"/>
            <a:ext cx="181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(f)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Freeform 769"/>
          <p:cNvSpPr/>
          <p:nvPr/>
        </p:nvSpPr>
        <p:spPr>
          <a:xfrm>
            <a:off x="5941440" y="3584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1"/>
                </a:cubicBezTo>
                <a:cubicBezTo>
                  <a:pt x="110" y="88"/>
                  <a:pt x="105" y="95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3"/>
                </a:cubicBezTo>
                <a:cubicBezTo>
                  <a:pt x="30" y="110"/>
                  <a:pt x="22" y="105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5" y="22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TextBox 770"/>
          <p:cNvSpPr txBox="1"/>
          <p:nvPr/>
        </p:nvSpPr>
        <p:spPr>
          <a:xfrm>
            <a:off x="6083640" y="3260520"/>
            <a:ext cx="389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Additional input dimension captures rotational kinematics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Freeform 771"/>
          <p:cNvSpPr/>
          <p:nvPr/>
        </p:nvSpPr>
        <p:spPr>
          <a:xfrm>
            <a:off x="284040" y="5749200"/>
            <a:ext cx="10145160" cy="902880"/>
          </a:xfrm>
          <a:custGeom>
            <a:avLst/>
            <a:gdLst/>
            <a:ahLst/>
            <a:cxnLst/>
            <a:rect l="0" t="0" r="r" b="b"/>
            <a:pathLst>
              <a:path w="28181" h="2508">
                <a:moveTo>
                  <a:pt x="0" y="2322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8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1"/>
                  <a:pt x="28032" y="4"/>
                </a:cubicBezTo>
                <a:cubicBezTo>
                  <a:pt x="28044" y="6"/>
                  <a:pt x="28055" y="10"/>
                  <a:pt x="28067" y="14"/>
                </a:cubicBezTo>
                <a:cubicBezTo>
                  <a:pt x="28078" y="19"/>
                  <a:pt x="28089" y="25"/>
                  <a:pt x="28099" y="31"/>
                </a:cubicBezTo>
                <a:cubicBezTo>
                  <a:pt x="28109" y="38"/>
                  <a:pt x="28118" y="46"/>
                  <a:pt x="28127" y="54"/>
                </a:cubicBezTo>
                <a:cubicBezTo>
                  <a:pt x="28136" y="63"/>
                  <a:pt x="28143" y="72"/>
                  <a:pt x="28150" y="83"/>
                </a:cubicBezTo>
                <a:cubicBezTo>
                  <a:pt x="28157" y="93"/>
                  <a:pt x="28163" y="103"/>
                  <a:pt x="28167" y="115"/>
                </a:cubicBezTo>
                <a:cubicBezTo>
                  <a:pt x="28172" y="126"/>
                  <a:pt x="28175" y="138"/>
                  <a:pt x="28178" y="150"/>
                </a:cubicBezTo>
                <a:cubicBezTo>
                  <a:pt x="28180" y="162"/>
                  <a:pt x="28181" y="174"/>
                  <a:pt x="28181" y="186"/>
                </a:cubicBezTo>
                <a:lnTo>
                  <a:pt x="28181" y="2322"/>
                </a:lnTo>
                <a:cubicBezTo>
                  <a:pt x="28181" y="2335"/>
                  <a:pt x="28180" y="2347"/>
                  <a:pt x="28178" y="2359"/>
                </a:cubicBezTo>
                <a:cubicBezTo>
                  <a:pt x="28175" y="2371"/>
                  <a:pt x="28172" y="2382"/>
                  <a:pt x="28167" y="2393"/>
                </a:cubicBezTo>
                <a:cubicBezTo>
                  <a:pt x="28163" y="2405"/>
                  <a:pt x="28157" y="2415"/>
                  <a:pt x="28150" y="2426"/>
                </a:cubicBezTo>
                <a:cubicBezTo>
                  <a:pt x="28143" y="2436"/>
                  <a:pt x="28136" y="2445"/>
                  <a:pt x="28127" y="2454"/>
                </a:cubicBezTo>
                <a:cubicBezTo>
                  <a:pt x="28118" y="2462"/>
                  <a:pt x="28109" y="2470"/>
                  <a:pt x="28099" y="2477"/>
                </a:cubicBezTo>
                <a:cubicBezTo>
                  <a:pt x="28089" y="2484"/>
                  <a:pt x="28078" y="2489"/>
                  <a:pt x="28067" y="2494"/>
                </a:cubicBezTo>
                <a:cubicBezTo>
                  <a:pt x="28055" y="2499"/>
                  <a:pt x="28044" y="2502"/>
                  <a:pt x="28032" y="2505"/>
                </a:cubicBezTo>
                <a:cubicBezTo>
                  <a:pt x="28020" y="2507"/>
                  <a:pt x="28008" y="2508"/>
                  <a:pt x="27996" y="2508"/>
                </a:cubicBezTo>
                <a:lnTo>
                  <a:pt x="139" y="2508"/>
                </a:lnTo>
                <a:cubicBezTo>
                  <a:pt x="130" y="2508"/>
                  <a:pt x="121" y="2507"/>
                  <a:pt x="112" y="2505"/>
                </a:cubicBezTo>
                <a:cubicBezTo>
                  <a:pt x="103" y="2502"/>
                  <a:pt x="94" y="2499"/>
                  <a:pt x="86" y="2494"/>
                </a:cubicBezTo>
                <a:cubicBezTo>
                  <a:pt x="77" y="2489"/>
                  <a:pt x="69" y="2484"/>
                  <a:pt x="62" y="2477"/>
                </a:cubicBezTo>
                <a:cubicBezTo>
                  <a:pt x="54" y="2470"/>
                  <a:pt x="47" y="2462"/>
                  <a:pt x="41" y="2454"/>
                </a:cubicBezTo>
                <a:cubicBezTo>
                  <a:pt x="34" y="2445"/>
                  <a:pt x="28" y="2436"/>
                  <a:pt x="23" y="2426"/>
                </a:cubicBezTo>
                <a:cubicBezTo>
                  <a:pt x="18" y="2415"/>
                  <a:pt x="14" y="2405"/>
                  <a:pt x="10" y="2393"/>
                </a:cubicBezTo>
                <a:cubicBezTo>
                  <a:pt x="7" y="2382"/>
                  <a:pt x="4" y="2371"/>
                  <a:pt x="2" y="2359"/>
                </a:cubicBezTo>
                <a:cubicBezTo>
                  <a:pt x="1" y="2347"/>
                  <a:pt x="0" y="2335"/>
                  <a:pt x="0" y="2322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Freeform 772"/>
          <p:cNvSpPr/>
          <p:nvPr/>
        </p:nvSpPr>
        <p:spPr>
          <a:xfrm>
            <a:off x="267120" y="5749200"/>
            <a:ext cx="67320" cy="902880"/>
          </a:xfrm>
          <a:custGeom>
            <a:avLst/>
            <a:gdLst/>
            <a:ahLst/>
            <a:cxnLst/>
            <a:rect l="0" t="0" r="r" b="b"/>
            <a:pathLst>
              <a:path w="187" h="2508">
                <a:moveTo>
                  <a:pt x="0" y="0"/>
                </a:moveTo>
                <a:lnTo>
                  <a:pt x="187" y="0"/>
                </a:lnTo>
                <a:lnTo>
                  <a:pt x="187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74" name="Picture 773"/>
          <p:cNvPicPr/>
          <p:nvPr/>
        </p:nvPicPr>
        <p:blipFill>
          <a:blip r:embed="rId11"/>
          <a:stretch/>
        </p:blipFill>
        <p:spPr>
          <a:xfrm>
            <a:off x="434520" y="5991840"/>
            <a:ext cx="40356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5" name="Picture 774"/>
          <p:cNvPicPr/>
          <p:nvPr/>
        </p:nvPicPr>
        <p:blipFill>
          <a:blip r:embed="rId12"/>
          <a:stretch/>
        </p:blipFill>
        <p:spPr>
          <a:xfrm>
            <a:off x="568080" y="611712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6" name="TextBox 775"/>
          <p:cNvSpPr txBox="1"/>
          <p:nvPr/>
        </p:nvSpPr>
        <p:spPr>
          <a:xfrm>
            <a:off x="6083640" y="3527640"/>
            <a:ext cx="3254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More comprehensive model of system dynamics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TextBox 776"/>
          <p:cNvSpPr txBox="1"/>
          <p:nvPr/>
        </p:nvSpPr>
        <p:spPr>
          <a:xfrm>
            <a:off x="966600" y="5903640"/>
            <a:ext cx="1070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Key Insight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TextBox 777"/>
          <p:cNvSpPr txBox="1"/>
          <p:nvPr/>
        </p:nvSpPr>
        <p:spPr>
          <a:xfrm>
            <a:off x="966600" y="6135120"/>
            <a:ext cx="9289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This practice task established the foundation for developing neural networks that can accurately identify missing physics equations in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79" name="Picture 778"/>
          <p:cNvPicPr/>
          <p:nvPr/>
        </p:nvPicPr>
        <p:blipFill>
          <a:blip r:embed="rId13"/>
          <a:stretch/>
        </p:blipFill>
        <p:spPr>
          <a:xfrm>
            <a:off x="401040" y="3610080"/>
            <a:ext cx="4612680" cy="167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0" name="Picture 779"/>
          <p:cNvPicPr/>
          <p:nvPr/>
        </p:nvPicPr>
        <p:blipFill rotWithShape="1">
          <a:blip r:embed="rId14"/>
          <a:srcRect t="29018"/>
          <a:stretch/>
        </p:blipFill>
        <p:spPr>
          <a:xfrm>
            <a:off x="5690793" y="4213440"/>
            <a:ext cx="4612680" cy="118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1" name="TextBox 780"/>
          <p:cNvSpPr txBox="1"/>
          <p:nvPr/>
        </p:nvSpPr>
        <p:spPr>
          <a:xfrm>
            <a:off x="966600" y="6335640"/>
            <a:ext cx="485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TextBox 781"/>
          <p:cNvSpPr txBox="1"/>
          <p:nvPr/>
        </p:nvSpPr>
        <p:spPr>
          <a:xfrm>
            <a:off x="10025640" y="660312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15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29E9A6-9023-5BE6-F795-5B4B793148F2}"/>
                  </a:ext>
                </a:extLst>
              </p:cNvPr>
              <p:cNvSpPr txBox="1"/>
              <p:nvPr/>
            </p:nvSpPr>
            <p:spPr>
              <a:xfrm>
                <a:off x="6147250" y="3945960"/>
                <a:ext cx="4443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20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sz="12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lang="en-US" sz="12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29E9A6-9023-5BE6-F795-5B4B79314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250" y="3945960"/>
                <a:ext cx="444381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48A21C2-A90F-6F8B-6182-3268A37AFD76}"/>
              </a:ext>
            </a:extLst>
          </p:cNvPr>
          <p:cNvSpPr txBox="1"/>
          <p:nvPr/>
        </p:nvSpPr>
        <p:spPr>
          <a:xfrm>
            <a:off x="9300794" y="3953160"/>
            <a:ext cx="1601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Torque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Picture 782"/>
          <p:cNvPicPr/>
          <p:nvPr/>
        </p:nvPicPr>
        <p:blipFill>
          <a:blip r:embed="rId2"/>
          <a:stretch/>
        </p:blipFill>
        <p:spPr>
          <a:xfrm>
            <a:off x="-1070604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4" name="Picture 783"/>
          <p:cNvPicPr/>
          <p:nvPr/>
        </p:nvPicPr>
        <p:blipFill>
          <a:blip r:embed="rId3"/>
          <a:stretch/>
        </p:blipFill>
        <p:spPr>
          <a:xfrm>
            <a:off x="-936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5" name="Picture 784"/>
          <p:cNvPicPr/>
          <p:nvPr/>
        </p:nvPicPr>
        <p:blipFill>
          <a:blip r:embed="rId2"/>
          <a:stretch/>
        </p:blipFill>
        <p:spPr>
          <a:xfrm>
            <a:off x="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6" name="Picture 785"/>
          <p:cNvPicPr/>
          <p:nvPr/>
        </p:nvPicPr>
        <p:blipFill>
          <a:blip r:embed="rId3"/>
          <a:stretch/>
        </p:blipFill>
        <p:spPr>
          <a:xfrm>
            <a:off x="1069668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7" name="Picture 786"/>
          <p:cNvPicPr/>
          <p:nvPr/>
        </p:nvPicPr>
        <p:blipFill>
          <a:blip r:embed="rId2"/>
          <a:stretch/>
        </p:blipFill>
        <p:spPr>
          <a:xfrm>
            <a:off x="-1070604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8" name="Picture 787"/>
          <p:cNvPicPr/>
          <p:nvPr/>
        </p:nvPicPr>
        <p:blipFill>
          <a:blip r:embed="rId3"/>
          <a:stretch/>
        </p:blipFill>
        <p:spPr>
          <a:xfrm>
            <a:off x="-936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9" name="Picture 788"/>
          <p:cNvPicPr/>
          <p:nvPr/>
        </p:nvPicPr>
        <p:blipFill>
          <a:blip r:embed="rId2"/>
          <a:stretch/>
        </p:blipFill>
        <p:spPr>
          <a:xfrm>
            <a:off x="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0" name="Picture 789"/>
          <p:cNvPicPr/>
          <p:nvPr/>
        </p:nvPicPr>
        <p:blipFill>
          <a:blip r:embed="rId3"/>
          <a:stretch/>
        </p:blipFill>
        <p:spPr>
          <a:xfrm>
            <a:off x="1069668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1" name="Picture 790"/>
          <p:cNvPicPr/>
          <p:nvPr/>
        </p:nvPicPr>
        <p:blipFill>
          <a:blip r:embed="rId2"/>
          <a:stretch/>
        </p:blipFill>
        <p:spPr>
          <a:xfrm>
            <a:off x="-1070604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2" name="Picture 791"/>
          <p:cNvPicPr/>
          <p:nvPr/>
        </p:nvPicPr>
        <p:blipFill>
          <a:blip r:embed="rId3"/>
          <a:stretch/>
        </p:blipFill>
        <p:spPr>
          <a:xfrm>
            <a:off x="-936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3" name="Picture 792"/>
          <p:cNvPicPr/>
          <p:nvPr/>
        </p:nvPicPr>
        <p:blipFill>
          <a:blip r:embed="rId2"/>
          <a:stretch/>
        </p:blipFill>
        <p:spPr>
          <a:xfrm>
            <a:off x="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4" name="Picture 793"/>
          <p:cNvPicPr/>
          <p:nvPr/>
        </p:nvPicPr>
        <p:blipFill>
          <a:blip r:embed="rId3"/>
          <a:stretch/>
        </p:blipFill>
        <p:spPr>
          <a:xfrm>
            <a:off x="1069668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5" name="Picture 794"/>
          <p:cNvPicPr/>
          <p:nvPr/>
        </p:nvPicPr>
        <p:blipFill>
          <a:blip r:embed="rId4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TextBox 795"/>
          <p:cNvSpPr txBox="1"/>
          <p:nvPr/>
        </p:nvSpPr>
        <p:spPr>
          <a:xfrm>
            <a:off x="334440" y="135000"/>
            <a:ext cx="4366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Step 3: ODE Solver Integration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Freeform 796"/>
          <p:cNvSpPr/>
          <p:nvPr/>
        </p:nvSpPr>
        <p:spPr>
          <a:xfrm>
            <a:off x="267120" y="3242160"/>
            <a:ext cx="4980960" cy="1270800"/>
          </a:xfrm>
          <a:custGeom>
            <a:avLst/>
            <a:gdLst/>
            <a:ahLst/>
            <a:cxnLst/>
            <a:rect l="0" t="0" r="r" b="b"/>
            <a:pathLst>
              <a:path w="13836" h="3530">
                <a:moveTo>
                  <a:pt x="0" y="0"/>
                </a:moveTo>
                <a:lnTo>
                  <a:pt x="13836" y="0"/>
                </a:lnTo>
                <a:lnTo>
                  <a:pt x="13836" y="3530"/>
                </a:lnTo>
                <a:lnTo>
                  <a:pt x="0" y="35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Freeform 797"/>
          <p:cNvSpPr/>
          <p:nvPr/>
        </p:nvSpPr>
        <p:spPr>
          <a:xfrm>
            <a:off x="267120" y="3242160"/>
            <a:ext cx="33840" cy="1270800"/>
          </a:xfrm>
          <a:custGeom>
            <a:avLst/>
            <a:gdLst/>
            <a:ahLst/>
            <a:cxnLst/>
            <a:rect l="0" t="0" r="r" b="b"/>
            <a:pathLst>
              <a:path w="94" h="3530">
                <a:moveTo>
                  <a:pt x="0" y="0"/>
                </a:moveTo>
                <a:lnTo>
                  <a:pt x="94" y="0"/>
                </a:lnTo>
                <a:lnTo>
                  <a:pt x="94" y="3530"/>
                </a:lnTo>
                <a:lnTo>
                  <a:pt x="0" y="3530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Freeform 798"/>
          <p:cNvSpPr/>
          <p:nvPr/>
        </p:nvSpPr>
        <p:spPr>
          <a:xfrm>
            <a:off x="434520" y="3376080"/>
            <a:ext cx="267480" cy="267480"/>
          </a:xfrm>
          <a:custGeom>
            <a:avLst/>
            <a:gdLst/>
            <a:ahLst/>
            <a:cxnLst/>
            <a:rect l="0" t="0" r="r" b="b"/>
            <a:pathLst>
              <a:path w="743" h="743">
                <a:moveTo>
                  <a:pt x="743" y="371"/>
                </a:moveTo>
                <a:cubicBezTo>
                  <a:pt x="743" y="395"/>
                  <a:pt x="741" y="420"/>
                  <a:pt x="736" y="443"/>
                </a:cubicBezTo>
                <a:cubicBezTo>
                  <a:pt x="732" y="467"/>
                  <a:pt x="724" y="491"/>
                  <a:pt x="715" y="513"/>
                </a:cubicBezTo>
                <a:cubicBezTo>
                  <a:pt x="706" y="536"/>
                  <a:pt x="694" y="557"/>
                  <a:pt x="681" y="577"/>
                </a:cubicBezTo>
                <a:cubicBezTo>
                  <a:pt x="667" y="598"/>
                  <a:pt x="652" y="616"/>
                  <a:pt x="634" y="634"/>
                </a:cubicBezTo>
                <a:cubicBezTo>
                  <a:pt x="616" y="652"/>
                  <a:pt x="598" y="667"/>
                  <a:pt x="577" y="681"/>
                </a:cubicBezTo>
                <a:cubicBezTo>
                  <a:pt x="557" y="694"/>
                  <a:pt x="536" y="706"/>
                  <a:pt x="513" y="715"/>
                </a:cubicBezTo>
                <a:cubicBezTo>
                  <a:pt x="491" y="724"/>
                  <a:pt x="467" y="731"/>
                  <a:pt x="443" y="736"/>
                </a:cubicBezTo>
                <a:cubicBezTo>
                  <a:pt x="420" y="741"/>
                  <a:pt x="395" y="743"/>
                  <a:pt x="371" y="743"/>
                </a:cubicBezTo>
                <a:cubicBezTo>
                  <a:pt x="347" y="743"/>
                  <a:pt x="322" y="741"/>
                  <a:pt x="299" y="736"/>
                </a:cubicBezTo>
                <a:cubicBezTo>
                  <a:pt x="275" y="731"/>
                  <a:pt x="251" y="724"/>
                  <a:pt x="229" y="715"/>
                </a:cubicBezTo>
                <a:cubicBezTo>
                  <a:pt x="206" y="706"/>
                  <a:pt x="185" y="694"/>
                  <a:pt x="165" y="681"/>
                </a:cubicBezTo>
                <a:cubicBezTo>
                  <a:pt x="144" y="667"/>
                  <a:pt x="126" y="652"/>
                  <a:pt x="108" y="634"/>
                </a:cubicBezTo>
                <a:cubicBezTo>
                  <a:pt x="91" y="616"/>
                  <a:pt x="76" y="598"/>
                  <a:pt x="62" y="577"/>
                </a:cubicBezTo>
                <a:cubicBezTo>
                  <a:pt x="49" y="557"/>
                  <a:pt x="37" y="536"/>
                  <a:pt x="28" y="513"/>
                </a:cubicBezTo>
                <a:cubicBezTo>
                  <a:pt x="19" y="491"/>
                  <a:pt x="11" y="467"/>
                  <a:pt x="7" y="443"/>
                </a:cubicBezTo>
                <a:cubicBezTo>
                  <a:pt x="2" y="420"/>
                  <a:pt x="0" y="395"/>
                  <a:pt x="0" y="371"/>
                </a:cubicBezTo>
                <a:cubicBezTo>
                  <a:pt x="0" y="347"/>
                  <a:pt x="2" y="322"/>
                  <a:pt x="7" y="299"/>
                </a:cubicBezTo>
                <a:cubicBezTo>
                  <a:pt x="11" y="275"/>
                  <a:pt x="19" y="251"/>
                  <a:pt x="28" y="229"/>
                </a:cubicBezTo>
                <a:cubicBezTo>
                  <a:pt x="37" y="206"/>
                  <a:pt x="49" y="185"/>
                  <a:pt x="62" y="165"/>
                </a:cubicBezTo>
                <a:cubicBezTo>
                  <a:pt x="76" y="144"/>
                  <a:pt x="91" y="126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5" y="11"/>
                  <a:pt x="299" y="7"/>
                </a:cubicBezTo>
                <a:cubicBezTo>
                  <a:pt x="322" y="2"/>
                  <a:pt x="347" y="0"/>
                  <a:pt x="371" y="0"/>
                </a:cubicBezTo>
                <a:cubicBezTo>
                  <a:pt x="395" y="0"/>
                  <a:pt x="420" y="2"/>
                  <a:pt x="443" y="7"/>
                </a:cubicBezTo>
                <a:cubicBezTo>
                  <a:pt x="467" y="11"/>
                  <a:pt x="491" y="19"/>
                  <a:pt x="513" y="28"/>
                </a:cubicBezTo>
                <a:cubicBezTo>
                  <a:pt x="536" y="37"/>
                  <a:pt x="557" y="49"/>
                  <a:pt x="577" y="62"/>
                </a:cubicBezTo>
                <a:cubicBezTo>
                  <a:pt x="598" y="76"/>
                  <a:pt x="616" y="91"/>
                  <a:pt x="634" y="108"/>
                </a:cubicBezTo>
                <a:cubicBezTo>
                  <a:pt x="652" y="126"/>
                  <a:pt x="667" y="144"/>
                  <a:pt x="681" y="165"/>
                </a:cubicBezTo>
                <a:cubicBezTo>
                  <a:pt x="694" y="185"/>
                  <a:pt x="706" y="206"/>
                  <a:pt x="715" y="229"/>
                </a:cubicBezTo>
                <a:cubicBezTo>
                  <a:pt x="724" y="251"/>
                  <a:pt x="732" y="275"/>
                  <a:pt x="736" y="299"/>
                </a:cubicBezTo>
                <a:cubicBezTo>
                  <a:pt x="741" y="322"/>
                  <a:pt x="743" y="347"/>
                  <a:pt x="743" y="371"/>
                </a:cubicBezTo>
                <a:close/>
              </a:path>
            </a:pathLst>
          </a:custGeom>
          <a:solidFill>
            <a:srgbClr val="DC262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00" name="Picture 799"/>
          <p:cNvPicPr/>
          <p:nvPr/>
        </p:nvPicPr>
        <p:blipFill>
          <a:blip r:embed="rId5"/>
          <a:stretch/>
        </p:blipFill>
        <p:spPr>
          <a:xfrm>
            <a:off x="501480" y="34430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1" name="TextBox 800"/>
          <p:cNvSpPr txBox="1"/>
          <p:nvPr/>
        </p:nvSpPr>
        <p:spPr>
          <a:xfrm>
            <a:off x="267480" y="863280"/>
            <a:ext cx="87717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Inserting the second equation into the ODE numerical solver and ensuring correct conversion to the JAX framework.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Freeform 801"/>
          <p:cNvSpPr/>
          <p:nvPr/>
        </p:nvSpPr>
        <p:spPr>
          <a:xfrm>
            <a:off x="626400" y="37854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6"/>
                  <a:pt x="116" y="73"/>
                  <a:pt x="113" y="80"/>
                </a:cubicBezTo>
                <a:cubicBezTo>
                  <a:pt x="110" y="87"/>
                  <a:pt x="106" y="94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4"/>
                  <a:pt x="8" y="87"/>
                  <a:pt x="5" y="80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2"/>
                  <a:pt x="101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8" y="50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TextBox 802"/>
          <p:cNvSpPr txBox="1"/>
          <p:nvPr/>
        </p:nvSpPr>
        <p:spPr>
          <a:xfrm>
            <a:off x="802080" y="3413160"/>
            <a:ext cx="25974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Implementation Challenges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Freeform 803"/>
          <p:cNvSpPr/>
          <p:nvPr/>
        </p:nvSpPr>
        <p:spPr>
          <a:xfrm>
            <a:off x="626400" y="40194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7"/>
                  <a:pt x="116" y="74"/>
                  <a:pt x="113" y="81"/>
                </a:cubicBezTo>
                <a:cubicBezTo>
                  <a:pt x="110" y="88"/>
                  <a:pt x="106" y="95"/>
                  <a:pt x="101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2"/>
                  <a:pt x="101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8" y="51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TextBox 804"/>
          <p:cNvSpPr txBox="1"/>
          <p:nvPr/>
        </p:nvSpPr>
        <p:spPr>
          <a:xfrm>
            <a:off x="768960" y="3728520"/>
            <a:ext cx="2827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Converting from Numpy to JAX framework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Freeform 805"/>
          <p:cNvSpPr/>
          <p:nvPr/>
        </p:nvSpPr>
        <p:spPr>
          <a:xfrm>
            <a:off x="626400" y="42534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6"/>
                  <a:pt x="116" y="73"/>
                  <a:pt x="113" y="81"/>
                </a:cubicBezTo>
                <a:cubicBezTo>
                  <a:pt x="110" y="88"/>
                  <a:pt x="106" y="95"/>
                  <a:pt x="101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2"/>
                  <a:pt x="101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8" y="50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TextBox 806"/>
          <p:cNvSpPr txBox="1"/>
          <p:nvPr/>
        </p:nvSpPr>
        <p:spPr>
          <a:xfrm>
            <a:off x="768960" y="3962520"/>
            <a:ext cx="2610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Adjusting numerical solver parameters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Freeform 807"/>
          <p:cNvSpPr/>
          <p:nvPr/>
        </p:nvSpPr>
        <p:spPr>
          <a:xfrm>
            <a:off x="5448240" y="3242160"/>
            <a:ext cx="4980960" cy="1270800"/>
          </a:xfrm>
          <a:custGeom>
            <a:avLst/>
            <a:gdLst/>
            <a:ahLst/>
            <a:cxnLst/>
            <a:rect l="0" t="0" r="r" b="b"/>
            <a:pathLst>
              <a:path w="13836" h="3530">
                <a:moveTo>
                  <a:pt x="0" y="0"/>
                </a:moveTo>
                <a:lnTo>
                  <a:pt x="13836" y="0"/>
                </a:lnTo>
                <a:lnTo>
                  <a:pt x="13836" y="3530"/>
                </a:lnTo>
                <a:lnTo>
                  <a:pt x="0" y="35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Freeform 808"/>
          <p:cNvSpPr/>
          <p:nvPr/>
        </p:nvSpPr>
        <p:spPr>
          <a:xfrm>
            <a:off x="5448240" y="3242160"/>
            <a:ext cx="33840" cy="1270800"/>
          </a:xfrm>
          <a:custGeom>
            <a:avLst/>
            <a:gdLst/>
            <a:ahLst/>
            <a:cxnLst/>
            <a:rect l="0" t="0" r="r" b="b"/>
            <a:pathLst>
              <a:path w="94" h="3530">
                <a:moveTo>
                  <a:pt x="0" y="0"/>
                </a:moveTo>
                <a:lnTo>
                  <a:pt x="94" y="0"/>
                </a:lnTo>
                <a:lnTo>
                  <a:pt x="94" y="3530"/>
                </a:lnTo>
                <a:lnTo>
                  <a:pt x="0" y="3530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Freeform 809"/>
          <p:cNvSpPr/>
          <p:nvPr/>
        </p:nvSpPr>
        <p:spPr>
          <a:xfrm>
            <a:off x="5615640" y="3376080"/>
            <a:ext cx="267480" cy="267480"/>
          </a:xfrm>
          <a:custGeom>
            <a:avLst/>
            <a:gdLst/>
            <a:ahLst/>
            <a:cxnLst/>
            <a:rect l="0" t="0" r="r" b="b"/>
            <a:pathLst>
              <a:path w="743" h="743">
                <a:moveTo>
                  <a:pt x="743" y="371"/>
                </a:moveTo>
                <a:cubicBezTo>
                  <a:pt x="743" y="395"/>
                  <a:pt x="741" y="420"/>
                  <a:pt x="736" y="443"/>
                </a:cubicBezTo>
                <a:cubicBezTo>
                  <a:pt x="732" y="467"/>
                  <a:pt x="725" y="491"/>
                  <a:pt x="715" y="513"/>
                </a:cubicBezTo>
                <a:cubicBezTo>
                  <a:pt x="706" y="536"/>
                  <a:pt x="694" y="557"/>
                  <a:pt x="681" y="577"/>
                </a:cubicBezTo>
                <a:cubicBezTo>
                  <a:pt x="667" y="598"/>
                  <a:pt x="652" y="616"/>
                  <a:pt x="635" y="634"/>
                </a:cubicBezTo>
                <a:cubicBezTo>
                  <a:pt x="617" y="652"/>
                  <a:pt x="599" y="667"/>
                  <a:pt x="578" y="681"/>
                </a:cubicBezTo>
                <a:cubicBezTo>
                  <a:pt x="558" y="694"/>
                  <a:pt x="537" y="706"/>
                  <a:pt x="514" y="715"/>
                </a:cubicBezTo>
                <a:cubicBezTo>
                  <a:pt x="492" y="724"/>
                  <a:pt x="468" y="731"/>
                  <a:pt x="445" y="736"/>
                </a:cubicBezTo>
                <a:cubicBezTo>
                  <a:pt x="421" y="741"/>
                  <a:pt x="396" y="743"/>
                  <a:pt x="372" y="743"/>
                </a:cubicBezTo>
                <a:cubicBezTo>
                  <a:pt x="347" y="743"/>
                  <a:pt x="323" y="741"/>
                  <a:pt x="299" y="736"/>
                </a:cubicBezTo>
                <a:cubicBezTo>
                  <a:pt x="275" y="731"/>
                  <a:pt x="251" y="724"/>
                  <a:pt x="229" y="715"/>
                </a:cubicBezTo>
                <a:cubicBezTo>
                  <a:pt x="206" y="706"/>
                  <a:pt x="185" y="694"/>
                  <a:pt x="165" y="681"/>
                </a:cubicBezTo>
                <a:cubicBezTo>
                  <a:pt x="144" y="667"/>
                  <a:pt x="126" y="652"/>
                  <a:pt x="108" y="634"/>
                </a:cubicBezTo>
                <a:cubicBezTo>
                  <a:pt x="91" y="616"/>
                  <a:pt x="76" y="598"/>
                  <a:pt x="62" y="577"/>
                </a:cubicBezTo>
                <a:cubicBezTo>
                  <a:pt x="49" y="557"/>
                  <a:pt x="37" y="536"/>
                  <a:pt x="28" y="513"/>
                </a:cubicBezTo>
                <a:cubicBezTo>
                  <a:pt x="19" y="491"/>
                  <a:pt x="12" y="467"/>
                  <a:pt x="7" y="443"/>
                </a:cubicBezTo>
                <a:cubicBezTo>
                  <a:pt x="2" y="420"/>
                  <a:pt x="0" y="395"/>
                  <a:pt x="0" y="371"/>
                </a:cubicBezTo>
                <a:cubicBezTo>
                  <a:pt x="0" y="347"/>
                  <a:pt x="2" y="322"/>
                  <a:pt x="7" y="299"/>
                </a:cubicBezTo>
                <a:cubicBezTo>
                  <a:pt x="12" y="275"/>
                  <a:pt x="19" y="251"/>
                  <a:pt x="28" y="229"/>
                </a:cubicBezTo>
                <a:cubicBezTo>
                  <a:pt x="37" y="206"/>
                  <a:pt x="49" y="185"/>
                  <a:pt x="62" y="165"/>
                </a:cubicBezTo>
                <a:cubicBezTo>
                  <a:pt x="76" y="144"/>
                  <a:pt x="91" y="126"/>
                  <a:pt x="108" y="108"/>
                </a:cubicBezTo>
                <a:cubicBezTo>
                  <a:pt x="126" y="91"/>
                  <a:pt x="144" y="76"/>
                  <a:pt x="165" y="62"/>
                </a:cubicBezTo>
                <a:cubicBezTo>
                  <a:pt x="185" y="49"/>
                  <a:pt x="206" y="37"/>
                  <a:pt x="229" y="28"/>
                </a:cubicBezTo>
                <a:cubicBezTo>
                  <a:pt x="251" y="19"/>
                  <a:pt x="275" y="11"/>
                  <a:pt x="299" y="7"/>
                </a:cubicBezTo>
                <a:cubicBezTo>
                  <a:pt x="323" y="2"/>
                  <a:pt x="347" y="0"/>
                  <a:pt x="372" y="0"/>
                </a:cubicBezTo>
                <a:cubicBezTo>
                  <a:pt x="396" y="0"/>
                  <a:pt x="421" y="2"/>
                  <a:pt x="445" y="7"/>
                </a:cubicBezTo>
                <a:cubicBezTo>
                  <a:pt x="468" y="11"/>
                  <a:pt x="492" y="19"/>
                  <a:pt x="514" y="28"/>
                </a:cubicBezTo>
                <a:cubicBezTo>
                  <a:pt x="537" y="37"/>
                  <a:pt x="558" y="49"/>
                  <a:pt x="578" y="62"/>
                </a:cubicBezTo>
                <a:cubicBezTo>
                  <a:pt x="599" y="76"/>
                  <a:pt x="617" y="91"/>
                  <a:pt x="635" y="108"/>
                </a:cubicBezTo>
                <a:cubicBezTo>
                  <a:pt x="652" y="126"/>
                  <a:pt x="667" y="144"/>
                  <a:pt x="681" y="165"/>
                </a:cubicBezTo>
                <a:cubicBezTo>
                  <a:pt x="694" y="185"/>
                  <a:pt x="706" y="206"/>
                  <a:pt x="715" y="229"/>
                </a:cubicBezTo>
                <a:cubicBezTo>
                  <a:pt x="725" y="251"/>
                  <a:pt x="732" y="275"/>
                  <a:pt x="736" y="299"/>
                </a:cubicBezTo>
                <a:cubicBezTo>
                  <a:pt x="741" y="322"/>
                  <a:pt x="743" y="347"/>
                  <a:pt x="743" y="371"/>
                </a:cubicBezTo>
                <a:close/>
              </a:path>
            </a:pathLst>
          </a:custGeom>
          <a:solidFill>
            <a:srgbClr val="05966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11" name="Picture 810"/>
          <p:cNvPicPr/>
          <p:nvPr/>
        </p:nvPicPr>
        <p:blipFill>
          <a:blip r:embed="rId6"/>
          <a:stretch/>
        </p:blipFill>
        <p:spPr>
          <a:xfrm>
            <a:off x="5699160" y="344304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2" name="TextBox 811"/>
          <p:cNvSpPr txBox="1"/>
          <p:nvPr/>
        </p:nvSpPr>
        <p:spPr>
          <a:xfrm>
            <a:off x="768960" y="4196160"/>
            <a:ext cx="2958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Identifying subtle code adjustments needed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Freeform 812"/>
          <p:cNvSpPr/>
          <p:nvPr/>
        </p:nvSpPr>
        <p:spPr>
          <a:xfrm>
            <a:off x="5807880" y="3785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0"/>
                </a:cubicBezTo>
                <a:cubicBezTo>
                  <a:pt x="109" y="87"/>
                  <a:pt x="105" y="94"/>
                  <a:pt x="100" y="100"/>
                </a:cubicBezTo>
                <a:cubicBezTo>
                  <a:pt x="94" y="106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1" y="117"/>
                  <a:pt x="43" y="116"/>
                  <a:pt x="35" y="113"/>
                </a:cubicBezTo>
                <a:cubicBezTo>
                  <a:pt x="28" y="110"/>
                  <a:pt x="22" y="106"/>
                  <a:pt x="17" y="100"/>
                </a:cubicBezTo>
                <a:cubicBezTo>
                  <a:pt x="11" y="94"/>
                  <a:pt x="7" y="87"/>
                  <a:pt x="4" y="80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28" y="7"/>
                  <a:pt x="35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TextBox 813"/>
          <p:cNvSpPr txBox="1"/>
          <p:nvPr/>
        </p:nvSpPr>
        <p:spPr>
          <a:xfrm>
            <a:off x="5983560" y="3413160"/>
            <a:ext cx="2193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Solutions Implemented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Freeform 814"/>
          <p:cNvSpPr/>
          <p:nvPr/>
        </p:nvSpPr>
        <p:spPr>
          <a:xfrm>
            <a:off x="5807880" y="4019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5" y="74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5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1" y="117"/>
                  <a:pt x="43" y="116"/>
                  <a:pt x="35" y="113"/>
                </a:cubicBezTo>
                <a:cubicBezTo>
                  <a:pt x="28" y="110"/>
                  <a:pt x="22" y="105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28" y="7"/>
                  <a:pt x="35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09" y="29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TextBox 815"/>
          <p:cNvSpPr txBox="1"/>
          <p:nvPr/>
        </p:nvSpPr>
        <p:spPr>
          <a:xfrm>
            <a:off x="5950080" y="3728520"/>
            <a:ext cx="2398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Replaced Numpy with JAX functions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Freeform 816"/>
          <p:cNvSpPr/>
          <p:nvPr/>
        </p:nvSpPr>
        <p:spPr>
          <a:xfrm>
            <a:off x="5807880" y="4253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5"/>
                  <a:pt x="88" y="110"/>
                  <a:pt x="81" y="113"/>
                </a:cubicBezTo>
                <a:cubicBezTo>
                  <a:pt x="74" y="116"/>
                  <a:pt x="66" y="117"/>
                  <a:pt x="59" y="117"/>
                </a:cubicBezTo>
                <a:cubicBezTo>
                  <a:pt x="51" y="117"/>
                  <a:pt x="43" y="116"/>
                  <a:pt x="35" y="113"/>
                </a:cubicBezTo>
                <a:cubicBezTo>
                  <a:pt x="28" y="110"/>
                  <a:pt x="22" y="105"/>
                  <a:pt x="17" y="100"/>
                </a:cubicBezTo>
                <a:cubicBezTo>
                  <a:pt x="11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1" y="22"/>
                  <a:pt x="17" y="17"/>
                </a:cubicBezTo>
                <a:cubicBezTo>
                  <a:pt x="22" y="12"/>
                  <a:pt x="28" y="7"/>
                  <a:pt x="35" y="4"/>
                </a:cubicBezTo>
                <a:cubicBezTo>
                  <a:pt x="43" y="1"/>
                  <a:pt x="51" y="0"/>
                  <a:pt x="59" y="0"/>
                </a:cubicBezTo>
                <a:cubicBezTo>
                  <a:pt x="66" y="0"/>
                  <a:pt x="74" y="1"/>
                  <a:pt x="81" y="4"/>
                </a:cubicBezTo>
                <a:cubicBezTo>
                  <a:pt x="88" y="7"/>
                  <a:pt x="94" y="12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TextBox 817"/>
          <p:cNvSpPr txBox="1"/>
          <p:nvPr/>
        </p:nvSpPr>
        <p:spPr>
          <a:xfrm>
            <a:off x="5950080" y="3962520"/>
            <a:ext cx="2517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Modiﬁed solver tolerance parameters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9" name="Picture 818"/>
          <p:cNvPicPr/>
          <p:nvPr/>
        </p:nvPicPr>
        <p:blipFill>
          <a:blip r:embed="rId7"/>
          <a:stretch/>
        </p:blipFill>
        <p:spPr>
          <a:xfrm>
            <a:off x="1671480" y="3175560"/>
            <a:ext cx="7353360" cy="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0" name="TextBox 819"/>
          <p:cNvSpPr txBox="1"/>
          <p:nvPr/>
        </p:nvSpPr>
        <p:spPr>
          <a:xfrm>
            <a:off x="5950080" y="4196160"/>
            <a:ext cx="2585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Validated against original Numpy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TextBox 823"/>
          <p:cNvSpPr txBox="1"/>
          <p:nvPr/>
        </p:nvSpPr>
        <p:spPr>
          <a:xfrm>
            <a:off x="10025640" y="60264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16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28" name="Picture 827"/>
          <p:cNvPicPr/>
          <p:nvPr/>
        </p:nvPicPr>
        <p:blipFill>
          <a:blip r:embed="rId8"/>
          <a:stretch/>
        </p:blipFill>
        <p:spPr>
          <a:xfrm>
            <a:off x="3384360" y="20556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1" name="Picture 830"/>
          <p:cNvPicPr/>
          <p:nvPr/>
        </p:nvPicPr>
        <p:blipFill>
          <a:blip r:embed="rId9"/>
          <a:stretch/>
        </p:blipFill>
        <p:spPr>
          <a:xfrm>
            <a:off x="4262040" y="160452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" name="TextBox 832"/>
          <p:cNvSpPr txBox="1"/>
          <p:nvPr/>
        </p:nvSpPr>
        <p:spPr>
          <a:xfrm>
            <a:off x="4546080" y="1573920"/>
            <a:ext cx="18115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JAX Implementation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38" name="Picture 837"/>
          <p:cNvPicPr/>
          <p:nvPr/>
        </p:nvPicPr>
        <p:blipFill>
          <a:blip r:embed="rId8"/>
          <a:stretch/>
        </p:blipFill>
        <p:spPr>
          <a:xfrm>
            <a:off x="7194960" y="20556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3" name="TextBox 842"/>
          <p:cNvSpPr txBox="1"/>
          <p:nvPr/>
        </p:nvSpPr>
        <p:spPr>
          <a:xfrm>
            <a:off x="8356680" y="1573920"/>
            <a:ext cx="18115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Integration Result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TextBox 844"/>
          <p:cNvSpPr txBox="1"/>
          <p:nvPr/>
        </p:nvSpPr>
        <p:spPr>
          <a:xfrm>
            <a:off x="8022600" y="2058480"/>
            <a:ext cx="6346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solve_ivp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computer screen with text and symbols&#10;&#10;Description automatically generated">
            <a:extLst>
              <a:ext uri="{FF2B5EF4-FFF2-40B4-BE49-F238E27FC236}">
                <a16:creationId xmlns:a16="http://schemas.microsoft.com/office/drawing/2014/main" id="{855A852E-70D7-7534-1433-C4A03A896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11" y="1521720"/>
            <a:ext cx="4811760" cy="1503000"/>
          </a:xfrm>
          <a:prstGeom prst="rect">
            <a:avLst/>
          </a:prstGeom>
        </p:spPr>
      </p:pic>
      <p:pic>
        <p:nvPicPr>
          <p:cNvPr id="5" name="Picture 4" descr="A computer screen with text&#10;&#10;Description automatically generated">
            <a:extLst>
              <a:ext uri="{FF2B5EF4-FFF2-40B4-BE49-F238E27FC236}">
                <a16:creationId xmlns:a16="http://schemas.microsoft.com/office/drawing/2014/main" id="{A2269A5A-9253-AAEB-3F8B-28F9663358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515" y="1521719"/>
            <a:ext cx="4552560" cy="14849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Picture 848"/>
          <p:cNvPicPr/>
          <p:nvPr/>
        </p:nvPicPr>
        <p:blipFill>
          <a:blip r:embed="rId2"/>
          <a:stretch/>
        </p:blipFill>
        <p:spPr>
          <a:xfrm>
            <a:off x="-1070604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0" name="Picture 849"/>
          <p:cNvPicPr/>
          <p:nvPr/>
        </p:nvPicPr>
        <p:blipFill>
          <a:blip r:embed="rId3"/>
          <a:stretch/>
        </p:blipFill>
        <p:spPr>
          <a:xfrm>
            <a:off x="-936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1" name="Picture 850"/>
          <p:cNvPicPr/>
          <p:nvPr/>
        </p:nvPicPr>
        <p:blipFill>
          <a:blip r:embed="rId2"/>
          <a:stretch/>
        </p:blipFill>
        <p:spPr>
          <a:xfrm>
            <a:off x="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2" name="Picture 851"/>
          <p:cNvPicPr/>
          <p:nvPr/>
        </p:nvPicPr>
        <p:blipFill>
          <a:blip r:embed="rId3"/>
          <a:stretch/>
        </p:blipFill>
        <p:spPr>
          <a:xfrm>
            <a:off x="1069668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3" name="Picture 852"/>
          <p:cNvPicPr/>
          <p:nvPr/>
        </p:nvPicPr>
        <p:blipFill>
          <a:blip r:embed="rId2"/>
          <a:stretch/>
        </p:blipFill>
        <p:spPr>
          <a:xfrm>
            <a:off x="-1070604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4" name="Picture 853"/>
          <p:cNvPicPr/>
          <p:nvPr/>
        </p:nvPicPr>
        <p:blipFill>
          <a:blip r:embed="rId3"/>
          <a:stretch/>
        </p:blipFill>
        <p:spPr>
          <a:xfrm>
            <a:off x="-936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5" name="Picture 854"/>
          <p:cNvPicPr/>
          <p:nvPr/>
        </p:nvPicPr>
        <p:blipFill>
          <a:blip r:embed="rId2"/>
          <a:stretch/>
        </p:blipFill>
        <p:spPr>
          <a:xfrm>
            <a:off x="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6" name="Picture 855"/>
          <p:cNvPicPr/>
          <p:nvPr/>
        </p:nvPicPr>
        <p:blipFill>
          <a:blip r:embed="rId3"/>
          <a:stretch/>
        </p:blipFill>
        <p:spPr>
          <a:xfrm>
            <a:off x="1069668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7" name="Picture 856"/>
          <p:cNvPicPr/>
          <p:nvPr/>
        </p:nvPicPr>
        <p:blipFill>
          <a:blip r:embed="rId2"/>
          <a:stretch/>
        </p:blipFill>
        <p:spPr>
          <a:xfrm>
            <a:off x="-1070604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8" name="Picture 857"/>
          <p:cNvPicPr/>
          <p:nvPr/>
        </p:nvPicPr>
        <p:blipFill>
          <a:blip r:embed="rId3"/>
          <a:stretch/>
        </p:blipFill>
        <p:spPr>
          <a:xfrm>
            <a:off x="-936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9" name="Picture 858"/>
          <p:cNvPicPr/>
          <p:nvPr/>
        </p:nvPicPr>
        <p:blipFill>
          <a:blip r:embed="rId2"/>
          <a:stretch/>
        </p:blipFill>
        <p:spPr>
          <a:xfrm>
            <a:off x="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0" name="Picture 859"/>
          <p:cNvPicPr/>
          <p:nvPr/>
        </p:nvPicPr>
        <p:blipFill>
          <a:blip r:embed="rId3"/>
          <a:stretch/>
        </p:blipFill>
        <p:spPr>
          <a:xfrm>
            <a:off x="1069668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1" name="Picture 860"/>
          <p:cNvPicPr/>
          <p:nvPr/>
        </p:nvPicPr>
        <p:blipFill>
          <a:blip r:embed="rId4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2" name="Freeform 861"/>
          <p:cNvSpPr/>
          <p:nvPr/>
        </p:nvSpPr>
        <p:spPr>
          <a:xfrm>
            <a:off x="267120" y="835560"/>
            <a:ext cx="4880880" cy="2356920"/>
          </a:xfrm>
          <a:custGeom>
            <a:avLst/>
            <a:gdLst/>
            <a:ahLst/>
            <a:cxnLst/>
            <a:rect l="0" t="0" r="r" b="b"/>
            <a:pathLst>
              <a:path w="13558" h="6547">
                <a:moveTo>
                  <a:pt x="0" y="0"/>
                </a:moveTo>
                <a:lnTo>
                  <a:pt x="13558" y="0"/>
                </a:lnTo>
                <a:lnTo>
                  <a:pt x="13558" y="6547"/>
                </a:lnTo>
                <a:lnTo>
                  <a:pt x="0" y="6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Freeform 862"/>
          <p:cNvSpPr/>
          <p:nvPr/>
        </p:nvSpPr>
        <p:spPr>
          <a:xfrm>
            <a:off x="267120" y="835560"/>
            <a:ext cx="33840" cy="2356920"/>
          </a:xfrm>
          <a:custGeom>
            <a:avLst/>
            <a:gdLst/>
            <a:ahLst/>
            <a:cxnLst/>
            <a:rect l="0" t="0" r="r" b="b"/>
            <a:pathLst>
              <a:path w="94" h="6547">
                <a:moveTo>
                  <a:pt x="0" y="0"/>
                </a:moveTo>
                <a:lnTo>
                  <a:pt x="94" y="0"/>
                </a:lnTo>
                <a:lnTo>
                  <a:pt x="94" y="6547"/>
                </a:lnTo>
                <a:lnTo>
                  <a:pt x="0" y="6547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64" name="Picture 863"/>
          <p:cNvPicPr/>
          <p:nvPr/>
        </p:nvPicPr>
        <p:blipFill>
          <a:blip r:embed="rId5"/>
          <a:stretch/>
        </p:blipFill>
        <p:spPr>
          <a:xfrm>
            <a:off x="501480" y="103608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5" name="Picture 864"/>
          <p:cNvPicPr/>
          <p:nvPr/>
        </p:nvPicPr>
        <p:blipFill>
          <a:blip r:embed="rId6"/>
          <a:stretch/>
        </p:blipFill>
        <p:spPr>
          <a:xfrm>
            <a:off x="626760" y="11617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6" name="TextBox 865"/>
          <p:cNvSpPr txBox="1"/>
          <p:nvPr/>
        </p:nvSpPr>
        <p:spPr>
          <a:xfrm>
            <a:off x="334440" y="135000"/>
            <a:ext cx="6537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Step 4: Physics-Informed Prediction Approach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Freeform 866"/>
          <p:cNvSpPr/>
          <p:nvPr/>
        </p:nvSpPr>
        <p:spPr>
          <a:xfrm>
            <a:off x="559800" y="1662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5" y="73"/>
                  <a:pt x="112" y="81"/>
                </a:cubicBezTo>
                <a:cubicBezTo>
                  <a:pt x="109" y="88"/>
                  <a:pt x="105" y="95"/>
                  <a:pt x="100" y="100"/>
                </a:cubicBezTo>
                <a:cubicBezTo>
                  <a:pt x="94" y="105"/>
                  <a:pt x="88" y="110"/>
                  <a:pt x="81" y="113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3"/>
                </a:cubicBezTo>
                <a:cubicBezTo>
                  <a:pt x="29" y="110"/>
                  <a:pt x="23" y="105"/>
                  <a:pt x="18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9"/>
                  <a:pt x="112" y="36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TextBox 867"/>
          <p:cNvSpPr txBox="1"/>
          <p:nvPr/>
        </p:nvSpPr>
        <p:spPr>
          <a:xfrm>
            <a:off x="1053000" y="1148400"/>
            <a:ext cx="1880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Current Work Focus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Freeform 868"/>
          <p:cNvSpPr/>
          <p:nvPr/>
        </p:nvSpPr>
        <p:spPr>
          <a:xfrm>
            <a:off x="559800" y="1930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8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7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TextBox 869"/>
          <p:cNvSpPr txBox="1"/>
          <p:nvPr/>
        </p:nvSpPr>
        <p:spPr>
          <a:xfrm>
            <a:off x="702000" y="1605600"/>
            <a:ext cx="2951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Predicting the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driving force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on the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TextBox 870"/>
          <p:cNvSpPr txBox="1"/>
          <p:nvPr/>
        </p:nvSpPr>
        <p:spPr>
          <a:xfrm>
            <a:off x="702000" y="1873080"/>
            <a:ext cx="3853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Driving force produced by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coupling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between modes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Freeform 871"/>
          <p:cNvSpPr/>
          <p:nvPr/>
        </p:nvSpPr>
        <p:spPr>
          <a:xfrm>
            <a:off x="559800" y="2398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5" y="74"/>
                  <a:pt x="112" y="81"/>
                </a:cubicBezTo>
                <a:cubicBezTo>
                  <a:pt x="109" y="88"/>
                  <a:pt x="105" y="94"/>
                  <a:pt x="100" y="100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6"/>
                </a:cubicBezTo>
                <a:cubicBezTo>
                  <a:pt x="7" y="29"/>
                  <a:pt x="12" y="23"/>
                  <a:pt x="18" y="18"/>
                </a:cubicBezTo>
                <a:cubicBezTo>
                  <a:pt x="23" y="12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2"/>
                  <a:pt x="100" y="18"/>
                </a:cubicBezTo>
                <a:cubicBezTo>
                  <a:pt x="105" y="23"/>
                  <a:pt x="109" y="29"/>
                  <a:pt x="112" y="36"/>
                </a:cubicBezTo>
                <a:cubicBezTo>
                  <a:pt x="115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TextBox 872"/>
          <p:cNvSpPr txBox="1"/>
          <p:nvPr/>
        </p:nvSpPr>
        <p:spPr>
          <a:xfrm>
            <a:off x="702000" y="2073600"/>
            <a:ext cx="1056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system rotation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TextBox 873"/>
          <p:cNvSpPr txBox="1"/>
          <p:nvPr/>
        </p:nvSpPr>
        <p:spPr>
          <a:xfrm>
            <a:off x="702000" y="2341080"/>
            <a:ext cx="3944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Assuming form of driving force is known (function of mode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Freeform 874"/>
          <p:cNvSpPr/>
          <p:nvPr/>
        </p:nvSpPr>
        <p:spPr>
          <a:xfrm>
            <a:off x="559800" y="2866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5" y="73"/>
                  <a:pt x="112" y="80"/>
                </a:cubicBezTo>
                <a:cubicBezTo>
                  <a:pt x="109" y="87"/>
                  <a:pt x="105" y="93"/>
                  <a:pt x="100" y="99"/>
                </a:cubicBezTo>
                <a:cubicBezTo>
                  <a:pt x="94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29" y="109"/>
                  <a:pt x="23" y="105"/>
                  <a:pt x="18" y="99"/>
                </a:cubicBezTo>
                <a:cubicBezTo>
                  <a:pt x="12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5"/>
                </a:cubicBezTo>
                <a:cubicBezTo>
                  <a:pt x="7" y="28"/>
                  <a:pt x="12" y="22"/>
                  <a:pt x="18" y="17"/>
                </a:cubicBezTo>
                <a:cubicBezTo>
                  <a:pt x="23" y="11"/>
                  <a:pt x="29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4" y="11"/>
                  <a:pt x="100" y="17"/>
                </a:cubicBezTo>
                <a:cubicBezTo>
                  <a:pt x="105" y="22"/>
                  <a:pt x="109" y="28"/>
                  <a:pt x="112" y="35"/>
                </a:cubicBezTo>
                <a:cubicBezTo>
                  <a:pt x="115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TextBox 875"/>
          <p:cNvSpPr txBox="1"/>
          <p:nvPr/>
        </p:nvSpPr>
        <p:spPr>
          <a:xfrm>
            <a:off x="702000" y="2541600"/>
            <a:ext cx="584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position)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Freeform 876"/>
          <p:cNvSpPr/>
          <p:nvPr/>
        </p:nvSpPr>
        <p:spPr>
          <a:xfrm>
            <a:off x="5548680" y="835560"/>
            <a:ext cx="4880520" cy="2356920"/>
          </a:xfrm>
          <a:custGeom>
            <a:avLst/>
            <a:gdLst/>
            <a:ahLst/>
            <a:cxnLst/>
            <a:rect l="0" t="0" r="r" b="b"/>
            <a:pathLst>
              <a:path w="13557" h="6547">
                <a:moveTo>
                  <a:pt x="0" y="0"/>
                </a:moveTo>
                <a:lnTo>
                  <a:pt x="13557" y="0"/>
                </a:lnTo>
                <a:lnTo>
                  <a:pt x="13557" y="6547"/>
                </a:lnTo>
                <a:lnTo>
                  <a:pt x="0" y="6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Freeform 877"/>
          <p:cNvSpPr/>
          <p:nvPr/>
        </p:nvSpPr>
        <p:spPr>
          <a:xfrm>
            <a:off x="5548680" y="835560"/>
            <a:ext cx="33840" cy="2356920"/>
          </a:xfrm>
          <a:custGeom>
            <a:avLst/>
            <a:gdLst/>
            <a:ahLst/>
            <a:cxnLst/>
            <a:rect l="0" t="0" r="r" b="b"/>
            <a:pathLst>
              <a:path w="94" h="6547">
                <a:moveTo>
                  <a:pt x="0" y="0"/>
                </a:moveTo>
                <a:lnTo>
                  <a:pt x="94" y="0"/>
                </a:lnTo>
                <a:lnTo>
                  <a:pt x="94" y="6547"/>
                </a:lnTo>
                <a:lnTo>
                  <a:pt x="0" y="6547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79" name="Picture 878"/>
          <p:cNvPicPr/>
          <p:nvPr/>
        </p:nvPicPr>
        <p:blipFill>
          <a:blip r:embed="rId7"/>
          <a:stretch/>
        </p:blipFill>
        <p:spPr>
          <a:xfrm>
            <a:off x="5782680" y="103608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0" name="Picture 879"/>
          <p:cNvPicPr/>
          <p:nvPr/>
        </p:nvPicPr>
        <p:blipFill>
          <a:blip r:embed="rId8"/>
          <a:stretch/>
        </p:blipFill>
        <p:spPr>
          <a:xfrm>
            <a:off x="5908320" y="11617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1" name="TextBox 880"/>
          <p:cNvSpPr txBox="1"/>
          <p:nvPr/>
        </p:nvSpPr>
        <p:spPr>
          <a:xfrm>
            <a:off x="702000" y="2809080"/>
            <a:ext cx="3746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Training NN based on solutions to diﬀerential equations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Freeform 881"/>
          <p:cNvSpPr/>
          <p:nvPr/>
        </p:nvSpPr>
        <p:spPr>
          <a:xfrm>
            <a:off x="5841000" y="1662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5"/>
                  <a:pt x="66" y="117"/>
                  <a:pt x="58" y="117"/>
                </a:cubicBezTo>
                <a:cubicBezTo>
                  <a:pt x="51" y="117"/>
                  <a:pt x="43" y="115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5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TextBox 882"/>
          <p:cNvSpPr txBox="1"/>
          <p:nvPr/>
        </p:nvSpPr>
        <p:spPr>
          <a:xfrm>
            <a:off x="6334200" y="1148400"/>
            <a:ext cx="2596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Physics-Informed Approach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Freeform 883"/>
          <p:cNvSpPr/>
          <p:nvPr/>
        </p:nvSpPr>
        <p:spPr>
          <a:xfrm>
            <a:off x="5841000" y="19303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1"/>
                  <a:pt x="2" y="44"/>
                  <a:pt x="5" y="37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5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8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TextBox 884"/>
          <p:cNvSpPr txBox="1"/>
          <p:nvPr/>
        </p:nvSpPr>
        <p:spPr>
          <a:xfrm>
            <a:off x="5983560" y="1605600"/>
            <a:ext cx="2713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Using physics equations as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constraints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Freeform 885"/>
          <p:cNvSpPr/>
          <p:nvPr/>
        </p:nvSpPr>
        <p:spPr>
          <a:xfrm>
            <a:off x="5841000" y="21978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0"/>
                </a:cubicBezTo>
                <a:cubicBezTo>
                  <a:pt x="110" y="87"/>
                  <a:pt x="106" y="93"/>
                  <a:pt x="100" y="99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6" y="117"/>
                  <a:pt x="58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99"/>
                </a:cubicBezTo>
                <a:cubicBezTo>
                  <a:pt x="12" y="93"/>
                  <a:pt x="8" y="87"/>
                  <a:pt x="5" y="80"/>
                </a:cubicBezTo>
                <a:cubicBezTo>
                  <a:pt x="2" y="73"/>
                  <a:pt x="0" y="65"/>
                  <a:pt x="0" y="58"/>
                </a:cubicBezTo>
                <a:cubicBezTo>
                  <a:pt x="0" y="50"/>
                  <a:pt x="2" y="42"/>
                  <a:pt x="5" y="35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58" y="0"/>
                </a:cubicBezTo>
                <a:cubicBezTo>
                  <a:pt x="66" y="0"/>
                  <a:pt x="75" y="1"/>
                  <a:pt x="82" y="4"/>
                </a:cubicBezTo>
                <a:cubicBezTo>
                  <a:pt x="89" y="7"/>
                  <a:pt x="95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2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TextBox 886"/>
          <p:cNvSpPr txBox="1"/>
          <p:nvPr/>
        </p:nvSpPr>
        <p:spPr>
          <a:xfrm>
            <a:off x="5983560" y="1873080"/>
            <a:ext cx="2768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Training data from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ODE solver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solutions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Freeform 887"/>
          <p:cNvSpPr/>
          <p:nvPr/>
        </p:nvSpPr>
        <p:spPr>
          <a:xfrm>
            <a:off x="5841000" y="246492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2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6" y="117"/>
                  <a:pt x="58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58" y="0"/>
                </a:cubicBezTo>
                <a:cubicBezTo>
                  <a:pt x="66" y="0"/>
                  <a:pt x="75" y="2"/>
                  <a:pt x="82" y="5"/>
                </a:cubicBezTo>
                <a:cubicBezTo>
                  <a:pt x="89" y="8"/>
                  <a:pt x="95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TextBox 888"/>
          <p:cNvSpPr txBox="1"/>
          <p:nvPr/>
        </p:nvSpPr>
        <p:spPr>
          <a:xfrm>
            <a:off x="5983560" y="2140560"/>
            <a:ext cx="3685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Predicting driving force from </a:t>
            </a:r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mode position/velocity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90" name="Picture 889"/>
          <p:cNvPicPr/>
          <p:nvPr/>
        </p:nvPicPr>
        <p:blipFill>
          <a:blip r:embed="rId9"/>
          <a:stretch/>
        </p:blipFill>
        <p:spPr>
          <a:xfrm>
            <a:off x="300960" y="3393000"/>
            <a:ext cx="10127880" cy="130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1" name="Freeform 890"/>
          <p:cNvSpPr/>
          <p:nvPr/>
        </p:nvSpPr>
        <p:spPr>
          <a:xfrm>
            <a:off x="267120" y="3392640"/>
            <a:ext cx="33840" cy="1303920"/>
          </a:xfrm>
          <a:custGeom>
            <a:avLst/>
            <a:gdLst/>
            <a:ahLst/>
            <a:cxnLst/>
            <a:rect l="0" t="0" r="r" b="b"/>
            <a:pathLst>
              <a:path w="94" h="3622">
                <a:moveTo>
                  <a:pt x="0" y="0"/>
                </a:moveTo>
                <a:lnTo>
                  <a:pt x="94" y="0"/>
                </a:lnTo>
                <a:lnTo>
                  <a:pt x="94" y="3622"/>
                </a:lnTo>
                <a:lnTo>
                  <a:pt x="0" y="3622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TextBox 891"/>
          <p:cNvSpPr txBox="1"/>
          <p:nvPr/>
        </p:nvSpPr>
        <p:spPr>
          <a:xfrm>
            <a:off x="5983560" y="2408040"/>
            <a:ext cx="3053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Validating against experimental observations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Freeform 892"/>
          <p:cNvSpPr/>
          <p:nvPr/>
        </p:nvSpPr>
        <p:spPr>
          <a:xfrm>
            <a:off x="284040" y="4896720"/>
            <a:ext cx="10145160" cy="685800"/>
          </a:xfrm>
          <a:custGeom>
            <a:avLst/>
            <a:gdLst/>
            <a:ahLst/>
            <a:cxnLst/>
            <a:rect l="0" t="0" r="r" b="b"/>
            <a:pathLst>
              <a:path w="28181" h="1905">
                <a:moveTo>
                  <a:pt x="0" y="1719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1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2"/>
                  <a:pt x="28032" y="4"/>
                </a:cubicBezTo>
                <a:cubicBezTo>
                  <a:pt x="28044" y="6"/>
                  <a:pt x="28055" y="10"/>
                  <a:pt x="28067" y="14"/>
                </a:cubicBezTo>
                <a:cubicBezTo>
                  <a:pt x="28078" y="19"/>
                  <a:pt x="28089" y="25"/>
                  <a:pt x="28099" y="32"/>
                </a:cubicBezTo>
                <a:cubicBezTo>
                  <a:pt x="28109" y="38"/>
                  <a:pt x="28118" y="46"/>
                  <a:pt x="28127" y="55"/>
                </a:cubicBezTo>
                <a:cubicBezTo>
                  <a:pt x="28136" y="63"/>
                  <a:pt x="28143" y="73"/>
                  <a:pt x="28150" y="83"/>
                </a:cubicBezTo>
                <a:cubicBezTo>
                  <a:pt x="28157" y="93"/>
                  <a:pt x="28163" y="104"/>
                  <a:pt x="28167" y="115"/>
                </a:cubicBezTo>
                <a:cubicBezTo>
                  <a:pt x="28172" y="126"/>
                  <a:pt x="28175" y="138"/>
                  <a:pt x="28178" y="150"/>
                </a:cubicBezTo>
                <a:cubicBezTo>
                  <a:pt x="28180" y="162"/>
                  <a:pt x="28181" y="174"/>
                  <a:pt x="28181" y="186"/>
                </a:cubicBezTo>
                <a:lnTo>
                  <a:pt x="28181" y="1719"/>
                </a:lnTo>
                <a:cubicBezTo>
                  <a:pt x="28181" y="1731"/>
                  <a:pt x="28180" y="1743"/>
                  <a:pt x="28178" y="1755"/>
                </a:cubicBezTo>
                <a:cubicBezTo>
                  <a:pt x="28175" y="1767"/>
                  <a:pt x="28172" y="1779"/>
                  <a:pt x="28167" y="1790"/>
                </a:cubicBezTo>
                <a:cubicBezTo>
                  <a:pt x="28163" y="1801"/>
                  <a:pt x="28157" y="1812"/>
                  <a:pt x="28150" y="1822"/>
                </a:cubicBezTo>
                <a:cubicBezTo>
                  <a:pt x="28143" y="1832"/>
                  <a:pt x="28136" y="1842"/>
                  <a:pt x="28127" y="1850"/>
                </a:cubicBezTo>
                <a:cubicBezTo>
                  <a:pt x="28118" y="1859"/>
                  <a:pt x="28109" y="1867"/>
                  <a:pt x="28099" y="1874"/>
                </a:cubicBezTo>
                <a:cubicBezTo>
                  <a:pt x="28089" y="1880"/>
                  <a:pt x="28078" y="1886"/>
                  <a:pt x="28067" y="1891"/>
                </a:cubicBezTo>
                <a:cubicBezTo>
                  <a:pt x="28055" y="1895"/>
                  <a:pt x="28044" y="1899"/>
                  <a:pt x="28032" y="1901"/>
                </a:cubicBezTo>
                <a:cubicBezTo>
                  <a:pt x="28020" y="1904"/>
                  <a:pt x="28008" y="1905"/>
                  <a:pt x="27996" y="1905"/>
                </a:cubicBezTo>
                <a:lnTo>
                  <a:pt x="139" y="1905"/>
                </a:lnTo>
                <a:cubicBezTo>
                  <a:pt x="130" y="1905"/>
                  <a:pt x="121" y="1904"/>
                  <a:pt x="112" y="1901"/>
                </a:cubicBezTo>
                <a:cubicBezTo>
                  <a:pt x="103" y="1899"/>
                  <a:pt x="94" y="1895"/>
                  <a:pt x="86" y="1891"/>
                </a:cubicBezTo>
                <a:cubicBezTo>
                  <a:pt x="77" y="1886"/>
                  <a:pt x="69" y="1880"/>
                  <a:pt x="62" y="1874"/>
                </a:cubicBezTo>
                <a:cubicBezTo>
                  <a:pt x="54" y="1867"/>
                  <a:pt x="47" y="1859"/>
                  <a:pt x="41" y="1850"/>
                </a:cubicBezTo>
                <a:cubicBezTo>
                  <a:pt x="34" y="1842"/>
                  <a:pt x="28" y="1832"/>
                  <a:pt x="23" y="1822"/>
                </a:cubicBezTo>
                <a:cubicBezTo>
                  <a:pt x="18" y="1812"/>
                  <a:pt x="14" y="1801"/>
                  <a:pt x="10" y="1790"/>
                </a:cubicBezTo>
                <a:cubicBezTo>
                  <a:pt x="7" y="1779"/>
                  <a:pt x="4" y="1767"/>
                  <a:pt x="2" y="1755"/>
                </a:cubicBezTo>
                <a:cubicBezTo>
                  <a:pt x="1" y="1743"/>
                  <a:pt x="0" y="1731"/>
                  <a:pt x="0" y="1719"/>
                </a:cubicBezTo>
                <a:close/>
              </a:path>
            </a:pathLst>
          </a:custGeom>
          <a:solidFill>
            <a:srgbClr val="FFFB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Freeform 893"/>
          <p:cNvSpPr/>
          <p:nvPr/>
        </p:nvSpPr>
        <p:spPr>
          <a:xfrm>
            <a:off x="267120" y="4896720"/>
            <a:ext cx="67320" cy="685800"/>
          </a:xfrm>
          <a:custGeom>
            <a:avLst/>
            <a:gdLst/>
            <a:ahLst/>
            <a:cxnLst/>
            <a:rect l="0" t="0" r="r" b="b"/>
            <a:pathLst>
              <a:path w="187" h="1905">
                <a:moveTo>
                  <a:pt x="0" y="0"/>
                </a:moveTo>
                <a:lnTo>
                  <a:pt x="187" y="0"/>
                </a:lnTo>
                <a:lnTo>
                  <a:pt x="187" y="1905"/>
                </a:lnTo>
                <a:lnTo>
                  <a:pt x="0" y="1905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95" name="Picture 894"/>
          <p:cNvPicPr/>
          <p:nvPr/>
        </p:nvPicPr>
        <p:blipFill>
          <a:blip r:embed="rId10"/>
          <a:stretch/>
        </p:blipFill>
        <p:spPr>
          <a:xfrm>
            <a:off x="434520" y="50306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6" name="Picture 895"/>
          <p:cNvPicPr/>
          <p:nvPr/>
        </p:nvPicPr>
        <p:blipFill>
          <a:blip r:embed="rId11"/>
          <a:stretch/>
        </p:blipFill>
        <p:spPr>
          <a:xfrm>
            <a:off x="585000" y="515592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7" name="TextBox 896"/>
          <p:cNvSpPr txBox="1"/>
          <p:nvPr/>
        </p:nvSpPr>
        <p:spPr>
          <a:xfrm>
            <a:off x="501480" y="3613680"/>
            <a:ext cx="3457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Physics-Informed Prediction Process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98" name="Picture 897"/>
          <p:cNvPicPr/>
          <p:nvPr/>
        </p:nvPicPr>
        <p:blipFill>
          <a:blip r:embed="rId12"/>
          <a:stretch/>
        </p:blipFill>
        <p:spPr>
          <a:xfrm>
            <a:off x="668520" y="4019400"/>
            <a:ext cx="28044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9" name="Picture 898"/>
          <p:cNvPicPr/>
          <p:nvPr/>
        </p:nvPicPr>
        <p:blipFill>
          <a:blip r:embed="rId13"/>
          <a:stretch/>
        </p:blipFill>
        <p:spPr>
          <a:xfrm>
            <a:off x="743760" y="4153320"/>
            <a:ext cx="13320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0" name="TextBox 899"/>
          <p:cNvSpPr txBox="1"/>
          <p:nvPr/>
        </p:nvSpPr>
        <p:spPr>
          <a:xfrm>
            <a:off x="986040" y="5157360"/>
            <a:ext cx="8382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Current Challenge: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Balancing between physics constraints and data-driven learning to accurately predict the driving force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TextBox 900"/>
          <p:cNvSpPr txBox="1"/>
          <p:nvPr/>
        </p:nvSpPr>
        <p:spPr>
          <a:xfrm>
            <a:off x="1047960" y="3979080"/>
            <a:ext cx="1638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Equation Formulation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TextBox 901"/>
          <p:cNvSpPr txBox="1"/>
          <p:nvPr/>
        </p:nvSpPr>
        <p:spPr>
          <a:xfrm>
            <a:off x="1047960" y="4178520"/>
            <a:ext cx="1286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Deﬁne equations with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Freeform 902"/>
          <p:cNvSpPr/>
          <p:nvPr/>
        </p:nvSpPr>
        <p:spPr>
          <a:xfrm>
            <a:off x="501120" y="3960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Freeform 903"/>
          <p:cNvSpPr/>
          <p:nvPr/>
        </p:nvSpPr>
        <p:spPr>
          <a:xfrm>
            <a:off x="501120" y="3965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Freeform 904"/>
          <p:cNvSpPr/>
          <p:nvPr/>
        </p:nvSpPr>
        <p:spPr>
          <a:xfrm>
            <a:off x="501120" y="3969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Freeform 905"/>
          <p:cNvSpPr/>
          <p:nvPr/>
        </p:nvSpPr>
        <p:spPr>
          <a:xfrm>
            <a:off x="501120" y="3973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Freeform 906"/>
          <p:cNvSpPr/>
          <p:nvPr/>
        </p:nvSpPr>
        <p:spPr>
          <a:xfrm>
            <a:off x="501120" y="39776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Freeform 907"/>
          <p:cNvSpPr/>
          <p:nvPr/>
        </p:nvSpPr>
        <p:spPr>
          <a:xfrm>
            <a:off x="501120" y="3981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Freeform 908"/>
          <p:cNvSpPr/>
          <p:nvPr/>
        </p:nvSpPr>
        <p:spPr>
          <a:xfrm>
            <a:off x="501120" y="3985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Freeform 909"/>
          <p:cNvSpPr/>
          <p:nvPr/>
        </p:nvSpPr>
        <p:spPr>
          <a:xfrm>
            <a:off x="501120" y="3990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Freeform 910"/>
          <p:cNvSpPr/>
          <p:nvPr/>
        </p:nvSpPr>
        <p:spPr>
          <a:xfrm>
            <a:off x="501120" y="3994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Freeform 911"/>
          <p:cNvSpPr/>
          <p:nvPr/>
        </p:nvSpPr>
        <p:spPr>
          <a:xfrm>
            <a:off x="501120" y="3998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Freeform 912"/>
          <p:cNvSpPr/>
          <p:nvPr/>
        </p:nvSpPr>
        <p:spPr>
          <a:xfrm>
            <a:off x="501120" y="4002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Freeform 913"/>
          <p:cNvSpPr/>
          <p:nvPr/>
        </p:nvSpPr>
        <p:spPr>
          <a:xfrm>
            <a:off x="501120" y="4006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Freeform 914"/>
          <p:cNvSpPr/>
          <p:nvPr/>
        </p:nvSpPr>
        <p:spPr>
          <a:xfrm>
            <a:off x="501120" y="4011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Freeform 915"/>
          <p:cNvSpPr/>
          <p:nvPr/>
        </p:nvSpPr>
        <p:spPr>
          <a:xfrm>
            <a:off x="501120" y="4015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Freeform 916"/>
          <p:cNvSpPr/>
          <p:nvPr/>
        </p:nvSpPr>
        <p:spPr>
          <a:xfrm>
            <a:off x="501120" y="4019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Freeform 917"/>
          <p:cNvSpPr/>
          <p:nvPr/>
        </p:nvSpPr>
        <p:spPr>
          <a:xfrm>
            <a:off x="501120" y="4023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Freeform 918"/>
          <p:cNvSpPr/>
          <p:nvPr/>
        </p:nvSpPr>
        <p:spPr>
          <a:xfrm>
            <a:off x="501120" y="4027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Freeform 919"/>
          <p:cNvSpPr/>
          <p:nvPr/>
        </p:nvSpPr>
        <p:spPr>
          <a:xfrm>
            <a:off x="501120" y="4032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Freeform 920"/>
          <p:cNvSpPr/>
          <p:nvPr/>
        </p:nvSpPr>
        <p:spPr>
          <a:xfrm>
            <a:off x="501120" y="4035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Freeform 921"/>
          <p:cNvSpPr/>
          <p:nvPr/>
        </p:nvSpPr>
        <p:spPr>
          <a:xfrm>
            <a:off x="501120" y="4040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Freeform 922"/>
          <p:cNvSpPr/>
          <p:nvPr/>
        </p:nvSpPr>
        <p:spPr>
          <a:xfrm>
            <a:off x="501120" y="4044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Freeform 923"/>
          <p:cNvSpPr/>
          <p:nvPr/>
        </p:nvSpPr>
        <p:spPr>
          <a:xfrm>
            <a:off x="501120" y="4048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A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Freeform 924"/>
          <p:cNvSpPr/>
          <p:nvPr/>
        </p:nvSpPr>
        <p:spPr>
          <a:xfrm>
            <a:off x="501120" y="4052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74A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Freeform 925"/>
          <p:cNvSpPr/>
          <p:nvPr/>
        </p:nvSpPr>
        <p:spPr>
          <a:xfrm>
            <a:off x="501120" y="40568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Freeform 926"/>
          <p:cNvSpPr/>
          <p:nvPr/>
        </p:nvSpPr>
        <p:spPr>
          <a:xfrm>
            <a:off x="501120" y="4061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Freeform 927"/>
          <p:cNvSpPr/>
          <p:nvPr/>
        </p:nvSpPr>
        <p:spPr>
          <a:xfrm>
            <a:off x="501120" y="4065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Freeform 928"/>
          <p:cNvSpPr/>
          <p:nvPr/>
        </p:nvSpPr>
        <p:spPr>
          <a:xfrm>
            <a:off x="501120" y="4069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Freeform 929"/>
          <p:cNvSpPr/>
          <p:nvPr/>
        </p:nvSpPr>
        <p:spPr>
          <a:xfrm>
            <a:off x="501120" y="4073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D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Freeform 930"/>
          <p:cNvSpPr/>
          <p:nvPr/>
        </p:nvSpPr>
        <p:spPr>
          <a:xfrm>
            <a:off x="501120" y="4077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Freeform 931"/>
          <p:cNvSpPr/>
          <p:nvPr/>
        </p:nvSpPr>
        <p:spPr>
          <a:xfrm>
            <a:off x="501120" y="4082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Freeform 932"/>
          <p:cNvSpPr/>
          <p:nvPr/>
        </p:nvSpPr>
        <p:spPr>
          <a:xfrm>
            <a:off x="501120" y="4086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Freeform 933"/>
          <p:cNvSpPr/>
          <p:nvPr/>
        </p:nvSpPr>
        <p:spPr>
          <a:xfrm>
            <a:off x="501120" y="4090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Freeform 934"/>
          <p:cNvSpPr/>
          <p:nvPr/>
        </p:nvSpPr>
        <p:spPr>
          <a:xfrm>
            <a:off x="501120" y="40946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Freeform 935"/>
          <p:cNvSpPr/>
          <p:nvPr/>
        </p:nvSpPr>
        <p:spPr>
          <a:xfrm>
            <a:off x="501120" y="4098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50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Freeform 936"/>
          <p:cNvSpPr/>
          <p:nvPr/>
        </p:nvSpPr>
        <p:spPr>
          <a:xfrm>
            <a:off x="501120" y="4102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1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Freeform 937"/>
          <p:cNvSpPr/>
          <p:nvPr/>
        </p:nvSpPr>
        <p:spPr>
          <a:xfrm>
            <a:off x="501120" y="4107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1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Freeform 938"/>
          <p:cNvSpPr/>
          <p:nvPr/>
        </p:nvSpPr>
        <p:spPr>
          <a:xfrm>
            <a:off x="501120" y="4111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Freeform 939"/>
          <p:cNvSpPr/>
          <p:nvPr/>
        </p:nvSpPr>
        <p:spPr>
          <a:xfrm>
            <a:off x="501120" y="4115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Freeform 940"/>
          <p:cNvSpPr/>
          <p:nvPr/>
        </p:nvSpPr>
        <p:spPr>
          <a:xfrm>
            <a:off x="501120" y="4119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Freeform 941"/>
          <p:cNvSpPr/>
          <p:nvPr/>
        </p:nvSpPr>
        <p:spPr>
          <a:xfrm>
            <a:off x="501120" y="4123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Freeform 942"/>
          <p:cNvSpPr/>
          <p:nvPr/>
        </p:nvSpPr>
        <p:spPr>
          <a:xfrm>
            <a:off x="501120" y="4128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4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Freeform 943"/>
          <p:cNvSpPr/>
          <p:nvPr/>
        </p:nvSpPr>
        <p:spPr>
          <a:xfrm>
            <a:off x="501120" y="413208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354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Freeform 944"/>
          <p:cNvSpPr/>
          <p:nvPr/>
        </p:nvSpPr>
        <p:spPr>
          <a:xfrm>
            <a:off x="501120" y="4136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Freeform 945"/>
          <p:cNvSpPr/>
          <p:nvPr/>
        </p:nvSpPr>
        <p:spPr>
          <a:xfrm>
            <a:off x="501120" y="4140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Freeform 946"/>
          <p:cNvSpPr/>
          <p:nvPr/>
        </p:nvSpPr>
        <p:spPr>
          <a:xfrm>
            <a:off x="501120" y="4144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Freeform 947"/>
          <p:cNvSpPr/>
          <p:nvPr/>
        </p:nvSpPr>
        <p:spPr>
          <a:xfrm>
            <a:off x="501120" y="4149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Freeform 948"/>
          <p:cNvSpPr/>
          <p:nvPr/>
        </p:nvSpPr>
        <p:spPr>
          <a:xfrm>
            <a:off x="501120" y="4152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Freeform 949"/>
          <p:cNvSpPr/>
          <p:nvPr/>
        </p:nvSpPr>
        <p:spPr>
          <a:xfrm>
            <a:off x="501120" y="4157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Freeform 950"/>
          <p:cNvSpPr/>
          <p:nvPr/>
        </p:nvSpPr>
        <p:spPr>
          <a:xfrm>
            <a:off x="501120" y="4161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Freeform 951"/>
          <p:cNvSpPr/>
          <p:nvPr/>
        </p:nvSpPr>
        <p:spPr>
          <a:xfrm>
            <a:off x="501120" y="4165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Freeform 952"/>
          <p:cNvSpPr/>
          <p:nvPr/>
        </p:nvSpPr>
        <p:spPr>
          <a:xfrm>
            <a:off x="501120" y="4169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Freeform 953"/>
          <p:cNvSpPr/>
          <p:nvPr/>
        </p:nvSpPr>
        <p:spPr>
          <a:xfrm>
            <a:off x="501120" y="4173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Freeform 954"/>
          <p:cNvSpPr/>
          <p:nvPr/>
        </p:nvSpPr>
        <p:spPr>
          <a:xfrm>
            <a:off x="501120" y="4178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Freeform 955"/>
          <p:cNvSpPr/>
          <p:nvPr/>
        </p:nvSpPr>
        <p:spPr>
          <a:xfrm>
            <a:off x="501120" y="4182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Freeform 956"/>
          <p:cNvSpPr/>
          <p:nvPr/>
        </p:nvSpPr>
        <p:spPr>
          <a:xfrm>
            <a:off x="501120" y="4186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Freeform 957"/>
          <p:cNvSpPr/>
          <p:nvPr/>
        </p:nvSpPr>
        <p:spPr>
          <a:xfrm>
            <a:off x="501120" y="4190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Freeform 958"/>
          <p:cNvSpPr/>
          <p:nvPr/>
        </p:nvSpPr>
        <p:spPr>
          <a:xfrm>
            <a:off x="501120" y="4194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Freeform 959"/>
          <p:cNvSpPr/>
          <p:nvPr/>
        </p:nvSpPr>
        <p:spPr>
          <a:xfrm>
            <a:off x="501120" y="4199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Freeform 960"/>
          <p:cNvSpPr/>
          <p:nvPr/>
        </p:nvSpPr>
        <p:spPr>
          <a:xfrm>
            <a:off x="501120" y="4203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Freeform 961"/>
          <p:cNvSpPr/>
          <p:nvPr/>
        </p:nvSpPr>
        <p:spPr>
          <a:xfrm>
            <a:off x="501120" y="420732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Freeform 962"/>
          <p:cNvSpPr/>
          <p:nvPr/>
        </p:nvSpPr>
        <p:spPr>
          <a:xfrm>
            <a:off x="501120" y="4211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Freeform 963"/>
          <p:cNvSpPr/>
          <p:nvPr/>
        </p:nvSpPr>
        <p:spPr>
          <a:xfrm>
            <a:off x="501120" y="4215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Freeform 964"/>
          <p:cNvSpPr/>
          <p:nvPr/>
        </p:nvSpPr>
        <p:spPr>
          <a:xfrm>
            <a:off x="501120" y="4219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Freeform 965"/>
          <p:cNvSpPr/>
          <p:nvPr/>
        </p:nvSpPr>
        <p:spPr>
          <a:xfrm>
            <a:off x="501120" y="4224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Freeform 966"/>
          <p:cNvSpPr/>
          <p:nvPr/>
        </p:nvSpPr>
        <p:spPr>
          <a:xfrm>
            <a:off x="501120" y="4228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Freeform 967"/>
          <p:cNvSpPr/>
          <p:nvPr/>
        </p:nvSpPr>
        <p:spPr>
          <a:xfrm>
            <a:off x="501120" y="4232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Freeform 968"/>
          <p:cNvSpPr/>
          <p:nvPr/>
        </p:nvSpPr>
        <p:spPr>
          <a:xfrm>
            <a:off x="501120" y="4236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1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Freeform 969"/>
          <p:cNvSpPr/>
          <p:nvPr/>
        </p:nvSpPr>
        <p:spPr>
          <a:xfrm>
            <a:off x="501120" y="4240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1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Freeform 970"/>
          <p:cNvSpPr/>
          <p:nvPr/>
        </p:nvSpPr>
        <p:spPr>
          <a:xfrm>
            <a:off x="501120" y="4245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Freeform 971"/>
          <p:cNvSpPr/>
          <p:nvPr/>
        </p:nvSpPr>
        <p:spPr>
          <a:xfrm>
            <a:off x="501120" y="4249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Freeform 972"/>
          <p:cNvSpPr/>
          <p:nvPr/>
        </p:nvSpPr>
        <p:spPr>
          <a:xfrm>
            <a:off x="501120" y="4253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Freeform 973"/>
          <p:cNvSpPr/>
          <p:nvPr/>
        </p:nvSpPr>
        <p:spPr>
          <a:xfrm>
            <a:off x="501120" y="4257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Freeform 974"/>
          <p:cNvSpPr/>
          <p:nvPr/>
        </p:nvSpPr>
        <p:spPr>
          <a:xfrm>
            <a:off x="501120" y="4261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4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Freeform 975"/>
          <p:cNvSpPr/>
          <p:nvPr/>
        </p:nvSpPr>
        <p:spPr>
          <a:xfrm>
            <a:off x="501120" y="4266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4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Freeform 976"/>
          <p:cNvSpPr/>
          <p:nvPr/>
        </p:nvSpPr>
        <p:spPr>
          <a:xfrm>
            <a:off x="501120" y="4269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Freeform 977"/>
          <p:cNvSpPr/>
          <p:nvPr/>
        </p:nvSpPr>
        <p:spPr>
          <a:xfrm>
            <a:off x="501120" y="4274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Freeform 978"/>
          <p:cNvSpPr/>
          <p:nvPr/>
        </p:nvSpPr>
        <p:spPr>
          <a:xfrm>
            <a:off x="501120" y="4278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Freeform 979"/>
          <p:cNvSpPr/>
          <p:nvPr/>
        </p:nvSpPr>
        <p:spPr>
          <a:xfrm>
            <a:off x="501120" y="428256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Freeform 980"/>
          <p:cNvSpPr/>
          <p:nvPr/>
        </p:nvSpPr>
        <p:spPr>
          <a:xfrm>
            <a:off x="501120" y="4286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Freeform 981"/>
          <p:cNvSpPr/>
          <p:nvPr/>
        </p:nvSpPr>
        <p:spPr>
          <a:xfrm>
            <a:off x="501120" y="4290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Freeform 982"/>
          <p:cNvSpPr/>
          <p:nvPr/>
        </p:nvSpPr>
        <p:spPr>
          <a:xfrm>
            <a:off x="501120" y="4295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Freeform 983"/>
          <p:cNvSpPr/>
          <p:nvPr/>
        </p:nvSpPr>
        <p:spPr>
          <a:xfrm>
            <a:off x="501120" y="4299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Freeform 984"/>
          <p:cNvSpPr/>
          <p:nvPr/>
        </p:nvSpPr>
        <p:spPr>
          <a:xfrm>
            <a:off x="501120" y="4303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Freeform 985"/>
          <p:cNvSpPr/>
          <p:nvPr/>
        </p:nvSpPr>
        <p:spPr>
          <a:xfrm>
            <a:off x="501120" y="4307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Freeform 986"/>
          <p:cNvSpPr/>
          <p:nvPr/>
        </p:nvSpPr>
        <p:spPr>
          <a:xfrm>
            <a:off x="501120" y="4311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Freeform 987"/>
          <p:cNvSpPr/>
          <p:nvPr/>
        </p:nvSpPr>
        <p:spPr>
          <a:xfrm>
            <a:off x="501120" y="4316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Freeform 988"/>
          <p:cNvSpPr/>
          <p:nvPr/>
        </p:nvSpPr>
        <p:spPr>
          <a:xfrm>
            <a:off x="501120" y="4320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Freeform 989"/>
          <p:cNvSpPr/>
          <p:nvPr/>
        </p:nvSpPr>
        <p:spPr>
          <a:xfrm>
            <a:off x="501120" y="4324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Freeform 990"/>
          <p:cNvSpPr/>
          <p:nvPr/>
        </p:nvSpPr>
        <p:spPr>
          <a:xfrm>
            <a:off x="501120" y="4328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Freeform 991"/>
          <p:cNvSpPr/>
          <p:nvPr/>
        </p:nvSpPr>
        <p:spPr>
          <a:xfrm>
            <a:off x="501120" y="4332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Freeform 992"/>
          <p:cNvSpPr/>
          <p:nvPr/>
        </p:nvSpPr>
        <p:spPr>
          <a:xfrm>
            <a:off x="501120" y="4336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Freeform 993"/>
          <p:cNvSpPr/>
          <p:nvPr/>
        </p:nvSpPr>
        <p:spPr>
          <a:xfrm>
            <a:off x="501120" y="4341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Freeform 994"/>
          <p:cNvSpPr/>
          <p:nvPr/>
        </p:nvSpPr>
        <p:spPr>
          <a:xfrm>
            <a:off x="501120" y="4345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Freeform 995"/>
          <p:cNvSpPr/>
          <p:nvPr/>
        </p:nvSpPr>
        <p:spPr>
          <a:xfrm>
            <a:off x="501120" y="4349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Freeform 996"/>
          <p:cNvSpPr/>
          <p:nvPr/>
        </p:nvSpPr>
        <p:spPr>
          <a:xfrm>
            <a:off x="501120" y="4353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Freeform 997"/>
          <p:cNvSpPr/>
          <p:nvPr/>
        </p:nvSpPr>
        <p:spPr>
          <a:xfrm>
            <a:off x="501120" y="435780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Freeform 998"/>
          <p:cNvSpPr/>
          <p:nvPr/>
        </p:nvSpPr>
        <p:spPr>
          <a:xfrm>
            <a:off x="501120" y="4362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70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Freeform 999"/>
          <p:cNvSpPr/>
          <p:nvPr/>
        </p:nvSpPr>
        <p:spPr>
          <a:xfrm>
            <a:off x="501120" y="4366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7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Freeform 1000"/>
          <p:cNvSpPr/>
          <p:nvPr/>
        </p:nvSpPr>
        <p:spPr>
          <a:xfrm>
            <a:off x="501120" y="4370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Freeform 1001"/>
          <p:cNvSpPr/>
          <p:nvPr/>
        </p:nvSpPr>
        <p:spPr>
          <a:xfrm>
            <a:off x="501120" y="4374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Freeform 1002"/>
          <p:cNvSpPr/>
          <p:nvPr/>
        </p:nvSpPr>
        <p:spPr>
          <a:xfrm>
            <a:off x="501120" y="4378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Freeform 1003"/>
          <p:cNvSpPr/>
          <p:nvPr/>
        </p:nvSpPr>
        <p:spPr>
          <a:xfrm>
            <a:off x="501120" y="4383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Freeform 1004"/>
          <p:cNvSpPr/>
          <p:nvPr/>
        </p:nvSpPr>
        <p:spPr>
          <a:xfrm>
            <a:off x="501120" y="4386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Freeform 1005"/>
          <p:cNvSpPr/>
          <p:nvPr/>
        </p:nvSpPr>
        <p:spPr>
          <a:xfrm>
            <a:off x="501120" y="4391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Freeform 1006"/>
          <p:cNvSpPr/>
          <p:nvPr/>
        </p:nvSpPr>
        <p:spPr>
          <a:xfrm>
            <a:off x="501120" y="4395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Freeform 1007"/>
          <p:cNvSpPr/>
          <p:nvPr/>
        </p:nvSpPr>
        <p:spPr>
          <a:xfrm>
            <a:off x="501120" y="4399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5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Freeform 1008"/>
          <p:cNvSpPr/>
          <p:nvPr/>
        </p:nvSpPr>
        <p:spPr>
          <a:xfrm>
            <a:off x="501120" y="4403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5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Freeform 1009"/>
          <p:cNvSpPr/>
          <p:nvPr/>
        </p:nvSpPr>
        <p:spPr>
          <a:xfrm>
            <a:off x="501120" y="4407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Freeform 1010"/>
          <p:cNvSpPr/>
          <p:nvPr/>
        </p:nvSpPr>
        <p:spPr>
          <a:xfrm>
            <a:off x="501120" y="4412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Freeform 1011"/>
          <p:cNvSpPr/>
          <p:nvPr/>
        </p:nvSpPr>
        <p:spPr>
          <a:xfrm>
            <a:off x="501120" y="4416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Freeform 1012"/>
          <p:cNvSpPr/>
          <p:nvPr/>
        </p:nvSpPr>
        <p:spPr>
          <a:xfrm>
            <a:off x="501120" y="4420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Freeform 1013"/>
          <p:cNvSpPr/>
          <p:nvPr/>
        </p:nvSpPr>
        <p:spPr>
          <a:xfrm>
            <a:off x="501120" y="4424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8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Freeform 1014"/>
          <p:cNvSpPr/>
          <p:nvPr/>
        </p:nvSpPr>
        <p:spPr>
          <a:xfrm>
            <a:off x="501120" y="4428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8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Freeform 1015"/>
          <p:cNvSpPr/>
          <p:nvPr/>
        </p:nvSpPr>
        <p:spPr>
          <a:xfrm>
            <a:off x="501120" y="44330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Freeform 1016"/>
          <p:cNvSpPr/>
          <p:nvPr/>
        </p:nvSpPr>
        <p:spPr>
          <a:xfrm>
            <a:off x="501120" y="4437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Freeform 1017"/>
          <p:cNvSpPr/>
          <p:nvPr/>
        </p:nvSpPr>
        <p:spPr>
          <a:xfrm>
            <a:off x="501120" y="4441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Freeform 1018"/>
          <p:cNvSpPr/>
          <p:nvPr/>
        </p:nvSpPr>
        <p:spPr>
          <a:xfrm>
            <a:off x="501120" y="4445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Freeform 1019"/>
          <p:cNvSpPr/>
          <p:nvPr/>
        </p:nvSpPr>
        <p:spPr>
          <a:xfrm>
            <a:off x="501120" y="4449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Freeform 1020"/>
          <p:cNvSpPr/>
          <p:nvPr/>
        </p:nvSpPr>
        <p:spPr>
          <a:xfrm>
            <a:off x="501120" y="4453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Freeform 1021"/>
          <p:cNvSpPr/>
          <p:nvPr/>
        </p:nvSpPr>
        <p:spPr>
          <a:xfrm>
            <a:off x="501120" y="4458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Freeform 1022"/>
          <p:cNvSpPr/>
          <p:nvPr/>
        </p:nvSpPr>
        <p:spPr>
          <a:xfrm>
            <a:off x="501120" y="4462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Freeform 1023"/>
          <p:cNvSpPr/>
          <p:nvPr/>
        </p:nvSpPr>
        <p:spPr>
          <a:xfrm>
            <a:off x="501120" y="44665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Freeform 1024"/>
          <p:cNvSpPr/>
          <p:nvPr/>
        </p:nvSpPr>
        <p:spPr>
          <a:xfrm>
            <a:off x="501120" y="44704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Freeform 1025"/>
          <p:cNvSpPr/>
          <p:nvPr/>
        </p:nvSpPr>
        <p:spPr>
          <a:xfrm>
            <a:off x="501120" y="4474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Freeform 1026"/>
          <p:cNvSpPr/>
          <p:nvPr/>
        </p:nvSpPr>
        <p:spPr>
          <a:xfrm>
            <a:off x="501120" y="4479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Freeform 1027"/>
          <p:cNvSpPr/>
          <p:nvPr/>
        </p:nvSpPr>
        <p:spPr>
          <a:xfrm>
            <a:off x="501120" y="4483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Freeform 1028"/>
          <p:cNvSpPr/>
          <p:nvPr/>
        </p:nvSpPr>
        <p:spPr>
          <a:xfrm>
            <a:off x="501120" y="4487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Freeform 1029"/>
          <p:cNvSpPr/>
          <p:nvPr/>
        </p:nvSpPr>
        <p:spPr>
          <a:xfrm>
            <a:off x="501120" y="4491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1" name="Picture 1030"/>
          <p:cNvPicPr/>
          <p:nvPr/>
        </p:nvPicPr>
        <p:blipFill>
          <a:blip r:embed="rId14"/>
          <a:stretch/>
        </p:blipFill>
        <p:spPr>
          <a:xfrm>
            <a:off x="3100320" y="4019400"/>
            <a:ext cx="29412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2" name="Picture 1031"/>
          <p:cNvPicPr/>
          <p:nvPr/>
        </p:nvPicPr>
        <p:blipFill>
          <a:blip r:embed="rId15"/>
          <a:stretch/>
        </p:blipFill>
        <p:spPr>
          <a:xfrm>
            <a:off x="3150360" y="415332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3" name="TextBox 1032"/>
          <p:cNvSpPr txBox="1"/>
          <p:nvPr/>
        </p:nvSpPr>
        <p:spPr>
          <a:xfrm>
            <a:off x="1047960" y="4345560"/>
            <a:ext cx="1309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assumed driving force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TextBox 1033"/>
          <p:cNvSpPr txBox="1"/>
          <p:nvPr/>
        </p:nvSpPr>
        <p:spPr>
          <a:xfrm>
            <a:off x="3491280" y="3979080"/>
            <a:ext cx="1215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ODE Integration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TextBox 1034"/>
          <p:cNvSpPr txBox="1"/>
          <p:nvPr/>
        </p:nvSpPr>
        <p:spPr>
          <a:xfrm>
            <a:off x="3491280" y="4178520"/>
            <a:ext cx="1536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Solve equations of motion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Freeform 1035"/>
          <p:cNvSpPr/>
          <p:nvPr/>
        </p:nvSpPr>
        <p:spPr>
          <a:xfrm>
            <a:off x="2932920" y="3960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Freeform 1036"/>
          <p:cNvSpPr/>
          <p:nvPr/>
        </p:nvSpPr>
        <p:spPr>
          <a:xfrm>
            <a:off x="2932920" y="3965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Freeform 1037"/>
          <p:cNvSpPr/>
          <p:nvPr/>
        </p:nvSpPr>
        <p:spPr>
          <a:xfrm>
            <a:off x="2932920" y="3969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Freeform 1038"/>
          <p:cNvSpPr/>
          <p:nvPr/>
        </p:nvSpPr>
        <p:spPr>
          <a:xfrm>
            <a:off x="2932920" y="3973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Freeform 1039"/>
          <p:cNvSpPr/>
          <p:nvPr/>
        </p:nvSpPr>
        <p:spPr>
          <a:xfrm>
            <a:off x="2932920" y="39776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Freeform 1040"/>
          <p:cNvSpPr/>
          <p:nvPr/>
        </p:nvSpPr>
        <p:spPr>
          <a:xfrm>
            <a:off x="2932920" y="3981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Freeform 1041"/>
          <p:cNvSpPr/>
          <p:nvPr/>
        </p:nvSpPr>
        <p:spPr>
          <a:xfrm>
            <a:off x="2932920" y="3985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Freeform 1042"/>
          <p:cNvSpPr/>
          <p:nvPr/>
        </p:nvSpPr>
        <p:spPr>
          <a:xfrm>
            <a:off x="2932920" y="3990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Freeform 1043"/>
          <p:cNvSpPr/>
          <p:nvPr/>
        </p:nvSpPr>
        <p:spPr>
          <a:xfrm>
            <a:off x="2932920" y="3994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Freeform 1044"/>
          <p:cNvSpPr/>
          <p:nvPr/>
        </p:nvSpPr>
        <p:spPr>
          <a:xfrm>
            <a:off x="2932920" y="3998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Freeform 1045"/>
          <p:cNvSpPr/>
          <p:nvPr/>
        </p:nvSpPr>
        <p:spPr>
          <a:xfrm>
            <a:off x="2932920" y="4002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Freeform 1046"/>
          <p:cNvSpPr/>
          <p:nvPr/>
        </p:nvSpPr>
        <p:spPr>
          <a:xfrm>
            <a:off x="2932920" y="4006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Freeform 1047"/>
          <p:cNvSpPr/>
          <p:nvPr/>
        </p:nvSpPr>
        <p:spPr>
          <a:xfrm>
            <a:off x="2932920" y="4011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Freeform 1048"/>
          <p:cNvSpPr/>
          <p:nvPr/>
        </p:nvSpPr>
        <p:spPr>
          <a:xfrm>
            <a:off x="2932920" y="4015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Freeform 1049"/>
          <p:cNvSpPr/>
          <p:nvPr/>
        </p:nvSpPr>
        <p:spPr>
          <a:xfrm>
            <a:off x="2932920" y="4019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Freeform 1050"/>
          <p:cNvSpPr/>
          <p:nvPr/>
        </p:nvSpPr>
        <p:spPr>
          <a:xfrm>
            <a:off x="2932920" y="4023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Freeform 1051"/>
          <p:cNvSpPr/>
          <p:nvPr/>
        </p:nvSpPr>
        <p:spPr>
          <a:xfrm>
            <a:off x="2932920" y="4027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Freeform 1052"/>
          <p:cNvSpPr/>
          <p:nvPr/>
        </p:nvSpPr>
        <p:spPr>
          <a:xfrm>
            <a:off x="2932920" y="4032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Freeform 1053"/>
          <p:cNvSpPr/>
          <p:nvPr/>
        </p:nvSpPr>
        <p:spPr>
          <a:xfrm>
            <a:off x="2932920" y="4035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Freeform 1054"/>
          <p:cNvSpPr/>
          <p:nvPr/>
        </p:nvSpPr>
        <p:spPr>
          <a:xfrm>
            <a:off x="2932920" y="4040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Freeform 1055"/>
          <p:cNvSpPr/>
          <p:nvPr/>
        </p:nvSpPr>
        <p:spPr>
          <a:xfrm>
            <a:off x="2932920" y="4044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Freeform 1056"/>
          <p:cNvSpPr/>
          <p:nvPr/>
        </p:nvSpPr>
        <p:spPr>
          <a:xfrm>
            <a:off x="2932920" y="4048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A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Freeform 1057"/>
          <p:cNvSpPr/>
          <p:nvPr/>
        </p:nvSpPr>
        <p:spPr>
          <a:xfrm>
            <a:off x="2932920" y="4052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74A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Freeform 1058"/>
          <p:cNvSpPr/>
          <p:nvPr/>
        </p:nvSpPr>
        <p:spPr>
          <a:xfrm>
            <a:off x="2932920" y="40568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Freeform 1059"/>
          <p:cNvSpPr/>
          <p:nvPr/>
        </p:nvSpPr>
        <p:spPr>
          <a:xfrm>
            <a:off x="2932920" y="4061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Freeform 1060"/>
          <p:cNvSpPr/>
          <p:nvPr/>
        </p:nvSpPr>
        <p:spPr>
          <a:xfrm>
            <a:off x="2932920" y="4065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Freeform 1061"/>
          <p:cNvSpPr/>
          <p:nvPr/>
        </p:nvSpPr>
        <p:spPr>
          <a:xfrm>
            <a:off x="2932920" y="4069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Freeform 1062"/>
          <p:cNvSpPr/>
          <p:nvPr/>
        </p:nvSpPr>
        <p:spPr>
          <a:xfrm>
            <a:off x="2932920" y="4073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D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Freeform 1063"/>
          <p:cNvSpPr/>
          <p:nvPr/>
        </p:nvSpPr>
        <p:spPr>
          <a:xfrm>
            <a:off x="2932920" y="4077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Freeform 1064"/>
          <p:cNvSpPr/>
          <p:nvPr/>
        </p:nvSpPr>
        <p:spPr>
          <a:xfrm>
            <a:off x="2932920" y="4082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Freeform 1065"/>
          <p:cNvSpPr/>
          <p:nvPr/>
        </p:nvSpPr>
        <p:spPr>
          <a:xfrm>
            <a:off x="2932920" y="4086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Freeform 1066"/>
          <p:cNvSpPr/>
          <p:nvPr/>
        </p:nvSpPr>
        <p:spPr>
          <a:xfrm>
            <a:off x="2932920" y="4090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Freeform 1067"/>
          <p:cNvSpPr/>
          <p:nvPr/>
        </p:nvSpPr>
        <p:spPr>
          <a:xfrm>
            <a:off x="2932920" y="40946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Freeform 1068"/>
          <p:cNvSpPr/>
          <p:nvPr/>
        </p:nvSpPr>
        <p:spPr>
          <a:xfrm>
            <a:off x="2932920" y="4098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50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Freeform 1069"/>
          <p:cNvSpPr/>
          <p:nvPr/>
        </p:nvSpPr>
        <p:spPr>
          <a:xfrm>
            <a:off x="2932920" y="4102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1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Freeform 1070"/>
          <p:cNvSpPr/>
          <p:nvPr/>
        </p:nvSpPr>
        <p:spPr>
          <a:xfrm>
            <a:off x="2932920" y="4107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1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Freeform 1071"/>
          <p:cNvSpPr/>
          <p:nvPr/>
        </p:nvSpPr>
        <p:spPr>
          <a:xfrm>
            <a:off x="2932920" y="4111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Freeform 1072"/>
          <p:cNvSpPr/>
          <p:nvPr/>
        </p:nvSpPr>
        <p:spPr>
          <a:xfrm>
            <a:off x="2932920" y="4115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Freeform 1073"/>
          <p:cNvSpPr/>
          <p:nvPr/>
        </p:nvSpPr>
        <p:spPr>
          <a:xfrm>
            <a:off x="2932920" y="4119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Freeform 1074"/>
          <p:cNvSpPr/>
          <p:nvPr/>
        </p:nvSpPr>
        <p:spPr>
          <a:xfrm>
            <a:off x="2932920" y="4123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Freeform 1075"/>
          <p:cNvSpPr/>
          <p:nvPr/>
        </p:nvSpPr>
        <p:spPr>
          <a:xfrm>
            <a:off x="2932920" y="4128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4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Freeform 1076"/>
          <p:cNvSpPr/>
          <p:nvPr/>
        </p:nvSpPr>
        <p:spPr>
          <a:xfrm>
            <a:off x="2932920" y="413208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354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Freeform 1077"/>
          <p:cNvSpPr/>
          <p:nvPr/>
        </p:nvSpPr>
        <p:spPr>
          <a:xfrm>
            <a:off x="2932920" y="4136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Freeform 1078"/>
          <p:cNvSpPr/>
          <p:nvPr/>
        </p:nvSpPr>
        <p:spPr>
          <a:xfrm>
            <a:off x="2932920" y="4140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Freeform 1079"/>
          <p:cNvSpPr/>
          <p:nvPr/>
        </p:nvSpPr>
        <p:spPr>
          <a:xfrm>
            <a:off x="2932920" y="4144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Freeform 1080"/>
          <p:cNvSpPr/>
          <p:nvPr/>
        </p:nvSpPr>
        <p:spPr>
          <a:xfrm>
            <a:off x="2932920" y="4149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Freeform 1081"/>
          <p:cNvSpPr/>
          <p:nvPr/>
        </p:nvSpPr>
        <p:spPr>
          <a:xfrm>
            <a:off x="2932920" y="4152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Freeform 1082"/>
          <p:cNvSpPr/>
          <p:nvPr/>
        </p:nvSpPr>
        <p:spPr>
          <a:xfrm>
            <a:off x="2932920" y="4157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Freeform 1083"/>
          <p:cNvSpPr/>
          <p:nvPr/>
        </p:nvSpPr>
        <p:spPr>
          <a:xfrm>
            <a:off x="2932920" y="4161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Freeform 1084"/>
          <p:cNvSpPr/>
          <p:nvPr/>
        </p:nvSpPr>
        <p:spPr>
          <a:xfrm>
            <a:off x="2932920" y="4165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Freeform 1085"/>
          <p:cNvSpPr/>
          <p:nvPr/>
        </p:nvSpPr>
        <p:spPr>
          <a:xfrm>
            <a:off x="2932920" y="4169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Freeform 1086"/>
          <p:cNvSpPr/>
          <p:nvPr/>
        </p:nvSpPr>
        <p:spPr>
          <a:xfrm>
            <a:off x="2932920" y="4173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Freeform 1087"/>
          <p:cNvSpPr/>
          <p:nvPr/>
        </p:nvSpPr>
        <p:spPr>
          <a:xfrm>
            <a:off x="2932920" y="4178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Freeform 1088"/>
          <p:cNvSpPr/>
          <p:nvPr/>
        </p:nvSpPr>
        <p:spPr>
          <a:xfrm>
            <a:off x="2932920" y="4182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Freeform 1089"/>
          <p:cNvSpPr/>
          <p:nvPr/>
        </p:nvSpPr>
        <p:spPr>
          <a:xfrm>
            <a:off x="2932920" y="4186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Freeform 1090"/>
          <p:cNvSpPr/>
          <p:nvPr/>
        </p:nvSpPr>
        <p:spPr>
          <a:xfrm>
            <a:off x="2932920" y="4190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Freeform 1091"/>
          <p:cNvSpPr/>
          <p:nvPr/>
        </p:nvSpPr>
        <p:spPr>
          <a:xfrm>
            <a:off x="2932920" y="4194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Freeform 1092"/>
          <p:cNvSpPr/>
          <p:nvPr/>
        </p:nvSpPr>
        <p:spPr>
          <a:xfrm>
            <a:off x="2932920" y="4199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Freeform 1093"/>
          <p:cNvSpPr/>
          <p:nvPr/>
        </p:nvSpPr>
        <p:spPr>
          <a:xfrm>
            <a:off x="2932920" y="4203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Freeform 1094"/>
          <p:cNvSpPr/>
          <p:nvPr/>
        </p:nvSpPr>
        <p:spPr>
          <a:xfrm>
            <a:off x="2932920" y="420732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Freeform 1095"/>
          <p:cNvSpPr/>
          <p:nvPr/>
        </p:nvSpPr>
        <p:spPr>
          <a:xfrm>
            <a:off x="2932920" y="4211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Freeform 1096"/>
          <p:cNvSpPr/>
          <p:nvPr/>
        </p:nvSpPr>
        <p:spPr>
          <a:xfrm>
            <a:off x="2932920" y="4215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Freeform 1097"/>
          <p:cNvSpPr/>
          <p:nvPr/>
        </p:nvSpPr>
        <p:spPr>
          <a:xfrm>
            <a:off x="2932920" y="4219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Freeform 1098"/>
          <p:cNvSpPr/>
          <p:nvPr/>
        </p:nvSpPr>
        <p:spPr>
          <a:xfrm>
            <a:off x="2932920" y="4224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Freeform 1099"/>
          <p:cNvSpPr/>
          <p:nvPr/>
        </p:nvSpPr>
        <p:spPr>
          <a:xfrm>
            <a:off x="2932920" y="4228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Freeform 1100"/>
          <p:cNvSpPr/>
          <p:nvPr/>
        </p:nvSpPr>
        <p:spPr>
          <a:xfrm>
            <a:off x="2932920" y="4232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Freeform 1101"/>
          <p:cNvSpPr/>
          <p:nvPr/>
        </p:nvSpPr>
        <p:spPr>
          <a:xfrm>
            <a:off x="2932920" y="4236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1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Freeform 1102"/>
          <p:cNvSpPr/>
          <p:nvPr/>
        </p:nvSpPr>
        <p:spPr>
          <a:xfrm>
            <a:off x="2932920" y="4240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1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Freeform 1103"/>
          <p:cNvSpPr/>
          <p:nvPr/>
        </p:nvSpPr>
        <p:spPr>
          <a:xfrm>
            <a:off x="2932920" y="4245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Freeform 1104"/>
          <p:cNvSpPr/>
          <p:nvPr/>
        </p:nvSpPr>
        <p:spPr>
          <a:xfrm>
            <a:off x="2932920" y="4249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Freeform 1105"/>
          <p:cNvSpPr/>
          <p:nvPr/>
        </p:nvSpPr>
        <p:spPr>
          <a:xfrm>
            <a:off x="2932920" y="4253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Freeform 1106"/>
          <p:cNvSpPr/>
          <p:nvPr/>
        </p:nvSpPr>
        <p:spPr>
          <a:xfrm>
            <a:off x="2932920" y="4257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Freeform 1107"/>
          <p:cNvSpPr/>
          <p:nvPr/>
        </p:nvSpPr>
        <p:spPr>
          <a:xfrm>
            <a:off x="2932920" y="4261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4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Freeform 1108"/>
          <p:cNvSpPr/>
          <p:nvPr/>
        </p:nvSpPr>
        <p:spPr>
          <a:xfrm>
            <a:off x="2932920" y="4266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4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Freeform 1109"/>
          <p:cNvSpPr/>
          <p:nvPr/>
        </p:nvSpPr>
        <p:spPr>
          <a:xfrm>
            <a:off x="2932920" y="4269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Freeform 1110"/>
          <p:cNvSpPr/>
          <p:nvPr/>
        </p:nvSpPr>
        <p:spPr>
          <a:xfrm>
            <a:off x="2932920" y="4274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Freeform 1111"/>
          <p:cNvSpPr/>
          <p:nvPr/>
        </p:nvSpPr>
        <p:spPr>
          <a:xfrm>
            <a:off x="2932920" y="4278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Freeform 1112"/>
          <p:cNvSpPr/>
          <p:nvPr/>
        </p:nvSpPr>
        <p:spPr>
          <a:xfrm>
            <a:off x="2932920" y="428256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Freeform 1113"/>
          <p:cNvSpPr/>
          <p:nvPr/>
        </p:nvSpPr>
        <p:spPr>
          <a:xfrm>
            <a:off x="2932920" y="4286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Freeform 1114"/>
          <p:cNvSpPr/>
          <p:nvPr/>
        </p:nvSpPr>
        <p:spPr>
          <a:xfrm>
            <a:off x="2932920" y="4290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Freeform 1115"/>
          <p:cNvSpPr/>
          <p:nvPr/>
        </p:nvSpPr>
        <p:spPr>
          <a:xfrm>
            <a:off x="2932920" y="4295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Freeform 1116"/>
          <p:cNvSpPr/>
          <p:nvPr/>
        </p:nvSpPr>
        <p:spPr>
          <a:xfrm>
            <a:off x="2932920" y="4299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Freeform 1117"/>
          <p:cNvSpPr/>
          <p:nvPr/>
        </p:nvSpPr>
        <p:spPr>
          <a:xfrm>
            <a:off x="2932920" y="4303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Freeform 1118"/>
          <p:cNvSpPr/>
          <p:nvPr/>
        </p:nvSpPr>
        <p:spPr>
          <a:xfrm>
            <a:off x="2932920" y="4307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Freeform 1119"/>
          <p:cNvSpPr/>
          <p:nvPr/>
        </p:nvSpPr>
        <p:spPr>
          <a:xfrm>
            <a:off x="2932920" y="4311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Freeform 1120"/>
          <p:cNvSpPr/>
          <p:nvPr/>
        </p:nvSpPr>
        <p:spPr>
          <a:xfrm>
            <a:off x="2932920" y="4316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Freeform 1121"/>
          <p:cNvSpPr/>
          <p:nvPr/>
        </p:nvSpPr>
        <p:spPr>
          <a:xfrm>
            <a:off x="2932920" y="4320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Freeform 1122"/>
          <p:cNvSpPr/>
          <p:nvPr/>
        </p:nvSpPr>
        <p:spPr>
          <a:xfrm>
            <a:off x="2932920" y="4324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Freeform 1123"/>
          <p:cNvSpPr/>
          <p:nvPr/>
        </p:nvSpPr>
        <p:spPr>
          <a:xfrm>
            <a:off x="2932920" y="4328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Freeform 1124"/>
          <p:cNvSpPr/>
          <p:nvPr/>
        </p:nvSpPr>
        <p:spPr>
          <a:xfrm>
            <a:off x="2932920" y="4332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Freeform 1125"/>
          <p:cNvSpPr/>
          <p:nvPr/>
        </p:nvSpPr>
        <p:spPr>
          <a:xfrm>
            <a:off x="2932920" y="4336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Freeform 1126"/>
          <p:cNvSpPr/>
          <p:nvPr/>
        </p:nvSpPr>
        <p:spPr>
          <a:xfrm>
            <a:off x="2932920" y="4341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Freeform 1127"/>
          <p:cNvSpPr/>
          <p:nvPr/>
        </p:nvSpPr>
        <p:spPr>
          <a:xfrm>
            <a:off x="2932920" y="4345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Freeform 1128"/>
          <p:cNvSpPr/>
          <p:nvPr/>
        </p:nvSpPr>
        <p:spPr>
          <a:xfrm>
            <a:off x="2932920" y="4349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Freeform 1129"/>
          <p:cNvSpPr/>
          <p:nvPr/>
        </p:nvSpPr>
        <p:spPr>
          <a:xfrm>
            <a:off x="2932920" y="4353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Freeform 1130"/>
          <p:cNvSpPr/>
          <p:nvPr/>
        </p:nvSpPr>
        <p:spPr>
          <a:xfrm>
            <a:off x="2932920" y="435780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Freeform 1131"/>
          <p:cNvSpPr/>
          <p:nvPr/>
        </p:nvSpPr>
        <p:spPr>
          <a:xfrm>
            <a:off x="2932920" y="4362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70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Freeform 1132"/>
          <p:cNvSpPr/>
          <p:nvPr/>
        </p:nvSpPr>
        <p:spPr>
          <a:xfrm>
            <a:off x="2932920" y="4366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7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Freeform 1133"/>
          <p:cNvSpPr/>
          <p:nvPr/>
        </p:nvSpPr>
        <p:spPr>
          <a:xfrm>
            <a:off x="2932920" y="4370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Freeform 1134"/>
          <p:cNvSpPr/>
          <p:nvPr/>
        </p:nvSpPr>
        <p:spPr>
          <a:xfrm>
            <a:off x="2932920" y="4374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Freeform 1135"/>
          <p:cNvSpPr/>
          <p:nvPr/>
        </p:nvSpPr>
        <p:spPr>
          <a:xfrm>
            <a:off x="2932920" y="4378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Freeform 1136"/>
          <p:cNvSpPr/>
          <p:nvPr/>
        </p:nvSpPr>
        <p:spPr>
          <a:xfrm>
            <a:off x="2932920" y="4383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Freeform 1137"/>
          <p:cNvSpPr/>
          <p:nvPr/>
        </p:nvSpPr>
        <p:spPr>
          <a:xfrm>
            <a:off x="2932920" y="4386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Freeform 1138"/>
          <p:cNvSpPr/>
          <p:nvPr/>
        </p:nvSpPr>
        <p:spPr>
          <a:xfrm>
            <a:off x="2932920" y="4391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Freeform 1139"/>
          <p:cNvSpPr/>
          <p:nvPr/>
        </p:nvSpPr>
        <p:spPr>
          <a:xfrm>
            <a:off x="2932920" y="4395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Freeform 1140"/>
          <p:cNvSpPr/>
          <p:nvPr/>
        </p:nvSpPr>
        <p:spPr>
          <a:xfrm>
            <a:off x="2932920" y="4399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5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Freeform 1141"/>
          <p:cNvSpPr/>
          <p:nvPr/>
        </p:nvSpPr>
        <p:spPr>
          <a:xfrm>
            <a:off x="2932920" y="4403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5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Freeform 1142"/>
          <p:cNvSpPr/>
          <p:nvPr/>
        </p:nvSpPr>
        <p:spPr>
          <a:xfrm>
            <a:off x="2932920" y="4407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Freeform 1143"/>
          <p:cNvSpPr/>
          <p:nvPr/>
        </p:nvSpPr>
        <p:spPr>
          <a:xfrm>
            <a:off x="2932920" y="4412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Freeform 1144"/>
          <p:cNvSpPr/>
          <p:nvPr/>
        </p:nvSpPr>
        <p:spPr>
          <a:xfrm>
            <a:off x="2932920" y="4416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Freeform 1145"/>
          <p:cNvSpPr/>
          <p:nvPr/>
        </p:nvSpPr>
        <p:spPr>
          <a:xfrm>
            <a:off x="2932920" y="4420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Freeform 1146"/>
          <p:cNvSpPr/>
          <p:nvPr/>
        </p:nvSpPr>
        <p:spPr>
          <a:xfrm>
            <a:off x="2932920" y="4424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8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Freeform 1147"/>
          <p:cNvSpPr/>
          <p:nvPr/>
        </p:nvSpPr>
        <p:spPr>
          <a:xfrm>
            <a:off x="2932920" y="4428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8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Freeform 1148"/>
          <p:cNvSpPr/>
          <p:nvPr/>
        </p:nvSpPr>
        <p:spPr>
          <a:xfrm>
            <a:off x="2932920" y="44330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Freeform 1149"/>
          <p:cNvSpPr/>
          <p:nvPr/>
        </p:nvSpPr>
        <p:spPr>
          <a:xfrm>
            <a:off x="2932920" y="4437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Freeform 1150"/>
          <p:cNvSpPr/>
          <p:nvPr/>
        </p:nvSpPr>
        <p:spPr>
          <a:xfrm>
            <a:off x="2932920" y="4441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Freeform 1151"/>
          <p:cNvSpPr/>
          <p:nvPr/>
        </p:nvSpPr>
        <p:spPr>
          <a:xfrm>
            <a:off x="2932920" y="4445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Freeform 1152"/>
          <p:cNvSpPr/>
          <p:nvPr/>
        </p:nvSpPr>
        <p:spPr>
          <a:xfrm>
            <a:off x="2932920" y="4449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Freeform 1153"/>
          <p:cNvSpPr/>
          <p:nvPr/>
        </p:nvSpPr>
        <p:spPr>
          <a:xfrm>
            <a:off x="2932920" y="4453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Freeform 1154"/>
          <p:cNvSpPr/>
          <p:nvPr/>
        </p:nvSpPr>
        <p:spPr>
          <a:xfrm>
            <a:off x="2932920" y="4458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Freeform 1155"/>
          <p:cNvSpPr/>
          <p:nvPr/>
        </p:nvSpPr>
        <p:spPr>
          <a:xfrm>
            <a:off x="2932920" y="4462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Freeform 1156"/>
          <p:cNvSpPr/>
          <p:nvPr/>
        </p:nvSpPr>
        <p:spPr>
          <a:xfrm>
            <a:off x="2932920" y="44665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Freeform 1157"/>
          <p:cNvSpPr/>
          <p:nvPr/>
        </p:nvSpPr>
        <p:spPr>
          <a:xfrm>
            <a:off x="2932920" y="44704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Freeform 1158"/>
          <p:cNvSpPr/>
          <p:nvPr/>
        </p:nvSpPr>
        <p:spPr>
          <a:xfrm>
            <a:off x="2932920" y="4474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Freeform 1159"/>
          <p:cNvSpPr/>
          <p:nvPr/>
        </p:nvSpPr>
        <p:spPr>
          <a:xfrm>
            <a:off x="2932920" y="4479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Freeform 1160"/>
          <p:cNvSpPr/>
          <p:nvPr/>
        </p:nvSpPr>
        <p:spPr>
          <a:xfrm>
            <a:off x="2932920" y="4483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Freeform 1161"/>
          <p:cNvSpPr/>
          <p:nvPr/>
        </p:nvSpPr>
        <p:spPr>
          <a:xfrm>
            <a:off x="2932920" y="4487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Freeform 1162"/>
          <p:cNvSpPr/>
          <p:nvPr/>
        </p:nvSpPr>
        <p:spPr>
          <a:xfrm>
            <a:off x="2932920" y="4491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4" name="Picture 1163"/>
          <p:cNvPicPr/>
          <p:nvPr/>
        </p:nvPicPr>
        <p:blipFill>
          <a:blip r:embed="rId16"/>
          <a:stretch/>
        </p:blipFill>
        <p:spPr>
          <a:xfrm>
            <a:off x="5532120" y="4019400"/>
            <a:ext cx="25884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5" name="Picture 1164"/>
          <p:cNvPicPr/>
          <p:nvPr/>
        </p:nvPicPr>
        <p:blipFill>
          <a:blip r:embed="rId17"/>
          <a:stretch/>
        </p:blipFill>
        <p:spPr>
          <a:xfrm>
            <a:off x="5565600" y="415332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6" name="TextBox 1165"/>
          <p:cNvSpPr txBox="1"/>
          <p:nvPr/>
        </p:nvSpPr>
        <p:spPr>
          <a:xfrm>
            <a:off x="3491280" y="4345560"/>
            <a:ext cx="9367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with ODE solver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TextBox 1166"/>
          <p:cNvSpPr txBox="1"/>
          <p:nvPr/>
        </p:nvSpPr>
        <p:spPr>
          <a:xfrm>
            <a:off x="5891400" y="3979080"/>
            <a:ext cx="898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NN Training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TextBox 1167"/>
          <p:cNvSpPr txBox="1"/>
          <p:nvPr/>
        </p:nvSpPr>
        <p:spPr>
          <a:xfrm>
            <a:off x="5891400" y="4178520"/>
            <a:ext cx="1305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Conﬁgure functions 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Freeform 1168"/>
          <p:cNvSpPr/>
          <p:nvPr/>
        </p:nvSpPr>
        <p:spPr>
          <a:xfrm>
            <a:off x="5364720" y="3960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Freeform 1169"/>
          <p:cNvSpPr/>
          <p:nvPr/>
        </p:nvSpPr>
        <p:spPr>
          <a:xfrm>
            <a:off x="5364720" y="3965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Freeform 1170"/>
          <p:cNvSpPr/>
          <p:nvPr/>
        </p:nvSpPr>
        <p:spPr>
          <a:xfrm>
            <a:off x="5364720" y="3969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Freeform 1171"/>
          <p:cNvSpPr/>
          <p:nvPr/>
        </p:nvSpPr>
        <p:spPr>
          <a:xfrm>
            <a:off x="5364720" y="3973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Freeform 1172"/>
          <p:cNvSpPr/>
          <p:nvPr/>
        </p:nvSpPr>
        <p:spPr>
          <a:xfrm>
            <a:off x="5364720" y="39776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Freeform 1173"/>
          <p:cNvSpPr/>
          <p:nvPr/>
        </p:nvSpPr>
        <p:spPr>
          <a:xfrm>
            <a:off x="5364720" y="3981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Freeform 1174"/>
          <p:cNvSpPr/>
          <p:nvPr/>
        </p:nvSpPr>
        <p:spPr>
          <a:xfrm>
            <a:off x="5364720" y="3985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Freeform 1175"/>
          <p:cNvSpPr/>
          <p:nvPr/>
        </p:nvSpPr>
        <p:spPr>
          <a:xfrm>
            <a:off x="5364720" y="3990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Freeform 1176"/>
          <p:cNvSpPr/>
          <p:nvPr/>
        </p:nvSpPr>
        <p:spPr>
          <a:xfrm>
            <a:off x="5364720" y="3994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Freeform 1177"/>
          <p:cNvSpPr/>
          <p:nvPr/>
        </p:nvSpPr>
        <p:spPr>
          <a:xfrm>
            <a:off x="5364720" y="3998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Freeform 1178"/>
          <p:cNvSpPr/>
          <p:nvPr/>
        </p:nvSpPr>
        <p:spPr>
          <a:xfrm>
            <a:off x="5364720" y="4002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Freeform 1179"/>
          <p:cNvSpPr/>
          <p:nvPr/>
        </p:nvSpPr>
        <p:spPr>
          <a:xfrm>
            <a:off x="5364720" y="4006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Freeform 1180"/>
          <p:cNvSpPr/>
          <p:nvPr/>
        </p:nvSpPr>
        <p:spPr>
          <a:xfrm>
            <a:off x="5364720" y="4011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Freeform 1181"/>
          <p:cNvSpPr/>
          <p:nvPr/>
        </p:nvSpPr>
        <p:spPr>
          <a:xfrm>
            <a:off x="5364720" y="4015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Freeform 1182"/>
          <p:cNvSpPr/>
          <p:nvPr/>
        </p:nvSpPr>
        <p:spPr>
          <a:xfrm>
            <a:off x="5364720" y="4019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Freeform 1183"/>
          <p:cNvSpPr/>
          <p:nvPr/>
        </p:nvSpPr>
        <p:spPr>
          <a:xfrm>
            <a:off x="5364720" y="4023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Freeform 1184"/>
          <p:cNvSpPr/>
          <p:nvPr/>
        </p:nvSpPr>
        <p:spPr>
          <a:xfrm>
            <a:off x="5364720" y="4027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Freeform 1185"/>
          <p:cNvSpPr/>
          <p:nvPr/>
        </p:nvSpPr>
        <p:spPr>
          <a:xfrm>
            <a:off x="5364720" y="4032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Freeform 1186"/>
          <p:cNvSpPr/>
          <p:nvPr/>
        </p:nvSpPr>
        <p:spPr>
          <a:xfrm>
            <a:off x="5364720" y="4035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Freeform 1187"/>
          <p:cNvSpPr/>
          <p:nvPr/>
        </p:nvSpPr>
        <p:spPr>
          <a:xfrm>
            <a:off x="5364720" y="4040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Freeform 1188"/>
          <p:cNvSpPr/>
          <p:nvPr/>
        </p:nvSpPr>
        <p:spPr>
          <a:xfrm>
            <a:off x="5364720" y="4044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Freeform 1189"/>
          <p:cNvSpPr/>
          <p:nvPr/>
        </p:nvSpPr>
        <p:spPr>
          <a:xfrm>
            <a:off x="5364720" y="4048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A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Freeform 1190"/>
          <p:cNvSpPr/>
          <p:nvPr/>
        </p:nvSpPr>
        <p:spPr>
          <a:xfrm>
            <a:off x="5364720" y="4052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74A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Freeform 1191"/>
          <p:cNvSpPr/>
          <p:nvPr/>
        </p:nvSpPr>
        <p:spPr>
          <a:xfrm>
            <a:off x="5364720" y="40568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Freeform 1192"/>
          <p:cNvSpPr/>
          <p:nvPr/>
        </p:nvSpPr>
        <p:spPr>
          <a:xfrm>
            <a:off x="5364720" y="4061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Freeform 1193"/>
          <p:cNvSpPr/>
          <p:nvPr/>
        </p:nvSpPr>
        <p:spPr>
          <a:xfrm>
            <a:off x="5364720" y="4065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Freeform 1194"/>
          <p:cNvSpPr/>
          <p:nvPr/>
        </p:nvSpPr>
        <p:spPr>
          <a:xfrm>
            <a:off x="5364720" y="4069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Freeform 1195"/>
          <p:cNvSpPr/>
          <p:nvPr/>
        </p:nvSpPr>
        <p:spPr>
          <a:xfrm>
            <a:off x="5364720" y="4073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D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Freeform 1196"/>
          <p:cNvSpPr/>
          <p:nvPr/>
        </p:nvSpPr>
        <p:spPr>
          <a:xfrm>
            <a:off x="5364720" y="4077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Freeform 1197"/>
          <p:cNvSpPr/>
          <p:nvPr/>
        </p:nvSpPr>
        <p:spPr>
          <a:xfrm>
            <a:off x="5364720" y="4082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Freeform 1198"/>
          <p:cNvSpPr/>
          <p:nvPr/>
        </p:nvSpPr>
        <p:spPr>
          <a:xfrm>
            <a:off x="5364720" y="4086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Freeform 1199"/>
          <p:cNvSpPr/>
          <p:nvPr/>
        </p:nvSpPr>
        <p:spPr>
          <a:xfrm>
            <a:off x="5364720" y="4090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Freeform 1200"/>
          <p:cNvSpPr/>
          <p:nvPr/>
        </p:nvSpPr>
        <p:spPr>
          <a:xfrm>
            <a:off x="5364720" y="40946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Freeform 1201"/>
          <p:cNvSpPr/>
          <p:nvPr/>
        </p:nvSpPr>
        <p:spPr>
          <a:xfrm>
            <a:off x="5364720" y="4098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50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Freeform 1202"/>
          <p:cNvSpPr/>
          <p:nvPr/>
        </p:nvSpPr>
        <p:spPr>
          <a:xfrm>
            <a:off x="5364720" y="4102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1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Freeform 1203"/>
          <p:cNvSpPr/>
          <p:nvPr/>
        </p:nvSpPr>
        <p:spPr>
          <a:xfrm>
            <a:off x="5364720" y="4107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1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Freeform 1204"/>
          <p:cNvSpPr/>
          <p:nvPr/>
        </p:nvSpPr>
        <p:spPr>
          <a:xfrm>
            <a:off x="5364720" y="4111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Freeform 1205"/>
          <p:cNvSpPr/>
          <p:nvPr/>
        </p:nvSpPr>
        <p:spPr>
          <a:xfrm>
            <a:off x="5364720" y="4115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Freeform 1206"/>
          <p:cNvSpPr/>
          <p:nvPr/>
        </p:nvSpPr>
        <p:spPr>
          <a:xfrm>
            <a:off x="5364720" y="4119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Freeform 1207"/>
          <p:cNvSpPr/>
          <p:nvPr/>
        </p:nvSpPr>
        <p:spPr>
          <a:xfrm>
            <a:off x="5364720" y="4123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Freeform 1208"/>
          <p:cNvSpPr/>
          <p:nvPr/>
        </p:nvSpPr>
        <p:spPr>
          <a:xfrm>
            <a:off x="5364720" y="4128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4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Freeform 1209"/>
          <p:cNvSpPr/>
          <p:nvPr/>
        </p:nvSpPr>
        <p:spPr>
          <a:xfrm>
            <a:off x="5364720" y="413208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354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Freeform 1210"/>
          <p:cNvSpPr/>
          <p:nvPr/>
        </p:nvSpPr>
        <p:spPr>
          <a:xfrm>
            <a:off x="5364720" y="4136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Freeform 1211"/>
          <p:cNvSpPr/>
          <p:nvPr/>
        </p:nvSpPr>
        <p:spPr>
          <a:xfrm>
            <a:off x="5364720" y="4140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Freeform 1212"/>
          <p:cNvSpPr/>
          <p:nvPr/>
        </p:nvSpPr>
        <p:spPr>
          <a:xfrm>
            <a:off x="5364720" y="4144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Freeform 1213"/>
          <p:cNvSpPr/>
          <p:nvPr/>
        </p:nvSpPr>
        <p:spPr>
          <a:xfrm>
            <a:off x="5364720" y="4149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Freeform 1214"/>
          <p:cNvSpPr/>
          <p:nvPr/>
        </p:nvSpPr>
        <p:spPr>
          <a:xfrm>
            <a:off x="5364720" y="4152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Freeform 1215"/>
          <p:cNvSpPr/>
          <p:nvPr/>
        </p:nvSpPr>
        <p:spPr>
          <a:xfrm>
            <a:off x="5364720" y="4157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Freeform 1216"/>
          <p:cNvSpPr/>
          <p:nvPr/>
        </p:nvSpPr>
        <p:spPr>
          <a:xfrm>
            <a:off x="5364720" y="4161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Freeform 1217"/>
          <p:cNvSpPr/>
          <p:nvPr/>
        </p:nvSpPr>
        <p:spPr>
          <a:xfrm>
            <a:off x="5364720" y="4165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Freeform 1218"/>
          <p:cNvSpPr/>
          <p:nvPr/>
        </p:nvSpPr>
        <p:spPr>
          <a:xfrm>
            <a:off x="5364720" y="4169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Freeform 1219"/>
          <p:cNvSpPr/>
          <p:nvPr/>
        </p:nvSpPr>
        <p:spPr>
          <a:xfrm>
            <a:off x="5364720" y="4173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Freeform 1220"/>
          <p:cNvSpPr/>
          <p:nvPr/>
        </p:nvSpPr>
        <p:spPr>
          <a:xfrm>
            <a:off x="5364720" y="4178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Freeform 1221"/>
          <p:cNvSpPr/>
          <p:nvPr/>
        </p:nvSpPr>
        <p:spPr>
          <a:xfrm>
            <a:off x="5364720" y="4182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Freeform 1222"/>
          <p:cNvSpPr/>
          <p:nvPr/>
        </p:nvSpPr>
        <p:spPr>
          <a:xfrm>
            <a:off x="5364720" y="4186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Freeform 1223"/>
          <p:cNvSpPr/>
          <p:nvPr/>
        </p:nvSpPr>
        <p:spPr>
          <a:xfrm>
            <a:off x="5364720" y="4190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Freeform 1224"/>
          <p:cNvSpPr/>
          <p:nvPr/>
        </p:nvSpPr>
        <p:spPr>
          <a:xfrm>
            <a:off x="5364720" y="4194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Freeform 1225"/>
          <p:cNvSpPr/>
          <p:nvPr/>
        </p:nvSpPr>
        <p:spPr>
          <a:xfrm>
            <a:off x="5364720" y="4199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Freeform 1226"/>
          <p:cNvSpPr/>
          <p:nvPr/>
        </p:nvSpPr>
        <p:spPr>
          <a:xfrm>
            <a:off x="5364720" y="4203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Freeform 1227"/>
          <p:cNvSpPr/>
          <p:nvPr/>
        </p:nvSpPr>
        <p:spPr>
          <a:xfrm>
            <a:off x="5364720" y="420732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Freeform 1228"/>
          <p:cNvSpPr/>
          <p:nvPr/>
        </p:nvSpPr>
        <p:spPr>
          <a:xfrm>
            <a:off x="5364720" y="4211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Freeform 1229"/>
          <p:cNvSpPr/>
          <p:nvPr/>
        </p:nvSpPr>
        <p:spPr>
          <a:xfrm>
            <a:off x="5364720" y="4215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Freeform 1230"/>
          <p:cNvSpPr/>
          <p:nvPr/>
        </p:nvSpPr>
        <p:spPr>
          <a:xfrm>
            <a:off x="5364720" y="4219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Freeform 1231"/>
          <p:cNvSpPr/>
          <p:nvPr/>
        </p:nvSpPr>
        <p:spPr>
          <a:xfrm>
            <a:off x="5364720" y="4224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Freeform 1232"/>
          <p:cNvSpPr/>
          <p:nvPr/>
        </p:nvSpPr>
        <p:spPr>
          <a:xfrm>
            <a:off x="5364720" y="4228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Freeform 1233"/>
          <p:cNvSpPr/>
          <p:nvPr/>
        </p:nvSpPr>
        <p:spPr>
          <a:xfrm>
            <a:off x="5364720" y="4232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Freeform 1234"/>
          <p:cNvSpPr/>
          <p:nvPr/>
        </p:nvSpPr>
        <p:spPr>
          <a:xfrm>
            <a:off x="5364720" y="4236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1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Freeform 1235"/>
          <p:cNvSpPr/>
          <p:nvPr/>
        </p:nvSpPr>
        <p:spPr>
          <a:xfrm>
            <a:off x="5364720" y="4240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1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Freeform 1236"/>
          <p:cNvSpPr/>
          <p:nvPr/>
        </p:nvSpPr>
        <p:spPr>
          <a:xfrm>
            <a:off x="5364720" y="4245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Freeform 1237"/>
          <p:cNvSpPr/>
          <p:nvPr/>
        </p:nvSpPr>
        <p:spPr>
          <a:xfrm>
            <a:off x="5364720" y="4249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Freeform 1238"/>
          <p:cNvSpPr/>
          <p:nvPr/>
        </p:nvSpPr>
        <p:spPr>
          <a:xfrm>
            <a:off x="5364720" y="4253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Freeform 1239"/>
          <p:cNvSpPr/>
          <p:nvPr/>
        </p:nvSpPr>
        <p:spPr>
          <a:xfrm>
            <a:off x="5364720" y="4257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Freeform 1240"/>
          <p:cNvSpPr/>
          <p:nvPr/>
        </p:nvSpPr>
        <p:spPr>
          <a:xfrm>
            <a:off x="5364720" y="4261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4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Freeform 1241"/>
          <p:cNvSpPr/>
          <p:nvPr/>
        </p:nvSpPr>
        <p:spPr>
          <a:xfrm>
            <a:off x="5364720" y="4266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4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Freeform 1242"/>
          <p:cNvSpPr/>
          <p:nvPr/>
        </p:nvSpPr>
        <p:spPr>
          <a:xfrm>
            <a:off x="5364720" y="4269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Freeform 1243"/>
          <p:cNvSpPr/>
          <p:nvPr/>
        </p:nvSpPr>
        <p:spPr>
          <a:xfrm>
            <a:off x="5364720" y="4274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Freeform 1244"/>
          <p:cNvSpPr/>
          <p:nvPr/>
        </p:nvSpPr>
        <p:spPr>
          <a:xfrm>
            <a:off x="5364720" y="4278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Freeform 1245"/>
          <p:cNvSpPr/>
          <p:nvPr/>
        </p:nvSpPr>
        <p:spPr>
          <a:xfrm>
            <a:off x="5364720" y="428256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Freeform 1246"/>
          <p:cNvSpPr/>
          <p:nvPr/>
        </p:nvSpPr>
        <p:spPr>
          <a:xfrm>
            <a:off x="5364720" y="4286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Freeform 1247"/>
          <p:cNvSpPr/>
          <p:nvPr/>
        </p:nvSpPr>
        <p:spPr>
          <a:xfrm>
            <a:off x="5364720" y="4290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Freeform 1248"/>
          <p:cNvSpPr/>
          <p:nvPr/>
        </p:nvSpPr>
        <p:spPr>
          <a:xfrm>
            <a:off x="5364720" y="4295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Freeform 1249"/>
          <p:cNvSpPr/>
          <p:nvPr/>
        </p:nvSpPr>
        <p:spPr>
          <a:xfrm>
            <a:off x="5364720" y="4299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Freeform 1250"/>
          <p:cNvSpPr/>
          <p:nvPr/>
        </p:nvSpPr>
        <p:spPr>
          <a:xfrm>
            <a:off x="5364720" y="4303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Freeform 1251"/>
          <p:cNvSpPr/>
          <p:nvPr/>
        </p:nvSpPr>
        <p:spPr>
          <a:xfrm>
            <a:off x="5364720" y="4307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Freeform 1252"/>
          <p:cNvSpPr/>
          <p:nvPr/>
        </p:nvSpPr>
        <p:spPr>
          <a:xfrm>
            <a:off x="5364720" y="4311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Freeform 1253"/>
          <p:cNvSpPr/>
          <p:nvPr/>
        </p:nvSpPr>
        <p:spPr>
          <a:xfrm>
            <a:off x="5364720" y="4316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Freeform 1254"/>
          <p:cNvSpPr/>
          <p:nvPr/>
        </p:nvSpPr>
        <p:spPr>
          <a:xfrm>
            <a:off x="5364720" y="4320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Freeform 1255"/>
          <p:cNvSpPr/>
          <p:nvPr/>
        </p:nvSpPr>
        <p:spPr>
          <a:xfrm>
            <a:off x="5364720" y="4324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Freeform 1256"/>
          <p:cNvSpPr/>
          <p:nvPr/>
        </p:nvSpPr>
        <p:spPr>
          <a:xfrm>
            <a:off x="5364720" y="4328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Freeform 1257"/>
          <p:cNvSpPr/>
          <p:nvPr/>
        </p:nvSpPr>
        <p:spPr>
          <a:xfrm>
            <a:off x="5364720" y="4332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Freeform 1258"/>
          <p:cNvSpPr/>
          <p:nvPr/>
        </p:nvSpPr>
        <p:spPr>
          <a:xfrm>
            <a:off x="5364720" y="4336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Freeform 1259"/>
          <p:cNvSpPr/>
          <p:nvPr/>
        </p:nvSpPr>
        <p:spPr>
          <a:xfrm>
            <a:off x="5364720" y="4341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Freeform 1260"/>
          <p:cNvSpPr/>
          <p:nvPr/>
        </p:nvSpPr>
        <p:spPr>
          <a:xfrm>
            <a:off x="5364720" y="4345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Freeform 1261"/>
          <p:cNvSpPr/>
          <p:nvPr/>
        </p:nvSpPr>
        <p:spPr>
          <a:xfrm>
            <a:off x="5364720" y="4349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Freeform 1262"/>
          <p:cNvSpPr/>
          <p:nvPr/>
        </p:nvSpPr>
        <p:spPr>
          <a:xfrm>
            <a:off x="5364720" y="4353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Freeform 1263"/>
          <p:cNvSpPr/>
          <p:nvPr/>
        </p:nvSpPr>
        <p:spPr>
          <a:xfrm>
            <a:off x="5364720" y="435780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Freeform 1264"/>
          <p:cNvSpPr/>
          <p:nvPr/>
        </p:nvSpPr>
        <p:spPr>
          <a:xfrm>
            <a:off x="5364720" y="4362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70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Freeform 1265"/>
          <p:cNvSpPr/>
          <p:nvPr/>
        </p:nvSpPr>
        <p:spPr>
          <a:xfrm>
            <a:off x="5364720" y="4366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7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Freeform 1266"/>
          <p:cNvSpPr/>
          <p:nvPr/>
        </p:nvSpPr>
        <p:spPr>
          <a:xfrm>
            <a:off x="5364720" y="4370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Freeform 1267"/>
          <p:cNvSpPr/>
          <p:nvPr/>
        </p:nvSpPr>
        <p:spPr>
          <a:xfrm>
            <a:off x="5364720" y="4374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Freeform 1268"/>
          <p:cNvSpPr/>
          <p:nvPr/>
        </p:nvSpPr>
        <p:spPr>
          <a:xfrm>
            <a:off x="5364720" y="4378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Freeform 1269"/>
          <p:cNvSpPr/>
          <p:nvPr/>
        </p:nvSpPr>
        <p:spPr>
          <a:xfrm>
            <a:off x="5364720" y="4383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Freeform 1270"/>
          <p:cNvSpPr/>
          <p:nvPr/>
        </p:nvSpPr>
        <p:spPr>
          <a:xfrm>
            <a:off x="5364720" y="4386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Freeform 1271"/>
          <p:cNvSpPr/>
          <p:nvPr/>
        </p:nvSpPr>
        <p:spPr>
          <a:xfrm>
            <a:off x="5364720" y="4391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Freeform 1272"/>
          <p:cNvSpPr/>
          <p:nvPr/>
        </p:nvSpPr>
        <p:spPr>
          <a:xfrm>
            <a:off x="5364720" y="4395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Freeform 1273"/>
          <p:cNvSpPr/>
          <p:nvPr/>
        </p:nvSpPr>
        <p:spPr>
          <a:xfrm>
            <a:off x="5364720" y="4399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5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Freeform 1274"/>
          <p:cNvSpPr/>
          <p:nvPr/>
        </p:nvSpPr>
        <p:spPr>
          <a:xfrm>
            <a:off x="5364720" y="4403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5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Freeform 1275"/>
          <p:cNvSpPr/>
          <p:nvPr/>
        </p:nvSpPr>
        <p:spPr>
          <a:xfrm>
            <a:off x="5364720" y="4407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Freeform 1276"/>
          <p:cNvSpPr/>
          <p:nvPr/>
        </p:nvSpPr>
        <p:spPr>
          <a:xfrm>
            <a:off x="5364720" y="4412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Freeform 1277"/>
          <p:cNvSpPr/>
          <p:nvPr/>
        </p:nvSpPr>
        <p:spPr>
          <a:xfrm>
            <a:off x="5364720" y="4416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Freeform 1278"/>
          <p:cNvSpPr/>
          <p:nvPr/>
        </p:nvSpPr>
        <p:spPr>
          <a:xfrm>
            <a:off x="5364720" y="4420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Freeform 1279"/>
          <p:cNvSpPr/>
          <p:nvPr/>
        </p:nvSpPr>
        <p:spPr>
          <a:xfrm>
            <a:off x="5364720" y="4424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8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Freeform 1280"/>
          <p:cNvSpPr/>
          <p:nvPr/>
        </p:nvSpPr>
        <p:spPr>
          <a:xfrm>
            <a:off x="5364720" y="4428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8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Freeform 1281"/>
          <p:cNvSpPr/>
          <p:nvPr/>
        </p:nvSpPr>
        <p:spPr>
          <a:xfrm>
            <a:off x="5364720" y="44330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Freeform 1282"/>
          <p:cNvSpPr/>
          <p:nvPr/>
        </p:nvSpPr>
        <p:spPr>
          <a:xfrm>
            <a:off x="5364720" y="4437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Freeform 1283"/>
          <p:cNvSpPr/>
          <p:nvPr/>
        </p:nvSpPr>
        <p:spPr>
          <a:xfrm>
            <a:off x="5364720" y="4441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Freeform 1284"/>
          <p:cNvSpPr/>
          <p:nvPr/>
        </p:nvSpPr>
        <p:spPr>
          <a:xfrm>
            <a:off x="5364720" y="4445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Freeform 1285"/>
          <p:cNvSpPr/>
          <p:nvPr/>
        </p:nvSpPr>
        <p:spPr>
          <a:xfrm>
            <a:off x="5364720" y="4449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Freeform 1286"/>
          <p:cNvSpPr/>
          <p:nvPr/>
        </p:nvSpPr>
        <p:spPr>
          <a:xfrm>
            <a:off x="5364720" y="4453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Freeform 1287"/>
          <p:cNvSpPr/>
          <p:nvPr/>
        </p:nvSpPr>
        <p:spPr>
          <a:xfrm>
            <a:off x="5364720" y="4458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Freeform 1288"/>
          <p:cNvSpPr/>
          <p:nvPr/>
        </p:nvSpPr>
        <p:spPr>
          <a:xfrm>
            <a:off x="5364720" y="4462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Freeform 1289"/>
          <p:cNvSpPr/>
          <p:nvPr/>
        </p:nvSpPr>
        <p:spPr>
          <a:xfrm>
            <a:off x="5364720" y="44665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Freeform 1290"/>
          <p:cNvSpPr/>
          <p:nvPr/>
        </p:nvSpPr>
        <p:spPr>
          <a:xfrm>
            <a:off x="5364720" y="44704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Freeform 1291"/>
          <p:cNvSpPr/>
          <p:nvPr/>
        </p:nvSpPr>
        <p:spPr>
          <a:xfrm>
            <a:off x="5364720" y="4474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Freeform 1292"/>
          <p:cNvSpPr/>
          <p:nvPr/>
        </p:nvSpPr>
        <p:spPr>
          <a:xfrm>
            <a:off x="5364720" y="4479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Freeform 1293"/>
          <p:cNvSpPr/>
          <p:nvPr/>
        </p:nvSpPr>
        <p:spPr>
          <a:xfrm>
            <a:off x="5364720" y="4483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Freeform 1294"/>
          <p:cNvSpPr/>
          <p:nvPr/>
        </p:nvSpPr>
        <p:spPr>
          <a:xfrm>
            <a:off x="5364720" y="4487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Freeform 1295"/>
          <p:cNvSpPr/>
          <p:nvPr/>
        </p:nvSpPr>
        <p:spPr>
          <a:xfrm>
            <a:off x="5364720" y="4491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7" name="Picture 1296"/>
          <p:cNvPicPr/>
          <p:nvPr/>
        </p:nvPicPr>
        <p:blipFill>
          <a:blip r:embed="rId18"/>
          <a:stretch/>
        </p:blipFill>
        <p:spPr>
          <a:xfrm>
            <a:off x="7963920" y="4019400"/>
            <a:ext cx="27972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8" name="Picture 1297"/>
          <p:cNvPicPr/>
          <p:nvPr/>
        </p:nvPicPr>
        <p:blipFill>
          <a:blip r:embed="rId19"/>
          <a:stretch/>
        </p:blipFill>
        <p:spPr>
          <a:xfrm>
            <a:off x="8030880" y="415332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9" name="TextBox 1298"/>
          <p:cNvSpPr txBox="1"/>
          <p:nvPr/>
        </p:nvSpPr>
        <p:spPr>
          <a:xfrm>
            <a:off x="5891400" y="4345560"/>
            <a:ext cx="1532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represent missing physics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TextBox 1299"/>
          <p:cNvSpPr txBox="1"/>
          <p:nvPr/>
        </p:nvSpPr>
        <p:spPr>
          <a:xfrm>
            <a:off x="8344080" y="3979080"/>
            <a:ext cx="771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Validation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TextBox 1300"/>
          <p:cNvSpPr txBox="1"/>
          <p:nvPr/>
        </p:nvSpPr>
        <p:spPr>
          <a:xfrm>
            <a:off x="8344080" y="4178520"/>
            <a:ext cx="1511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Compare predictions with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Freeform 1301"/>
          <p:cNvSpPr/>
          <p:nvPr/>
        </p:nvSpPr>
        <p:spPr>
          <a:xfrm>
            <a:off x="7796520" y="3960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Freeform 1302"/>
          <p:cNvSpPr/>
          <p:nvPr/>
        </p:nvSpPr>
        <p:spPr>
          <a:xfrm>
            <a:off x="7796520" y="3965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C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Freeform 1303"/>
          <p:cNvSpPr/>
          <p:nvPr/>
        </p:nvSpPr>
        <p:spPr>
          <a:xfrm>
            <a:off x="7796520" y="3969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0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Freeform 1304"/>
          <p:cNvSpPr/>
          <p:nvPr/>
        </p:nvSpPr>
        <p:spPr>
          <a:xfrm>
            <a:off x="7796520" y="3973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Freeform 1305"/>
          <p:cNvSpPr/>
          <p:nvPr/>
        </p:nvSpPr>
        <p:spPr>
          <a:xfrm>
            <a:off x="7796520" y="39776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B41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Freeform 1306"/>
          <p:cNvSpPr/>
          <p:nvPr/>
        </p:nvSpPr>
        <p:spPr>
          <a:xfrm>
            <a:off x="7796520" y="3981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Freeform 1307"/>
          <p:cNvSpPr/>
          <p:nvPr/>
        </p:nvSpPr>
        <p:spPr>
          <a:xfrm>
            <a:off x="7796520" y="3985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B42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Freeform 1308"/>
          <p:cNvSpPr/>
          <p:nvPr/>
        </p:nvSpPr>
        <p:spPr>
          <a:xfrm>
            <a:off x="7796520" y="3990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Freeform 1309"/>
          <p:cNvSpPr/>
          <p:nvPr/>
        </p:nvSpPr>
        <p:spPr>
          <a:xfrm>
            <a:off x="7796520" y="3994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39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Freeform 1310"/>
          <p:cNvSpPr/>
          <p:nvPr/>
        </p:nvSpPr>
        <p:spPr>
          <a:xfrm>
            <a:off x="7796520" y="3998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Freeform 1311"/>
          <p:cNvSpPr/>
          <p:nvPr/>
        </p:nvSpPr>
        <p:spPr>
          <a:xfrm>
            <a:off x="7796520" y="4002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A44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Freeform 1312"/>
          <p:cNvSpPr/>
          <p:nvPr/>
        </p:nvSpPr>
        <p:spPr>
          <a:xfrm>
            <a:off x="7796520" y="4006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A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Freeform 1313"/>
          <p:cNvSpPr/>
          <p:nvPr/>
        </p:nvSpPr>
        <p:spPr>
          <a:xfrm>
            <a:off x="7796520" y="4011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5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Freeform 1314"/>
          <p:cNvSpPr/>
          <p:nvPr/>
        </p:nvSpPr>
        <p:spPr>
          <a:xfrm>
            <a:off x="7796520" y="4015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Freeform 1315"/>
          <p:cNvSpPr/>
          <p:nvPr/>
        </p:nvSpPr>
        <p:spPr>
          <a:xfrm>
            <a:off x="7796520" y="4019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9469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Freeform 1316"/>
          <p:cNvSpPr/>
          <p:nvPr/>
        </p:nvSpPr>
        <p:spPr>
          <a:xfrm>
            <a:off x="7796520" y="4023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9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Freeform 1317"/>
          <p:cNvSpPr/>
          <p:nvPr/>
        </p:nvSpPr>
        <p:spPr>
          <a:xfrm>
            <a:off x="7796520" y="4027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7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Freeform 1318"/>
          <p:cNvSpPr/>
          <p:nvPr/>
        </p:nvSpPr>
        <p:spPr>
          <a:xfrm>
            <a:off x="7796520" y="4032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Freeform 1319"/>
          <p:cNvSpPr/>
          <p:nvPr/>
        </p:nvSpPr>
        <p:spPr>
          <a:xfrm>
            <a:off x="7796520" y="4035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8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Freeform 1320"/>
          <p:cNvSpPr/>
          <p:nvPr/>
        </p:nvSpPr>
        <p:spPr>
          <a:xfrm>
            <a:off x="7796520" y="4040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Freeform 1321"/>
          <p:cNvSpPr/>
          <p:nvPr/>
        </p:nvSpPr>
        <p:spPr>
          <a:xfrm>
            <a:off x="7796520" y="4044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849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Freeform 1322"/>
          <p:cNvSpPr/>
          <p:nvPr/>
        </p:nvSpPr>
        <p:spPr>
          <a:xfrm>
            <a:off x="7796520" y="4048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A9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Freeform 1323"/>
          <p:cNvSpPr/>
          <p:nvPr/>
        </p:nvSpPr>
        <p:spPr>
          <a:xfrm>
            <a:off x="7796520" y="4052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74A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Freeform 1324"/>
          <p:cNvSpPr/>
          <p:nvPr/>
        </p:nvSpPr>
        <p:spPr>
          <a:xfrm>
            <a:off x="7796520" y="40568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Freeform 1325"/>
          <p:cNvSpPr/>
          <p:nvPr/>
        </p:nvSpPr>
        <p:spPr>
          <a:xfrm>
            <a:off x="7796520" y="4061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74B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Freeform 1326"/>
          <p:cNvSpPr/>
          <p:nvPr/>
        </p:nvSpPr>
        <p:spPr>
          <a:xfrm>
            <a:off x="7796520" y="4065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Freeform 1327"/>
          <p:cNvSpPr/>
          <p:nvPr/>
        </p:nvSpPr>
        <p:spPr>
          <a:xfrm>
            <a:off x="7796520" y="4069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C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Freeform 1328"/>
          <p:cNvSpPr/>
          <p:nvPr/>
        </p:nvSpPr>
        <p:spPr>
          <a:xfrm>
            <a:off x="7796520" y="4073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64D9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Freeform 1329"/>
          <p:cNvSpPr/>
          <p:nvPr/>
        </p:nvSpPr>
        <p:spPr>
          <a:xfrm>
            <a:off x="7796520" y="4077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D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Freeform 1330"/>
          <p:cNvSpPr/>
          <p:nvPr/>
        </p:nvSpPr>
        <p:spPr>
          <a:xfrm>
            <a:off x="7796520" y="4082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6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Freeform 1331"/>
          <p:cNvSpPr/>
          <p:nvPr/>
        </p:nvSpPr>
        <p:spPr>
          <a:xfrm>
            <a:off x="7796520" y="4086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4E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Freeform 1332"/>
          <p:cNvSpPr/>
          <p:nvPr/>
        </p:nvSpPr>
        <p:spPr>
          <a:xfrm>
            <a:off x="7796520" y="4090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Freeform 1333"/>
          <p:cNvSpPr/>
          <p:nvPr/>
        </p:nvSpPr>
        <p:spPr>
          <a:xfrm>
            <a:off x="7796520" y="40946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54F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Freeform 1334"/>
          <p:cNvSpPr/>
          <p:nvPr/>
        </p:nvSpPr>
        <p:spPr>
          <a:xfrm>
            <a:off x="7796520" y="40989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50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Freeform 1335"/>
          <p:cNvSpPr/>
          <p:nvPr/>
        </p:nvSpPr>
        <p:spPr>
          <a:xfrm>
            <a:off x="7796520" y="4102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18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Freeform 1336"/>
          <p:cNvSpPr/>
          <p:nvPr/>
        </p:nvSpPr>
        <p:spPr>
          <a:xfrm>
            <a:off x="7796520" y="4107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1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Freeform 1337"/>
          <p:cNvSpPr/>
          <p:nvPr/>
        </p:nvSpPr>
        <p:spPr>
          <a:xfrm>
            <a:off x="7796520" y="4111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Freeform 1338"/>
          <p:cNvSpPr/>
          <p:nvPr/>
        </p:nvSpPr>
        <p:spPr>
          <a:xfrm>
            <a:off x="7796520" y="4115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452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Freeform 1339"/>
          <p:cNvSpPr/>
          <p:nvPr/>
        </p:nvSpPr>
        <p:spPr>
          <a:xfrm>
            <a:off x="7796520" y="4119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Freeform 1340"/>
          <p:cNvSpPr/>
          <p:nvPr/>
        </p:nvSpPr>
        <p:spPr>
          <a:xfrm>
            <a:off x="7796520" y="4123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3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Freeform 1341"/>
          <p:cNvSpPr/>
          <p:nvPr/>
        </p:nvSpPr>
        <p:spPr>
          <a:xfrm>
            <a:off x="7796520" y="4128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48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Freeform 1342"/>
          <p:cNvSpPr/>
          <p:nvPr/>
        </p:nvSpPr>
        <p:spPr>
          <a:xfrm>
            <a:off x="7796520" y="413208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1354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Freeform 1343"/>
          <p:cNvSpPr/>
          <p:nvPr/>
        </p:nvSpPr>
        <p:spPr>
          <a:xfrm>
            <a:off x="7796520" y="4136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Freeform 1344"/>
          <p:cNvSpPr/>
          <p:nvPr/>
        </p:nvSpPr>
        <p:spPr>
          <a:xfrm>
            <a:off x="7796520" y="4140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355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Freeform 1345"/>
          <p:cNvSpPr/>
          <p:nvPr/>
        </p:nvSpPr>
        <p:spPr>
          <a:xfrm>
            <a:off x="7796520" y="4144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Freeform 1346"/>
          <p:cNvSpPr/>
          <p:nvPr/>
        </p:nvSpPr>
        <p:spPr>
          <a:xfrm>
            <a:off x="7796520" y="4149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256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Freeform 1347"/>
          <p:cNvSpPr/>
          <p:nvPr/>
        </p:nvSpPr>
        <p:spPr>
          <a:xfrm>
            <a:off x="7796520" y="4152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Freeform 1348"/>
          <p:cNvSpPr/>
          <p:nvPr/>
        </p:nvSpPr>
        <p:spPr>
          <a:xfrm>
            <a:off x="7796520" y="4157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2578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Freeform 1349"/>
          <p:cNvSpPr/>
          <p:nvPr/>
        </p:nvSpPr>
        <p:spPr>
          <a:xfrm>
            <a:off x="7796520" y="4161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Freeform 1350"/>
          <p:cNvSpPr/>
          <p:nvPr/>
        </p:nvSpPr>
        <p:spPr>
          <a:xfrm>
            <a:off x="7796520" y="4165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8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Freeform 1351"/>
          <p:cNvSpPr/>
          <p:nvPr/>
        </p:nvSpPr>
        <p:spPr>
          <a:xfrm>
            <a:off x="7796520" y="4169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Freeform 1352"/>
          <p:cNvSpPr/>
          <p:nvPr/>
        </p:nvSpPr>
        <p:spPr>
          <a:xfrm>
            <a:off x="7796520" y="4173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9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Freeform 1353"/>
          <p:cNvSpPr/>
          <p:nvPr/>
        </p:nvSpPr>
        <p:spPr>
          <a:xfrm>
            <a:off x="7796520" y="4178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1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Freeform 1354"/>
          <p:cNvSpPr/>
          <p:nvPr/>
        </p:nvSpPr>
        <p:spPr>
          <a:xfrm>
            <a:off x="7796520" y="4182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A8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Freeform 1355"/>
          <p:cNvSpPr/>
          <p:nvPr/>
        </p:nvSpPr>
        <p:spPr>
          <a:xfrm>
            <a:off x="7796520" y="4186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Freeform 1356"/>
          <p:cNvSpPr/>
          <p:nvPr/>
        </p:nvSpPr>
        <p:spPr>
          <a:xfrm>
            <a:off x="7796520" y="4190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05B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Freeform 1357"/>
          <p:cNvSpPr/>
          <p:nvPr/>
        </p:nvSpPr>
        <p:spPr>
          <a:xfrm>
            <a:off x="7796520" y="4194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10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Freeform 1358"/>
          <p:cNvSpPr/>
          <p:nvPr/>
        </p:nvSpPr>
        <p:spPr>
          <a:xfrm>
            <a:off x="7796520" y="4199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C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Freeform 1359"/>
          <p:cNvSpPr/>
          <p:nvPr/>
        </p:nvSpPr>
        <p:spPr>
          <a:xfrm>
            <a:off x="7796520" y="4203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Freeform 1360"/>
          <p:cNvSpPr/>
          <p:nvPr/>
        </p:nvSpPr>
        <p:spPr>
          <a:xfrm>
            <a:off x="7796520" y="420732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F5D8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Freeform 1361"/>
          <p:cNvSpPr/>
          <p:nvPr/>
        </p:nvSpPr>
        <p:spPr>
          <a:xfrm>
            <a:off x="7796520" y="4211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Freeform 1362"/>
          <p:cNvSpPr/>
          <p:nvPr/>
        </p:nvSpPr>
        <p:spPr>
          <a:xfrm>
            <a:off x="7796520" y="4215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F5E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Freeform 1363"/>
          <p:cNvSpPr/>
          <p:nvPr/>
        </p:nvSpPr>
        <p:spPr>
          <a:xfrm>
            <a:off x="7796520" y="4219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Freeform 1364"/>
          <p:cNvSpPr/>
          <p:nvPr/>
        </p:nvSpPr>
        <p:spPr>
          <a:xfrm>
            <a:off x="7796520" y="4224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E5F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Freeform 1365"/>
          <p:cNvSpPr/>
          <p:nvPr/>
        </p:nvSpPr>
        <p:spPr>
          <a:xfrm>
            <a:off x="7796520" y="4228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Freeform 1366"/>
          <p:cNvSpPr/>
          <p:nvPr/>
        </p:nvSpPr>
        <p:spPr>
          <a:xfrm>
            <a:off x="7796520" y="4232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E60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Freeform 1367"/>
          <p:cNvSpPr/>
          <p:nvPr/>
        </p:nvSpPr>
        <p:spPr>
          <a:xfrm>
            <a:off x="7796520" y="4236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18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Freeform 1368"/>
          <p:cNvSpPr/>
          <p:nvPr/>
        </p:nvSpPr>
        <p:spPr>
          <a:xfrm>
            <a:off x="7796520" y="4240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1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Freeform 1369"/>
          <p:cNvSpPr/>
          <p:nvPr/>
        </p:nvSpPr>
        <p:spPr>
          <a:xfrm>
            <a:off x="7796520" y="4245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Freeform 1370"/>
          <p:cNvSpPr/>
          <p:nvPr/>
        </p:nvSpPr>
        <p:spPr>
          <a:xfrm>
            <a:off x="7796520" y="4249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2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Freeform 1371"/>
          <p:cNvSpPr/>
          <p:nvPr/>
        </p:nvSpPr>
        <p:spPr>
          <a:xfrm>
            <a:off x="7796520" y="4253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D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Freeform 1372"/>
          <p:cNvSpPr/>
          <p:nvPr/>
        </p:nvSpPr>
        <p:spPr>
          <a:xfrm>
            <a:off x="7796520" y="4257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3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Freeform 1373"/>
          <p:cNvSpPr/>
          <p:nvPr/>
        </p:nvSpPr>
        <p:spPr>
          <a:xfrm>
            <a:off x="7796520" y="4261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4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Freeform 1374"/>
          <p:cNvSpPr/>
          <p:nvPr/>
        </p:nvSpPr>
        <p:spPr>
          <a:xfrm>
            <a:off x="7796520" y="4266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C64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Freeform 1375"/>
          <p:cNvSpPr/>
          <p:nvPr/>
        </p:nvSpPr>
        <p:spPr>
          <a:xfrm>
            <a:off x="7796520" y="4269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Freeform 1376"/>
          <p:cNvSpPr/>
          <p:nvPr/>
        </p:nvSpPr>
        <p:spPr>
          <a:xfrm>
            <a:off x="7796520" y="4274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C65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Freeform 1377"/>
          <p:cNvSpPr/>
          <p:nvPr/>
        </p:nvSpPr>
        <p:spPr>
          <a:xfrm>
            <a:off x="7796520" y="4278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Freeform 1378"/>
          <p:cNvSpPr/>
          <p:nvPr/>
        </p:nvSpPr>
        <p:spPr>
          <a:xfrm>
            <a:off x="7796520" y="428256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B66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Freeform 1379"/>
          <p:cNvSpPr/>
          <p:nvPr/>
        </p:nvSpPr>
        <p:spPr>
          <a:xfrm>
            <a:off x="7796520" y="4286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Freeform 1380"/>
          <p:cNvSpPr/>
          <p:nvPr/>
        </p:nvSpPr>
        <p:spPr>
          <a:xfrm>
            <a:off x="7796520" y="4290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B6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Freeform 1381"/>
          <p:cNvSpPr/>
          <p:nvPr/>
        </p:nvSpPr>
        <p:spPr>
          <a:xfrm>
            <a:off x="7796520" y="4295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Freeform 1382"/>
          <p:cNvSpPr/>
          <p:nvPr/>
        </p:nvSpPr>
        <p:spPr>
          <a:xfrm>
            <a:off x="7796520" y="4299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8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Freeform 1383"/>
          <p:cNvSpPr/>
          <p:nvPr/>
        </p:nvSpPr>
        <p:spPr>
          <a:xfrm>
            <a:off x="7796520" y="4303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Freeform 1384"/>
          <p:cNvSpPr/>
          <p:nvPr/>
        </p:nvSpPr>
        <p:spPr>
          <a:xfrm>
            <a:off x="7796520" y="4307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A69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Freeform 1385"/>
          <p:cNvSpPr/>
          <p:nvPr/>
        </p:nvSpPr>
        <p:spPr>
          <a:xfrm>
            <a:off x="7796520" y="4311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A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Freeform 1386"/>
          <p:cNvSpPr/>
          <p:nvPr/>
        </p:nvSpPr>
        <p:spPr>
          <a:xfrm>
            <a:off x="7796520" y="43160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A8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Freeform 1387"/>
          <p:cNvSpPr/>
          <p:nvPr/>
        </p:nvSpPr>
        <p:spPr>
          <a:xfrm>
            <a:off x="7796520" y="4320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Freeform 1388"/>
          <p:cNvSpPr/>
          <p:nvPr/>
        </p:nvSpPr>
        <p:spPr>
          <a:xfrm>
            <a:off x="7796520" y="4324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96B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Freeform 1389"/>
          <p:cNvSpPr/>
          <p:nvPr/>
        </p:nvSpPr>
        <p:spPr>
          <a:xfrm>
            <a:off x="7796520" y="4328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9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Freeform 1390"/>
          <p:cNvSpPr/>
          <p:nvPr/>
        </p:nvSpPr>
        <p:spPr>
          <a:xfrm>
            <a:off x="7796520" y="4332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C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Freeform 1391"/>
          <p:cNvSpPr/>
          <p:nvPr/>
        </p:nvSpPr>
        <p:spPr>
          <a:xfrm>
            <a:off x="7796520" y="4336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Freeform 1392"/>
          <p:cNvSpPr/>
          <p:nvPr/>
        </p:nvSpPr>
        <p:spPr>
          <a:xfrm>
            <a:off x="7796520" y="4341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6D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Freeform 1393"/>
          <p:cNvSpPr/>
          <p:nvPr/>
        </p:nvSpPr>
        <p:spPr>
          <a:xfrm>
            <a:off x="7796520" y="4345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Freeform 1394"/>
          <p:cNvSpPr/>
          <p:nvPr/>
        </p:nvSpPr>
        <p:spPr>
          <a:xfrm>
            <a:off x="7796520" y="43495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86E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Freeform 1395"/>
          <p:cNvSpPr/>
          <p:nvPr/>
        </p:nvSpPr>
        <p:spPr>
          <a:xfrm>
            <a:off x="7796520" y="43538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Freeform 1396"/>
          <p:cNvSpPr/>
          <p:nvPr/>
        </p:nvSpPr>
        <p:spPr>
          <a:xfrm>
            <a:off x="7796520" y="435780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76F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Freeform 1397"/>
          <p:cNvSpPr/>
          <p:nvPr/>
        </p:nvSpPr>
        <p:spPr>
          <a:xfrm>
            <a:off x="7796520" y="4362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770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Freeform 1398"/>
          <p:cNvSpPr/>
          <p:nvPr/>
        </p:nvSpPr>
        <p:spPr>
          <a:xfrm>
            <a:off x="7796520" y="4366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7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Freeform 1399"/>
          <p:cNvSpPr/>
          <p:nvPr/>
        </p:nvSpPr>
        <p:spPr>
          <a:xfrm>
            <a:off x="7796520" y="4370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18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Freeform 1400"/>
          <p:cNvSpPr/>
          <p:nvPr/>
        </p:nvSpPr>
        <p:spPr>
          <a:xfrm>
            <a:off x="7796520" y="4374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Freeform 1401"/>
          <p:cNvSpPr/>
          <p:nvPr/>
        </p:nvSpPr>
        <p:spPr>
          <a:xfrm>
            <a:off x="7796520" y="43786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2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Freeform 1402"/>
          <p:cNvSpPr/>
          <p:nvPr/>
        </p:nvSpPr>
        <p:spPr>
          <a:xfrm>
            <a:off x="7796520" y="43830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Freeform 1403"/>
          <p:cNvSpPr/>
          <p:nvPr/>
        </p:nvSpPr>
        <p:spPr>
          <a:xfrm>
            <a:off x="7796520" y="43869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673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Freeform 1404"/>
          <p:cNvSpPr/>
          <p:nvPr/>
        </p:nvSpPr>
        <p:spPr>
          <a:xfrm>
            <a:off x="7796520" y="43912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Freeform 1405"/>
          <p:cNvSpPr/>
          <p:nvPr/>
        </p:nvSpPr>
        <p:spPr>
          <a:xfrm>
            <a:off x="7796520" y="439560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4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Freeform 1406"/>
          <p:cNvSpPr/>
          <p:nvPr/>
        </p:nvSpPr>
        <p:spPr>
          <a:xfrm>
            <a:off x="7796520" y="43995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5758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Freeform 1407"/>
          <p:cNvSpPr/>
          <p:nvPr/>
        </p:nvSpPr>
        <p:spPr>
          <a:xfrm>
            <a:off x="7796520" y="44038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575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Freeform 1408"/>
          <p:cNvSpPr/>
          <p:nvPr/>
        </p:nvSpPr>
        <p:spPr>
          <a:xfrm>
            <a:off x="7796520" y="44078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Freeform 1409"/>
          <p:cNvSpPr/>
          <p:nvPr/>
        </p:nvSpPr>
        <p:spPr>
          <a:xfrm>
            <a:off x="7796520" y="441216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6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Freeform 1410"/>
          <p:cNvSpPr/>
          <p:nvPr/>
        </p:nvSpPr>
        <p:spPr>
          <a:xfrm>
            <a:off x="7796520" y="441648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Freeform 1411"/>
          <p:cNvSpPr/>
          <p:nvPr/>
        </p:nvSpPr>
        <p:spPr>
          <a:xfrm>
            <a:off x="7796520" y="442044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477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Freeform 1412"/>
          <p:cNvSpPr/>
          <p:nvPr/>
        </p:nvSpPr>
        <p:spPr>
          <a:xfrm>
            <a:off x="7796520" y="44247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4788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Freeform 1413"/>
          <p:cNvSpPr/>
          <p:nvPr/>
        </p:nvSpPr>
        <p:spPr>
          <a:xfrm>
            <a:off x="7796520" y="44287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8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Freeform 1414"/>
          <p:cNvSpPr/>
          <p:nvPr/>
        </p:nvSpPr>
        <p:spPr>
          <a:xfrm>
            <a:off x="7796520" y="4433040"/>
            <a:ext cx="25560" cy="5040"/>
          </a:xfrm>
          <a:custGeom>
            <a:avLst/>
            <a:gdLst/>
            <a:ahLst/>
            <a:cxnLst/>
            <a:rect l="0" t="0" r="r" b="b"/>
            <a:pathLst>
              <a:path w="71" h="14">
                <a:moveTo>
                  <a:pt x="0" y="0"/>
                </a:moveTo>
                <a:lnTo>
                  <a:pt x="71" y="0"/>
                </a:lnTo>
                <a:lnTo>
                  <a:pt x="71" y="14"/>
                </a:ln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Freeform 1415"/>
          <p:cNvSpPr/>
          <p:nvPr/>
        </p:nvSpPr>
        <p:spPr>
          <a:xfrm>
            <a:off x="7796520" y="443736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9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Freeform 1416"/>
          <p:cNvSpPr/>
          <p:nvPr/>
        </p:nvSpPr>
        <p:spPr>
          <a:xfrm>
            <a:off x="7796520" y="44413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Freeform 1417"/>
          <p:cNvSpPr/>
          <p:nvPr/>
        </p:nvSpPr>
        <p:spPr>
          <a:xfrm>
            <a:off x="7796520" y="44456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37A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Freeform 1418"/>
          <p:cNvSpPr/>
          <p:nvPr/>
        </p:nvSpPr>
        <p:spPr>
          <a:xfrm>
            <a:off x="7796520" y="44496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Freeform 1419"/>
          <p:cNvSpPr/>
          <p:nvPr/>
        </p:nvSpPr>
        <p:spPr>
          <a:xfrm>
            <a:off x="7796520" y="445392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B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Freeform 1420"/>
          <p:cNvSpPr/>
          <p:nvPr/>
        </p:nvSpPr>
        <p:spPr>
          <a:xfrm>
            <a:off x="7796520" y="445824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Freeform 1421"/>
          <p:cNvSpPr/>
          <p:nvPr/>
        </p:nvSpPr>
        <p:spPr>
          <a:xfrm>
            <a:off x="7796520" y="44622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27C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Freeform 1422"/>
          <p:cNvSpPr/>
          <p:nvPr/>
        </p:nvSpPr>
        <p:spPr>
          <a:xfrm>
            <a:off x="7796520" y="44665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Freeform 1423"/>
          <p:cNvSpPr/>
          <p:nvPr/>
        </p:nvSpPr>
        <p:spPr>
          <a:xfrm>
            <a:off x="7796520" y="44704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D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Freeform 1424"/>
          <p:cNvSpPr/>
          <p:nvPr/>
        </p:nvSpPr>
        <p:spPr>
          <a:xfrm>
            <a:off x="7796520" y="44748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Freeform 1425"/>
          <p:cNvSpPr/>
          <p:nvPr/>
        </p:nvSpPr>
        <p:spPr>
          <a:xfrm>
            <a:off x="7796520" y="44791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17E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Freeform 1426"/>
          <p:cNvSpPr/>
          <p:nvPr/>
        </p:nvSpPr>
        <p:spPr>
          <a:xfrm>
            <a:off x="7796520" y="448308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1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Freeform 1427"/>
          <p:cNvSpPr/>
          <p:nvPr/>
        </p:nvSpPr>
        <p:spPr>
          <a:xfrm>
            <a:off x="7796520" y="4487400"/>
            <a:ext cx="25560" cy="4680"/>
          </a:xfrm>
          <a:custGeom>
            <a:avLst/>
            <a:gdLst/>
            <a:ahLst/>
            <a:cxnLst/>
            <a:rect l="0" t="0" r="r" b="b"/>
            <a:pathLst>
              <a:path w="71" h="13">
                <a:moveTo>
                  <a:pt x="0" y="0"/>
                </a:moveTo>
                <a:lnTo>
                  <a:pt x="71" y="0"/>
                </a:lnTo>
                <a:lnTo>
                  <a:pt x="71" y="13"/>
                </a:lnTo>
                <a:lnTo>
                  <a:pt x="0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7F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Freeform 1428"/>
          <p:cNvSpPr/>
          <p:nvPr/>
        </p:nvSpPr>
        <p:spPr>
          <a:xfrm>
            <a:off x="7796520" y="4491720"/>
            <a:ext cx="25560" cy="4320"/>
          </a:xfrm>
          <a:custGeom>
            <a:avLst/>
            <a:gdLst/>
            <a:ahLst/>
            <a:cxnLst/>
            <a:rect l="0" t="0" r="r" b="b"/>
            <a:pathLst>
              <a:path w="71" h="12">
                <a:moveTo>
                  <a:pt x="0" y="0"/>
                </a:moveTo>
                <a:lnTo>
                  <a:pt x="71" y="0"/>
                </a:lnTo>
                <a:lnTo>
                  <a:pt x="71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TextBox 1429"/>
          <p:cNvSpPr txBox="1"/>
          <p:nvPr/>
        </p:nvSpPr>
        <p:spPr>
          <a:xfrm>
            <a:off x="8344080" y="4345560"/>
            <a:ext cx="1082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experimental data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TextBox 1430"/>
          <p:cNvSpPr txBox="1"/>
          <p:nvPr/>
        </p:nvSpPr>
        <p:spPr>
          <a:xfrm>
            <a:off x="10025640" y="60264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17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Picture 1431"/>
          <p:cNvPicPr/>
          <p:nvPr/>
        </p:nvPicPr>
        <p:blipFill>
          <a:blip r:embed="rId2"/>
          <a:stretch/>
        </p:blipFill>
        <p:spPr>
          <a:xfrm>
            <a:off x="0" y="0"/>
            <a:ext cx="10696320" cy="648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3" name="Picture 1432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4" name="Freeform 1433"/>
          <p:cNvSpPr/>
          <p:nvPr/>
        </p:nvSpPr>
        <p:spPr>
          <a:xfrm>
            <a:off x="350640" y="902520"/>
            <a:ext cx="10011960" cy="735480"/>
          </a:xfrm>
          <a:custGeom>
            <a:avLst/>
            <a:gdLst/>
            <a:ahLst/>
            <a:cxnLst/>
            <a:rect l="0" t="0" r="r" b="b"/>
            <a:pathLst>
              <a:path w="27811" h="2043">
                <a:moveTo>
                  <a:pt x="0" y="185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8" y="125"/>
                  <a:pt x="11" y="114"/>
                </a:cubicBezTo>
                <a:cubicBezTo>
                  <a:pt x="15" y="103"/>
                  <a:pt x="19" y="92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5"/>
                  <a:pt x="55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4" y="5"/>
                  <a:pt x="113" y="3"/>
                </a:cubicBezTo>
                <a:cubicBezTo>
                  <a:pt x="122" y="1"/>
                  <a:pt x="131" y="0"/>
                  <a:pt x="140" y="0"/>
                </a:cubicBezTo>
                <a:lnTo>
                  <a:pt x="27625" y="0"/>
                </a:lnTo>
                <a:cubicBezTo>
                  <a:pt x="27637" y="0"/>
                  <a:pt x="27649" y="1"/>
                  <a:pt x="27661" y="3"/>
                </a:cubicBezTo>
                <a:cubicBezTo>
                  <a:pt x="27673" y="5"/>
                  <a:pt x="27685" y="9"/>
                  <a:pt x="27696" y="14"/>
                </a:cubicBezTo>
                <a:cubicBezTo>
                  <a:pt x="27707" y="18"/>
                  <a:pt x="27718" y="24"/>
                  <a:pt x="27728" y="31"/>
                </a:cubicBezTo>
                <a:cubicBezTo>
                  <a:pt x="27738" y="38"/>
                  <a:pt x="27748" y="45"/>
                  <a:pt x="27756" y="54"/>
                </a:cubicBezTo>
                <a:cubicBezTo>
                  <a:pt x="27765" y="63"/>
                  <a:pt x="27773" y="72"/>
                  <a:pt x="27779" y="82"/>
                </a:cubicBezTo>
                <a:cubicBezTo>
                  <a:pt x="27786" y="92"/>
                  <a:pt x="27792" y="103"/>
                  <a:pt x="27797" y="114"/>
                </a:cubicBezTo>
                <a:cubicBezTo>
                  <a:pt x="27801" y="125"/>
                  <a:pt x="27805" y="137"/>
                  <a:pt x="27807" y="149"/>
                </a:cubicBezTo>
                <a:cubicBezTo>
                  <a:pt x="27809" y="161"/>
                  <a:pt x="27811" y="173"/>
                  <a:pt x="27811" y="185"/>
                </a:cubicBezTo>
                <a:lnTo>
                  <a:pt x="27811" y="1858"/>
                </a:lnTo>
                <a:cubicBezTo>
                  <a:pt x="27811" y="1870"/>
                  <a:pt x="27809" y="1882"/>
                  <a:pt x="27807" y="1894"/>
                </a:cubicBezTo>
                <a:cubicBezTo>
                  <a:pt x="27805" y="1906"/>
                  <a:pt x="27801" y="1917"/>
                  <a:pt x="27797" y="1929"/>
                </a:cubicBezTo>
                <a:cubicBezTo>
                  <a:pt x="27792" y="1940"/>
                  <a:pt x="27786" y="1951"/>
                  <a:pt x="27779" y="1961"/>
                </a:cubicBezTo>
                <a:cubicBezTo>
                  <a:pt x="27773" y="1971"/>
                  <a:pt x="27765" y="1980"/>
                  <a:pt x="27756" y="1989"/>
                </a:cubicBezTo>
                <a:cubicBezTo>
                  <a:pt x="27748" y="1997"/>
                  <a:pt x="27738" y="2005"/>
                  <a:pt x="27728" y="2012"/>
                </a:cubicBezTo>
                <a:cubicBezTo>
                  <a:pt x="27718" y="2019"/>
                  <a:pt x="27707" y="2024"/>
                  <a:pt x="27696" y="2029"/>
                </a:cubicBezTo>
                <a:cubicBezTo>
                  <a:pt x="27685" y="2034"/>
                  <a:pt x="27673" y="2037"/>
                  <a:pt x="27661" y="2040"/>
                </a:cubicBezTo>
                <a:cubicBezTo>
                  <a:pt x="27649" y="2042"/>
                  <a:pt x="27637" y="2043"/>
                  <a:pt x="27625" y="2043"/>
                </a:cubicBezTo>
                <a:lnTo>
                  <a:pt x="140" y="2043"/>
                </a:lnTo>
                <a:cubicBezTo>
                  <a:pt x="131" y="2043"/>
                  <a:pt x="122" y="2042"/>
                  <a:pt x="113" y="2040"/>
                </a:cubicBezTo>
                <a:cubicBezTo>
                  <a:pt x="104" y="2037"/>
                  <a:pt x="95" y="2034"/>
                  <a:pt x="86" y="2029"/>
                </a:cubicBezTo>
                <a:cubicBezTo>
                  <a:pt x="78" y="2024"/>
                  <a:pt x="70" y="2019"/>
                  <a:pt x="62" y="2012"/>
                </a:cubicBezTo>
                <a:cubicBezTo>
                  <a:pt x="55" y="2005"/>
                  <a:pt x="48" y="1997"/>
                  <a:pt x="41" y="1989"/>
                </a:cubicBezTo>
                <a:cubicBezTo>
                  <a:pt x="35" y="1980"/>
                  <a:pt x="29" y="1971"/>
                  <a:pt x="24" y="1961"/>
                </a:cubicBezTo>
                <a:cubicBezTo>
                  <a:pt x="19" y="1951"/>
                  <a:pt x="15" y="1940"/>
                  <a:pt x="11" y="1929"/>
                </a:cubicBezTo>
                <a:cubicBezTo>
                  <a:pt x="8" y="1917"/>
                  <a:pt x="5" y="1906"/>
                  <a:pt x="3" y="1894"/>
                </a:cubicBezTo>
                <a:cubicBezTo>
                  <a:pt x="1" y="1882"/>
                  <a:pt x="0" y="1870"/>
                  <a:pt x="0" y="185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Freeform 1434"/>
          <p:cNvSpPr/>
          <p:nvPr/>
        </p:nvSpPr>
        <p:spPr>
          <a:xfrm>
            <a:off x="334080" y="902520"/>
            <a:ext cx="67320" cy="735480"/>
          </a:xfrm>
          <a:custGeom>
            <a:avLst/>
            <a:gdLst/>
            <a:ahLst/>
            <a:cxnLst/>
            <a:rect l="0" t="0" r="r" b="b"/>
            <a:pathLst>
              <a:path w="187" h="2043">
                <a:moveTo>
                  <a:pt x="0" y="0"/>
                </a:moveTo>
                <a:lnTo>
                  <a:pt x="187" y="0"/>
                </a:lnTo>
                <a:lnTo>
                  <a:pt x="187" y="2043"/>
                </a:lnTo>
                <a:lnTo>
                  <a:pt x="0" y="2043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TextBox 1435"/>
          <p:cNvSpPr txBox="1"/>
          <p:nvPr/>
        </p:nvSpPr>
        <p:spPr>
          <a:xfrm>
            <a:off x="334440" y="135000"/>
            <a:ext cx="3595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Steps 5 &amp; 6: Future Work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TextBox 1436"/>
          <p:cNvSpPr txBox="1"/>
          <p:nvPr/>
        </p:nvSpPr>
        <p:spPr>
          <a:xfrm>
            <a:off x="501480" y="1063800"/>
            <a:ext cx="9745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After completing the current physics-informed prediction approach, the project will advance to incorporate more realistic driving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Freeform 1437"/>
          <p:cNvSpPr/>
          <p:nvPr/>
        </p:nvSpPr>
        <p:spPr>
          <a:xfrm>
            <a:off x="693360" y="1905120"/>
            <a:ext cx="418320" cy="418320"/>
          </a:xfrm>
          <a:custGeom>
            <a:avLst/>
            <a:gdLst/>
            <a:ahLst/>
            <a:cxnLst/>
            <a:rect l="0" t="0" r="r" b="b"/>
            <a:pathLst>
              <a:path w="1162" h="1162">
                <a:moveTo>
                  <a:pt x="1162" y="580"/>
                </a:moveTo>
                <a:cubicBezTo>
                  <a:pt x="1162" y="599"/>
                  <a:pt x="1161" y="618"/>
                  <a:pt x="1159" y="637"/>
                </a:cubicBezTo>
                <a:cubicBezTo>
                  <a:pt x="1157" y="656"/>
                  <a:pt x="1154" y="675"/>
                  <a:pt x="1151" y="694"/>
                </a:cubicBezTo>
                <a:cubicBezTo>
                  <a:pt x="1147" y="712"/>
                  <a:pt x="1142" y="731"/>
                  <a:pt x="1137" y="749"/>
                </a:cubicBezTo>
                <a:cubicBezTo>
                  <a:pt x="1131" y="767"/>
                  <a:pt x="1125" y="785"/>
                  <a:pt x="1118" y="802"/>
                </a:cubicBezTo>
                <a:cubicBezTo>
                  <a:pt x="1110" y="820"/>
                  <a:pt x="1102" y="837"/>
                  <a:pt x="1093" y="854"/>
                </a:cubicBezTo>
                <a:cubicBezTo>
                  <a:pt x="1084" y="871"/>
                  <a:pt x="1075" y="887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3"/>
                  <a:pt x="1005" y="977"/>
                  <a:pt x="992" y="991"/>
                </a:cubicBezTo>
                <a:cubicBezTo>
                  <a:pt x="978" y="1004"/>
                  <a:pt x="963" y="1017"/>
                  <a:pt x="949" y="1029"/>
                </a:cubicBezTo>
                <a:cubicBezTo>
                  <a:pt x="934" y="1041"/>
                  <a:pt x="919" y="1052"/>
                  <a:pt x="903" y="1063"/>
                </a:cubicBezTo>
                <a:cubicBezTo>
                  <a:pt x="887" y="1073"/>
                  <a:pt x="871" y="1083"/>
                  <a:pt x="854" y="1093"/>
                </a:cubicBezTo>
                <a:cubicBezTo>
                  <a:pt x="837" y="1102"/>
                  <a:pt x="820" y="1110"/>
                  <a:pt x="803" y="1118"/>
                </a:cubicBezTo>
                <a:cubicBezTo>
                  <a:pt x="785" y="1125"/>
                  <a:pt x="767" y="1131"/>
                  <a:pt x="749" y="1137"/>
                </a:cubicBezTo>
                <a:cubicBezTo>
                  <a:pt x="731" y="1142"/>
                  <a:pt x="712" y="1147"/>
                  <a:pt x="694" y="1151"/>
                </a:cubicBezTo>
                <a:cubicBezTo>
                  <a:pt x="675" y="1154"/>
                  <a:pt x="656" y="1157"/>
                  <a:pt x="637" y="1159"/>
                </a:cubicBezTo>
                <a:cubicBezTo>
                  <a:pt x="618" y="1161"/>
                  <a:pt x="600" y="1162"/>
                  <a:pt x="581" y="1162"/>
                </a:cubicBezTo>
                <a:cubicBezTo>
                  <a:pt x="562" y="1162"/>
                  <a:pt x="543" y="1161"/>
                  <a:pt x="524" y="1159"/>
                </a:cubicBezTo>
                <a:cubicBezTo>
                  <a:pt x="505" y="1157"/>
                  <a:pt x="486" y="1154"/>
                  <a:pt x="467" y="1151"/>
                </a:cubicBezTo>
                <a:cubicBezTo>
                  <a:pt x="449" y="1147"/>
                  <a:pt x="430" y="1142"/>
                  <a:pt x="412" y="1137"/>
                </a:cubicBezTo>
                <a:cubicBezTo>
                  <a:pt x="394" y="1131"/>
                  <a:pt x="376" y="1125"/>
                  <a:pt x="358" y="1118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3"/>
                  <a:pt x="274" y="1073"/>
                  <a:pt x="258" y="1063"/>
                </a:cubicBezTo>
                <a:cubicBezTo>
                  <a:pt x="242" y="1052"/>
                  <a:pt x="227" y="1041"/>
                  <a:pt x="212" y="1029"/>
                </a:cubicBezTo>
                <a:cubicBezTo>
                  <a:pt x="198" y="1017"/>
                  <a:pt x="184" y="1004"/>
                  <a:pt x="170" y="991"/>
                </a:cubicBezTo>
                <a:cubicBezTo>
                  <a:pt x="157" y="977"/>
                  <a:pt x="144" y="963"/>
                  <a:pt x="132" y="949"/>
                </a:cubicBezTo>
                <a:cubicBezTo>
                  <a:pt x="120" y="934"/>
                  <a:pt x="109" y="919"/>
                  <a:pt x="98" y="903"/>
                </a:cubicBezTo>
                <a:cubicBezTo>
                  <a:pt x="87" y="887"/>
                  <a:pt x="78" y="871"/>
                  <a:pt x="69" y="854"/>
                </a:cubicBezTo>
                <a:cubicBezTo>
                  <a:pt x="60" y="837"/>
                  <a:pt x="52" y="820"/>
                  <a:pt x="44" y="802"/>
                </a:cubicBezTo>
                <a:cubicBezTo>
                  <a:pt x="37" y="785"/>
                  <a:pt x="31" y="767"/>
                  <a:pt x="25" y="749"/>
                </a:cubicBezTo>
                <a:cubicBezTo>
                  <a:pt x="20" y="731"/>
                  <a:pt x="15" y="712"/>
                  <a:pt x="11" y="694"/>
                </a:cubicBezTo>
                <a:cubicBezTo>
                  <a:pt x="8" y="675"/>
                  <a:pt x="5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3" y="524"/>
                </a:cubicBezTo>
                <a:cubicBezTo>
                  <a:pt x="5" y="505"/>
                  <a:pt x="8" y="486"/>
                  <a:pt x="11" y="467"/>
                </a:cubicBezTo>
                <a:cubicBezTo>
                  <a:pt x="15" y="449"/>
                  <a:pt x="20" y="430"/>
                  <a:pt x="25" y="412"/>
                </a:cubicBezTo>
                <a:cubicBezTo>
                  <a:pt x="31" y="394"/>
                  <a:pt x="37" y="376"/>
                  <a:pt x="44" y="358"/>
                </a:cubicBezTo>
                <a:cubicBezTo>
                  <a:pt x="52" y="341"/>
                  <a:pt x="60" y="324"/>
                  <a:pt x="69" y="307"/>
                </a:cubicBezTo>
                <a:cubicBezTo>
                  <a:pt x="78" y="290"/>
                  <a:pt x="87" y="274"/>
                  <a:pt x="98" y="258"/>
                </a:cubicBezTo>
                <a:cubicBezTo>
                  <a:pt x="109" y="242"/>
                  <a:pt x="120" y="227"/>
                  <a:pt x="132" y="212"/>
                </a:cubicBezTo>
                <a:cubicBezTo>
                  <a:pt x="144" y="198"/>
                  <a:pt x="157" y="183"/>
                  <a:pt x="170" y="170"/>
                </a:cubicBezTo>
                <a:cubicBezTo>
                  <a:pt x="184" y="157"/>
                  <a:pt x="198" y="144"/>
                  <a:pt x="212" y="132"/>
                </a:cubicBezTo>
                <a:cubicBezTo>
                  <a:pt x="227" y="120"/>
                  <a:pt x="242" y="108"/>
                  <a:pt x="258" y="98"/>
                </a:cubicBezTo>
                <a:cubicBezTo>
                  <a:pt x="274" y="87"/>
                  <a:pt x="290" y="78"/>
                  <a:pt x="307" y="69"/>
                </a:cubicBezTo>
                <a:cubicBezTo>
                  <a:pt x="324" y="60"/>
                  <a:pt x="341" y="52"/>
                  <a:pt x="358" y="44"/>
                </a:cubicBezTo>
                <a:cubicBezTo>
                  <a:pt x="376" y="37"/>
                  <a:pt x="394" y="31"/>
                  <a:pt x="412" y="25"/>
                </a:cubicBezTo>
                <a:cubicBezTo>
                  <a:pt x="430" y="20"/>
                  <a:pt x="449" y="15"/>
                  <a:pt x="467" y="11"/>
                </a:cubicBezTo>
                <a:cubicBezTo>
                  <a:pt x="486" y="8"/>
                  <a:pt x="505" y="5"/>
                  <a:pt x="524" y="3"/>
                </a:cubicBezTo>
                <a:cubicBezTo>
                  <a:pt x="543" y="1"/>
                  <a:pt x="562" y="0"/>
                  <a:pt x="581" y="0"/>
                </a:cubicBezTo>
                <a:cubicBezTo>
                  <a:pt x="600" y="0"/>
                  <a:pt x="618" y="1"/>
                  <a:pt x="637" y="3"/>
                </a:cubicBezTo>
                <a:cubicBezTo>
                  <a:pt x="656" y="5"/>
                  <a:pt x="675" y="8"/>
                  <a:pt x="694" y="11"/>
                </a:cubicBezTo>
                <a:cubicBezTo>
                  <a:pt x="712" y="15"/>
                  <a:pt x="731" y="20"/>
                  <a:pt x="749" y="25"/>
                </a:cubicBezTo>
                <a:cubicBezTo>
                  <a:pt x="767" y="31"/>
                  <a:pt x="785" y="37"/>
                  <a:pt x="803" y="44"/>
                </a:cubicBezTo>
                <a:cubicBezTo>
                  <a:pt x="820" y="52"/>
                  <a:pt x="837" y="60"/>
                  <a:pt x="854" y="69"/>
                </a:cubicBezTo>
                <a:cubicBezTo>
                  <a:pt x="871" y="78"/>
                  <a:pt x="887" y="87"/>
                  <a:pt x="903" y="98"/>
                </a:cubicBezTo>
                <a:cubicBezTo>
                  <a:pt x="919" y="108"/>
                  <a:pt x="934" y="120"/>
                  <a:pt x="949" y="132"/>
                </a:cubicBezTo>
                <a:cubicBezTo>
                  <a:pt x="963" y="144"/>
                  <a:pt x="978" y="157"/>
                  <a:pt x="992" y="170"/>
                </a:cubicBezTo>
                <a:cubicBezTo>
                  <a:pt x="1005" y="183"/>
                  <a:pt x="1018" y="198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5" y="274"/>
                  <a:pt x="1084" y="290"/>
                  <a:pt x="1093" y="307"/>
                </a:cubicBezTo>
                <a:cubicBezTo>
                  <a:pt x="1102" y="324"/>
                  <a:pt x="1110" y="341"/>
                  <a:pt x="1118" y="358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0"/>
                  <a:pt x="1147" y="449"/>
                  <a:pt x="1151" y="467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TextBox 1438"/>
          <p:cNvSpPr txBox="1"/>
          <p:nvPr/>
        </p:nvSpPr>
        <p:spPr>
          <a:xfrm>
            <a:off x="501480" y="1297800"/>
            <a:ext cx="4417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force models and apply them to actual experimental data.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TextBox 1439"/>
          <p:cNvSpPr txBox="1"/>
          <p:nvPr/>
        </p:nvSpPr>
        <p:spPr>
          <a:xfrm>
            <a:off x="801720" y="1935360"/>
            <a:ext cx="3006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4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1" name="Picture 1440"/>
          <p:cNvPicPr/>
          <p:nvPr/>
        </p:nvPicPr>
        <p:blipFill>
          <a:blip r:embed="rId4"/>
          <a:stretch/>
        </p:blipFill>
        <p:spPr>
          <a:xfrm>
            <a:off x="1579320" y="2206080"/>
            <a:ext cx="3208680" cy="4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2" name="Freeform 1441"/>
          <p:cNvSpPr/>
          <p:nvPr/>
        </p:nvSpPr>
        <p:spPr>
          <a:xfrm>
            <a:off x="5222880" y="1905120"/>
            <a:ext cx="417960" cy="418320"/>
          </a:xfrm>
          <a:custGeom>
            <a:avLst/>
            <a:gdLst/>
            <a:ahLst/>
            <a:cxnLst/>
            <a:rect l="0" t="0" r="r" b="b"/>
            <a:pathLst>
              <a:path w="1161" h="1162">
                <a:moveTo>
                  <a:pt x="1161" y="580"/>
                </a:moveTo>
                <a:cubicBezTo>
                  <a:pt x="1161" y="599"/>
                  <a:pt x="1160" y="618"/>
                  <a:pt x="1159" y="637"/>
                </a:cubicBezTo>
                <a:cubicBezTo>
                  <a:pt x="1157" y="656"/>
                  <a:pt x="1154" y="675"/>
                  <a:pt x="1149" y="694"/>
                </a:cubicBezTo>
                <a:cubicBezTo>
                  <a:pt x="1145" y="712"/>
                  <a:pt x="1141" y="731"/>
                  <a:pt x="1135" y="749"/>
                </a:cubicBezTo>
                <a:cubicBezTo>
                  <a:pt x="1130" y="767"/>
                  <a:pt x="1123" y="785"/>
                  <a:pt x="1116" y="802"/>
                </a:cubicBezTo>
                <a:cubicBezTo>
                  <a:pt x="1109" y="820"/>
                  <a:pt x="1101" y="837"/>
                  <a:pt x="1092" y="854"/>
                </a:cubicBezTo>
                <a:cubicBezTo>
                  <a:pt x="1083" y="871"/>
                  <a:pt x="1073" y="887"/>
                  <a:pt x="1063" y="903"/>
                </a:cubicBezTo>
                <a:cubicBezTo>
                  <a:pt x="1052" y="919"/>
                  <a:pt x="1041" y="934"/>
                  <a:pt x="1029" y="949"/>
                </a:cubicBezTo>
                <a:cubicBezTo>
                  <a:pt x="1017" y="963"/>
                  <a:pt x="1004" y="977"/>
                  <a:pt x="990" y="991"/>
                </a:cubicBezTo>
                <a:cubicBezTo>
                  <a:pt x="977" y="1004"/>
                  <a:pt x="963" y="1017"/>
                  <a:pt x="948" y="1029"/>
                </a:cubicBezTo>
                <a:cubicBezTo>
                  <a:pt x="933" y="1041"/>
                  <a:pt x="918" y="1052"/>
                  <a:pt x="902" y="1063"/>
                </a:cubicBezTo>
                <a:cubicBezTo>
                  <a:pt x="887" y="1073"/>
                  <a:pt x="870" y="1083"/>
                  <a:pt x="854" y="1093"/>
                </a:cubicBezTo>
                <a:cubicBezTo>
                  <a:pt x="837" y="1102"/>
                  <a:pt x="820" y="1110"/>
                  <a:pt x="802" y="1118"/>
                </a:cubicBezTo>
                <a:cubicBezTo>
                  <a:pt x="785" y="1125"/>
                  <a:pt x="767" y="1131"/>
                  <a:pt x="748" y="1137"/>
                </a:cubicBezTo>
                <a:cubicBezTo>
                  <a:pt x="730" y="1142"/>
                  <a:pt x="712" y="1147"/>
                  <a:pt x="693" y="1151"/>
                </a:cubicBezTo>
                <a:cubicBezTo>
                  <a:pt x="675" y="1154"/>
                  <a:pt x="656" y="1157"/>
                  <a:pt x="637" y="1159"/>
                </a:cubicBezTo>
                <a:cubicBezTo>
                  <a:pt x="618" y="1161"/>
                  <a:pt x="599" y="1162"/>
                  <a:pt x="580" y="1162"/>
                </a:cubicBezTo>
                <a:cubicBezTo>
                  <a:pt x="561" y="1162"/>
                  <a:pt x="542" y="1161"/>
                  <a:pt x="523" y="1159"/>
                </a:cubicBezTo>
                <a:cubicBezTo>
                  <a:pt x="504" y="1157"/>
                  <a:pt x="485" y="1154"/>
                  <a:pt x="467" y="1151"/>
                </a:cubicBezTo>
                <a:cubicBezTo>
                  <a:pt x="448" y="1147"/>
                  <a:pt x="430" y="1142"/>
                  <a:pt x="412" y="1137"/>
                </a:cubicBezTo>
                <a:cubicBezTo>
                  <a:pt x="393" y="1131"/>
                  <a:pt x="375" y="1125"/>
                  <a:pt x="358" y="1118"/>
                </a:cubicBezTo>
                <a:cubicBezTo>
                  <a:pt x="340" y="1110"/>
                  <a:pt x="323" y="1102"/>
                  <a:pt x="306" y="1093"/>
                </a:cubicBezTo>
                <a:cubicBezTo>
                  <a:pt x="290" y="1083"/>
                  <a:pt x="273" y="1073"/>
                  <a:pt x="258" y="1063"/>
                </a:cubicBezTo>
                <a:cubicBezTo>
                  <a:pt x="242" y="1052"/>
                  <a:pt x="227" y="1041"/>
                  <a:pt x="212" y="1029"/>
                </a:cubicBezTo>
                <a:cubicBezTo>
                  <a:pt x="197" y="1017"/>
                  <a:pt x="183" y="1004"/>
                  <a:pt x="170" y="991"/>
                </a:cubicBezTo>
                <a:cubicBezTo>
                  <a:pt x="156" y="977"/>
                  <a:pt x="143" y="963"/>
                  <a:pt x="131" y="949"/>
                </a:cubicBezTo>
                <a:cubicBezTo>
                  <a:pt x="119" y="934"/>
                  <a:pt x="108" y="919"/>
                  <a:pt x="97" y="903"/>
                </a:cubicBezTo>
                <a:cubicBezTo>
                  <a:pt x="87" y="887"/>
                  <a:pt x="77" y="871"/>
                  <a:pt x="68" y="854"/>
                </a:cubicBezTo>
                <a:cubicBezTo>
                  <a:pt x="59" y="837"/>
                  <a:pt x="51" y="820"/>
                  <a:pt x="44" y="802"/>
                </a:cubicBezTo>
                <a:cubicBezTo>
                  <a:pt x="37" y="785"/>
                  <a:pt x="30" y="767"/>
                  <a:pt x="25" y="749"/>
                </a:cubicBezTo>
                <a:cubicBezTo>
                  <a:pt x="19" y="731"/>
                  <a:pt x="15" y="712"/>
                  <a:pt x="11" y="694"/>
                </a:cubicBezTo>
                <a:cubicBezTo>
                  <a:pt x="7" y="675"/>
                  <a:pt x="4" y="656"/>
                  <a:pt x="2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2" y="524"/>
                </a:cubicBezTo>
                <a:cubicBezTo>
                  <a:pt x="4" y="505"/>
                  <a:pt x="7" y="486"/>
                  <a:pt x="11" y="467"/>
                </a:cubicBezTo>
                <a:cubicBezTo>
                  <a:pt x="15" y="449"/>
                  <a:pt x="19" y="430"/>
                  <a:pt x="25" y="412"/>
                </a:cubicBezTo>
                <a:cubicBezTo>
                  <a:pt x="30" y="394"/>
                  <a:pt x="37" y="376"/>
                  <a:pt x="44" y="358"/>
                </a:cubicBezTo>
                <a:cubicBezTo>
                  <a:pt x="51" y="341"/>
                  <a:pt x="59" y="324"/>
                  <a:pt x="68" y="307"/>
                </a:cubicBezTo>
                <a:cubicBezTo>
                  <a:pt x="77" y="290"/>
                  <a:pt x="87" y="274"/>
                  <a:pt x="97" y="258"/>
                </a:cubicBezTo>
                <a:cubicBezTo>
                  <a:pt x="108" y="242"/>
                  <a:pt x="119" y="227"/>
                  <a:pt x="131" y="212"/>
                </a:cubicBezTo>
                <a:cubicBezTo>
                  <a:pt x="143" y="198"/>
                  <a:pt x="156" y="183"/>
                  <a:pt x="170" y="170"/>
                </a:cubicBezTo>
                <a:cubicBezTo>
                  <a:pt x="183" y="157"/>
                  <a:pt x="197" y="144"/>
                  <a:pt x="212" y="132"/>
                </a:cubicBezTo>
                <a:cubicBezTo>
                  <a:pt x="227" y="120"/>
                  <a:pt x="242" y="108"/>
                  <a:pt x="258" y="98"/>
                </a:cubicBezTo>
                <a:cubicBezTo>
                  <a:pt x="273" y="87"/>
                  <a:pt x="290" y="78"/>
                  <a:pt x="306" y="69"/>
                </a:cubicBezTo>
                <a:cubicBezTo>
                  <a:pt x="323" y="60"/>
                  <a:pt x="340" y="52"/>
                  <a:pt x="358" y="44"/>
                </a:cubicBezTo>
                <a:cubicBezTo>
                  <a:pt x="375" y="37"/>
                  <a:pt x="393" y="31"/>
                  <a:pt x="412" y="25"/>
                </a:cubicBezTo>
                <a:cubicBezTo>
                  <a:pt x="430" y="20"/>
                  <a:pt x="448" y="15"/>
                  <a:pt x="467" y="11"/>
                </a:cubicBezTo>
                <a:cubicBezTo>
                  <a:pt x="485" y="8"/>
                  <a:pt x="504" y="5"/>
                  <a:pt x="523" y="3"/>
                </a:cubicBezTo>
                <a:cubicBezTo>
                  <a:pt x="542" y="1"/>
                  <a:pt x="561" y="0"/>
                  <a:pt x="580" y="0"/>
                </a:cubicBezTo>
                <a:cubicBezTo>
                  <a:pt x="599" y="0"/>
                  <a:pt x="618" y="1"/>
                  <a:pt x="637" y="3"/>
                </a:cubicBezTo>
                <a:cubicBezTo>
                  <a:pt x="656" y="5"/>
                  <a:pt x="675" y="8"/>
                  <a:pt x="693" y="11"/>
                </a:cubicBezTo>
                <a:cubicBezTo>
                  <a:pt x="712" y="15"/>
                  <a:pt x="730" y="20"/>
                  <a:pt x="748" y="25"/>
                </a:cubicBezTo>
                <a:cubicBezTo>
                  <a:pt x="767" y="31"/>
                  <a:pt x="785" y="37"/>
                  <a:pt x="802" y="44"/>
                </a:cubicBezTo>
                <a:cubicBezTo>
                  <a:pt x="820" y="52"/>
                  <a:pt x="837" y="60"/>
                  <a:pt x="854" y="69"/>
                </a:cubicBezTo>
                <a:cubicBezTo>
                  <a:pt x="870" y="78"/>
                  <a:pt x="887" y="87"/>
                  <a:pt x="902" y="98"/>
                </a:cubicBezTo>
                <a:cubicBezTo>
                  <a:pt x="918" y="108"/>
                  <a:pt x="933" y="120"/>
                  <a:pt x="948" y="132"/>
                </a:cubicBezTo>
                <a:cubicBezTo>
                  <a:pt x="963" y="144"/>
                  <a:pt x="977" y="157"/>
                  <a:pt x="990" y="170"/>
                </a:cubicBezTo>
                <a:cubicBezTo>
                  <a:pt x="1004" y="183"/>
                  <a:pt x="1017" y="198"/>
                  <a:pt x="1029" y="212"/>
                </a:cubicBezTo>
                <a:cubicBezTo>
                  <a:pt x="1041" y="227"/>
                  <a:pt x="1052" y="242"/>
                  <a:pt x="1063" y="258"/>
                </a:cubicBezTo>
                <a:cubicBezTo>
                  <a:pt x="1073" y="274"/>
                  <a:pt x="1083" y="290"/>
                  <a:pt x="1092" y="307"/>
                </a:cubicBezTo>
                <a:cubicBezTo>
                  <a:pt x="1101" y="324"/>
                  <a:pt x="1109" y="341"/>
                  <a:pt x="1116" y="358"/>
                </a:cubicBezTo>
                <a:cubicBezTo>
                  <a:pt x="1123" y="376"/>
                  <a:pt x="1130" y="394"/>
                  <a:pt x="1135" y="412"/>
                </a:cubicBezTo>
                <a:cubicBezTo>
                  <a:pt x="1141" y="430"/>
                  <a:pt x="1145" y="449"/>
                  <a:pt x="1149" y="467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0" y="542"/>
                  <a:pt x="1161" y="561"/>
                  <a:pt x="1161" y="580"/>
                </a:cubicBezTo>
                <a:close/>
              </a:path>
            </a:pathLst>
          </a:custGeom>
          <a:solidFill>
            <a:srgbClr val="0096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TextBox 1442"/>
          <p:cNvSpPr txBox="1"/>
          <p:nvPr/>
        </p:nvSpPr>
        <p:spPr>
          <a:xfrm>
            <a:off x="534960" y="2406960"/>
            <a:ext cx="7506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Current Step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TextBox 1443"/>
          <p:cNvSpPr txBox="1"/>
          <p:nvPr/>
        </p:nvSpPr>
        <p:spPr>
          <a:xfrm>
            <a:off x="5328360" y="1935360"/>
            <a:ext cx="3006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5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5" name="Picture 1444"/>
          <p:cNvPicPr/>
          <p:nvPr/>
        </p:nvPicPr>
        <p:blipFill>
          <a:blip r:embed="rId5"/>
          <a:stretch/>
        </p:blipFill>
        <p:spPr>
          <a:xfrm>
            <a:off x="6075360" y="2206080"/>
            <a:ext cx="3208680" cy="4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6" name="Freeform 1445"/>
          <p:cNvSpPr/>
          <p:nvPr/>
        </p:nvSpPr>
        <p:spPr>
          <a:xfrm>
            <a:off x="9668520" y="1905120"/>
            <a:ext cx="418320" cy="418320"/>
          </a:xfrm>
          <a:custGeom>
            <a:avLst/>
            <a:gdLst/>
            <a:ahLst/>
            <a:cxnLst/>
            <a:rect l="0" t="0" r="r" b="b"/>
            <a:pathLst>
              <a:path w="1162" h="1162">
                <a:moveTo>
                  <a:pt x="1162" y="580"/>
                </a:moveTo>
                <a:cubicBezTo>
                  <a:pt x="1162" y="599"/>
                  <a:pt x="1161" y="618"/>
                  <a:pt x="1159" y="637"/>
                </a:cubicBezTo>
                <a:cubicBezTo>
                  <a:pt x="1157" y="656"/>
                  <a:pt x="1154" y="675"/>
                  <a:pt x="1151" y="694"/>
                </a:cubicBezTo>
                <a:cubicBezTo>
                  <a:pt x="1147" y="712"/>
                  <a:pt x="1142" y="731"/>
                  <a:pt x="1137" y="749"/>
                </a:cubicBezTo>
                <a:cubicBezTo>
                  <a:pt x="1131" y="767"/>
                  <a:pt x="1125" y="785"/>
                  <a:pt x="1117" y="802"/>
                </a:cubicBezTo>
                <a:cubicBezTo>
                  <a:pt x="1110" y="820"/>
                  <a:pt x="1102" y="837"/>
                  <a:pt x="1093" y="854"/>
                </a:cubicBezTo>
                <a:cubicBezTo>
                  <a:pt x="1084" y="871"/>
                  <a:pt x="1074" y="887"/>
                  <a:pt x="1064" y="903"/>
                </a:cubicBezTo>
                <a:cubicBezTo>
                  <a:pt x="1053" y="919"/>
                  <a:pt x="1042" y="934"/>
                  <a:pt x="1030" y="949"/>
                </a:cubicBezTo>
                <a:cubicBezTo>
                  <a:pt x="1018" y="963"/>
                  <a:pt x="1005" y="977"/>
                  <a:pt x="992" y="991"/>
                </a:cubicBezTo>
                <a:cubicBezTo>
                  <a:pt x="978" y="1004"/>
                  <a:pt x="964" y="1017"/>
                  <a:pt x="949" y="1029"/>
                </a:cubicBezTo>
                <a:cubicBezTo>
                  <a:pt x="935" y="1041"/>
                  <a:pt x="920" y="1052"/>
                  <a:pt x="904" y="1063"/>
                </a:cubicBezTo>
                <a:cubicBezTo>
                  <a:pt x="888" y="1073"/>
                  <a:pt x="872" y="1083"/>
                  <a:pt x="855" y="1093"/>
                </a:cubicBezTo>
                <a:cubicBezTo>
                  <a:pt x="838" y="1102"/>
                  <a:pt x="821" y="1110"/>
                  <a:pt x="803" y="1118"/>
                </a:cubicBezTo>
                <a:cubicBezTo>
                  <a:pt x="786" y="1125"/>
                  <a:pt x="768" y="1131"/>
                  <a:pt x="750" y="1137"/>
                </a:cubicBezTo>
                <a:cubicBezTo>
                  <a:pt x="732" y="1142"/>
                  <a:pt x="713" y="1147"/>
                  <a:pt x="695" y="1151"/>
                </a:cubicBezTo>
                <a:cubicBezTo>
                  <a:pt x="676" y="1154"/>
                  <a:pt x="657" y="1157"/>
                  <a:pt x="638" y="1159"/>
                </a:cubicBezTo>
                <a:cubicBezTo>
                  <a:pt x="619" y="1161"/>
                  <a:pt x="600" y="1162"/>
                  <a:pt x="581" y="1162"/>
                </a:cubicBezTo>
                <a:cubicBezTo>
                  <a:pt x="562" y="1162"/>
                  <a:pt x="543" y="1161"/>
                  <a:pt x="524" y="1159"/>
                </a:cubicBezTo>
                <a:cubicBezTo>
                  <a:pt x="506" y="1157"/>
                  <a:pt x="487" y="1154"/>
                  <a:pt x="468" y="1151"/>
                </a:cubicBezTo>
                <a:cubicBezTo>
                  <a:pt x="449" y="1147"/>
                  <a:pt x="431" y="1142"/>
                  <a:pt x="413" y="1137"/>
                </a:cubicBezTo>
                <a:cubicBezTo>
                  <a:pt x="394" y="1131"/>
                  <a:pt x="376" y="1125"/>
                  <a:pt x="358" y="1118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3"/>
                  <a:pt x="274" y="1073"/>
                  <a:pt x="258" y="1063"/>
                </a:cubicBezTo>
                <a:cubicBezTo>
                  <a:pt x="242" y="1052"/>
                  <a:pt x="227" y="1041"/>
                  <a:pt x="212" y="1029"/>
                </a:cubicBezTo>
                <a:cubicBezTo>
                  <a:pt x="197" y="1017"/>
                  <a:pt x="183" y="1004"/>
                  <a:pt x="170" y="991"/>
                </a:cubicBezTo>
                <a:cubicBezTo>
                  <a:pt x="157" y="977"/>
                  <a:pt x="144" y="963"/>
                  <a:pt x="132" y="949"/>
                </a:cubicBezTo>
                <a:cubicBezTo>
                  <a:pt x="120" y="934"/>
                  <a:pt x="108" y="919"/>
                  <a:pt x="98" y="903"/>
                </a:cubicBezTo>
                <a:cubicBezTo>
                  <a:pt x="87" y="887"/>
                  <a:pt x="77" y="871"/>
                  <a:pt x="69" y="854"/>
                </a:cubicBezTo>
                <a:cubicBezTo>
                  <a:pt x="60" y="837"/>
                  <a:pt x="51" y="820"/>
                  <a:pt x="44" y="802"/>
                </a:cubicBezTo>
                <a:cubicBezTo>
                  <a:pt x="37" y="785"/>
                  <a:pt x="31" y="767"/>
                  <a:pt x="25" y="749"/>
                </a:cubicBezTo>
                <a:cubicBezTo>
                  <a:pt x="19" y="731"/>
                  <a:pt x="15" y="712"/>
                  <a:pt x="11" y="694"/>
                </a:cubicBezTo>
                <a:cubicBezTo>
                  <a:pt x="7" y="675"/>
                  <a:pt x="5" y="656"/>
                  <a:pt x="3" y="637"/>
                </a:cubicBezTo>
                <a:cubicBezTo>
                  <a:pt x="1" y="618"/>
                  <a:pt x="0" y="599"/>
                  <a:pt x="0" y="580"/>
                </a:cubicBezTo>
                <a:cubicBezTo>
                  <a:pt x="0" y="561"/>
                  <a:pt x="1" y="542"/>
                  <a:pt x="3" y="524"/>
                </a:cubicBezTo>
                <a:cubicBezTo>
                  <a:pt x="5" y="505"/>
                  <a:pt x="7" y="486"/>
                  <a:pt x="11" y="467"/>
                </a:cubicBezTo>
                <a:cubicBezTo>
                  <a:pt x="15" y="449"/>
                  <a:pt x="19" y="430"/>
                  <a:pt x="25" y="412"/>
                </a:cubicBezTo>
                <a:cubicBezTo>
                  <a:pt x="31" y="394"/>
                  <a:pt x="37" y="376"/>
                  <a:pt x="44" y="358"/>
                </a:cubicBezTo>
                <a:cubicBezTo>
                  <a:pt x="51" y="341"/>
                  <a:pt x="60" y="324"/>
                  <a:pt x="69" y="307"/>
                </a:cubicBezTo>
                <a:cubicBezTo>
                  <a:pt x="77" y="290"/>
                  <a:pt x="87" y="274"/>
                  <a:pt x="98" y="258"/>
                </a:cubicBezTo>
                <a:cubicBezTo>
                  <a:pt x="108" y="242"/>
                  <a:pt x="120" y="227"/>
                  <a:pt x="132" y="212"/>
                </a:cubicBezTo>
                <a:cubicBezTo>
                  <a:pt x="144" y="198"/>
                  <a:pt x="157" y="183"/>
                  <a:pt x="170" y="170"/>
                </a:cubicBezTo>
                <a:cubicBezTo>
                  <a:pt x="183" y="157"/>
                  <a:pt x="197" y="144"/>
                  <a:pt x="212" y="132"/>
                </a:cubicBezTo>
                <a:cubicBezTo>
                  <a:pt x="227" y="120"/>
                  <a:pt x="242" y="108"/>
                  <a:pt x="258" y="98"/>
                </a:cubicBezTo>
                <a:cubicBezTo>
                  <a:pt x="274" y="87"/>
                  <a:pt x="290" y="78"/>
                  <a:pt x="307" y="69"/>
                </a:cubicBezTo>
                <a:cubicBezTo>
                  <a:pt x="324" y="60"/>
                  <a:pt x="341" y="52"/>
                  <a:pt x="358" y="44"/>
                </a:cubicBezTo>
                <a:cubicBezTo>
                  <a:pt x="376" y="37"/>
                  <a:pt x="394" y="31"/>
                  <a:pt x="413" y="25"/>
                </a:cubicBezTo>
                <a:cubicBezTo>
                  <a:pt x="431" y="20"/>
                  <a:pt x="449" y="15"/>
                  <a:pt x="468" y="11"/>
                </a:cubicBezTo>
                <a:cubicBezTo>
                  <a:pt x="487" y="8"/>
                  <a:pt x="506" y="5"/>
                  <a:pt x="524" y="3"/>
                </a:cubicBezTo>
                <a:cubicBezTo>
                  <a:pt x="543" y="1"/>
                  <a:pt x="562" y="0"/>
                  <a:pt x="581" y="0"/>
                </a:cubicBezTo>
                <a:cubicBezTo>
                  <a:pt x="600" y="0"/>
                  <a:pt x="619" y="1"/>
                  <a:pt x="638" y="3"/>
                </a:cubicBezTo>
                <a:cubicBezTo>
                  <a:pt x="657" y="5"/>
                  <a:pt x="676" y="8"/>
                  <a:pt x="695" y="11"/>
                </a:cubicBezTo>
                <a:cubicBezTo>
                  <a:pt x="713" y="15"/>
                  <a:pt x="732" y="20"/>
                  <a:pt x="750" y="25"/>
                </a:cubicBezTo>
                <a:cubicBezTo>
                  <a:pt x="768" y="31"/>
                  <a:pt x="786" y="37"/>
                  <a:pt x="803" y="44"/>
                </a:cubicBezTo>
                <a:cubicBezTo>
                  <a:pt x="821" y="52"/>
                  <a:pt x="838" y="60"/>
                  <a:pt x="855" y="69"/>
                </a:cubicBezTo>
                <a:cubicBezTo>
                  <a:pt x="872" y="78"/>
                  <a:pt x="888" y="87"/>
                  <a:pt x="904" y="98"/>
                </a:cubicBezTo>
                <a:cubicBezTo>
                  <a:pt x="920" y="108"/>
                  <a:pt x="935" y="120"/>
                  <a:pt x="949" y="132"/>
                </a:cubicBezTo>
                <a:cubicBezTo>
                  <a:pt x="964" y="144"/>
                  <a:pt x="978" y="157"/>
                  <a:pt x="992" y="170"/>
                </a:cubicBezTo>
                <a:cubicBezTo>
                  <a:pt x="1005" y="183"/>
                  <a:pt x="1018" y="198"/>
                  <a:pt x="1030" y="212"/>
                </a:cubicBezTo>
                <a:cubicBezTo>
                  <a:pt x="1042" y="227"/>
                  <a:pt x="1053" y="242"/>
                  <a:pt x="1064" y="258"/>
                </a:cubicBezTo>
                <a:cubicBezTo>
                  <a:pt x="1074" y="274"/>
                  <a:pt x="1084" y="290"/>
                  <a:pt x="1093" y="307"/>
                </a:cubicBezTo>
                <a:cubicBezTo>
                  <a:pt x="1102" y="324"/>
                  <a:pt x="1110" y="341"/>
                  <a:pt x="1117" y="358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0"/>
                  <a:pt x="1147" y="449"/>
                  <a:pt x="1151" y="467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FF69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TextBox 1446"/>
          <p:cNvSpPr txBox="1"/>
          <p:nvPr/>
        </p:nvSpPr>
        <p:spPr>
          <a:xfrm>
            <a:off x="5095080" y="2406960"/>
            <a:ext cx="687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Future Step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TextBox 1447"/>
          <p:cNvSpPr txBox="1"/>
          <p:nvPr/>
        </p:nvSpPr>
        <p:spPr>
          <a:xfrm>
            <a:off x="9770400" y="1935360"/>
            <a:ext cx="3006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6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Freeform 1448"/>
          <p:cNvSpPr/>
          <p:nvPr/>
        </p:nvSpPr>
        <p:spPr>
          <a:xfrm>
            <a:off x="334080" y="2891160"/>
            <a:ext cx="4746960" cy="3259440"/>
          </a:xfrm>
          <a:custGeom>
            <a:avLst/>
            <a:gdLst/>
            <a:ahLst/>
            <a:cxnLst/>
            <a:rect l="0" t="0" r="r" b="b"/>
            <a:pathLst>
              <a:path w="13186" h="9054">
                <a:moveTo>
                  <a:pt x="0" y="0"/>
                </a:moveTo>
                <a:lnTo>
                  <a:pt x="13186" y="0"/>
                </a:lnTo>
                <a:lnTo>
                  <a:pt x="13186" y="9054"/>
                </a:lnTo>
                <a:lnTo>
                  <a:pt x="0" y="90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Freeform 1449"/>
          <p:cNvSpPr/>
          <p:nvPr/>
        </p:nvSpPr>
        <p:spPr>
          <a:xfrm>
            <a:off x="334080" y="2891160"/>
            <a:ext cx="33840" cy="3259440"/>
          </a:xfrm>
          <a:custGeom>
            <a:avLst/>
            <a:gdLst/>
            <a:ahLst/>
            <a:cxnLst/>
            <a:rect l="0" t="0" r="r" b="b"/>
            <a:pathLst>
              <a:path w="94" h="9054">
                <a:moveTo>
                  <a:pt x="0" y="0"/>
                </a:moveTo>
                <a:lnTo>
                  <a:pt x="94" y="0"/>
                </a:lnTo>
                <a:lnTo>
                  <a:pt x="94" y="9054"/>
                </a:lnTo>
                <a:lnTo>
                  <a:pt x="0" y="905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Freeform 1450"/>
          <p:cNvSpPr/>
          <p:nvPr/>
        </p:nvSpPr>
        <p:spPr>
          <a:xfrm>
            <a:off x="572400" y="5202000"/>
            <a:ext cx="4303800" cy="543240"/>
          </a:xfrm>
          <a:custGeom>
            <a:avLst/>
            <a:gdLst/>
            <a:ahLst/>
            <a:cxnLst/>
            <a:rect l="0" t="0" r="r" b="b"/>
            <a:pathLst>
              <a:path w="11955" h="1509">
                <a:moveTo>
                  <a:pt x="0" y="1381"/>
                </a:moveTo>
                <a:lnTo>
                  <a:pt x="0" y="127"/>
                </a:lnTo>
                <a:cubicBezTo>
                  <a:pt x="0" y="110"/>
                  <a:pt x="3" y="94"/>
                  <a:pt x="9" y="78"/>
                </a:cubicBezTo>
                <a:cubicBezTo>
                  <a:pt x="16" y="63"/>
                  <a:pt x="25" y="49"/>
                  <a:pt x="37" y="37"/>
                </a:cubicBezTo>
                <a:cubicBezTo>
                  <a:pt x="49" y="25"/>
                  <a:pt x="63" y="16"/>
                  <a:pt x="78" y="9"/>
                </a:cubicBezTo>
                <a:cubicBezTo>
                  <a:pt x="94" y="3"/>
                  <a:pt x="110" y="0"/>
                  <a:pt x="127" y="0"/>
                </a:cubicBezTo>
                <a:lnTo>
                  <a:pt x="11828" y="0"/>
                </a:lnTo>
                <a:cubicBezTo>
                  <a:pt x="11845" y="0"/>
                  <a:pt x="11861" y="3"/>
                  <a:pt x="11877" y="9"/>
                </a:cubicBezTo>
                <a:cubicBezTo>
                  <a:pt x="11892" y="16"/>
                  <a:pt x="11906" y="25"/>
                  <a:pt x="11918" y="37"/>
                </a:cubicBezTo>
                <a:cubicBezTo>
                  <a:pt x="11930" y="49"/>
                  <a:pt x="11939" y="63"/>
                  <a:pt x="11946" y="78"/>
                </a:cubicBezTo>
                <a:cubicBezTo>
                  <a:pt x="11952" y="94"/>
                  <a:pt x="11955" y="110"/>
                  <a:pt x="11955" y="127"/>
                </a:cubicBezTo>
                <a:lnTo>
                  <a:pt x="11955" y="1381"/>
                </a:lnTo>
                <a:cubicBezTo>
                  <a:pt x="11955" y="1399"/>
                  <a:pt x="11952" y="1415"/>
                  <a:pt x="11946" y="1431"/>
                </a:cubicBezTo>
                <a:cubicBezTo>
                  <a:pt x="11939" y="1446"/>
                  <a:pt x="11930" y="1460"/>
                  <a:pt x="11918" y="1472"/>
                </a:cubicBezTo>
                <a:cubicBezTo>
                  <a:pt x="11906" y="1484"/>
                  <a:pt x="11892" y="1493"/>
                  <a:pt x="11877" y="1500"/>
                </a:cubicBezTo>
                <a:cubicBezTo>
                  <a:pt x="11861" y="1506"/>
                  <a:pt x="11845" y="1509"/>
                  <a:pt x="11828" y="1509"/>
                </a:cubicBezTo>
                <a:lnTo>
                  <a:pt x="127" y="1509"/>
                </a:lnTo>
                <a:cubicBezTo>
                  <a:pt x="110" y="1509"/>
                  <a:pt x="94" y="1506"/>
                  <a:pt x="78" y="1500"/>
                </a:cubicBezTo>
                <a:cubicBezTo>
                  <a:pt x="63" y="1493"/>
                  <a:pt x="49" y="1484"/>
                  <a:pt x="37" y="1472"/>
                </a:cubicBezTo>
                <a:cubicBezTo>
                  <a:pt x="25" y="1460"/>
                  <a:pt x="16" y="1446"/>
                  <a:pt x="9" y="1431"/>
                </a:cubicBezTo>
                <a:cubicBezTo>
                  <a:pt x="3" y="1415"/>
                  <a:pt x="0" y="1399"/>
                  <a:pt x="0" y="1381"/>
                </a:cubicBezTo>
                <a:close/>
              </a:path>
            </a:pathLst>
          </a:custGeom>
          <a:solidFill>
            <a:srgbClr val="F0FD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Freeform 1451"/>
          <p:cNvSpPr/>
          <p:nvPr/>
        </p:nvSpPr>
        <p:spPr>
          <a:xfrm>
            <a:off x="572400" y="5202000"/>
            <a:ext cx="4303800" cy="543240"/>
          </a:xfrm>
          <a:custGeom>
            <a:avLst/>
            <a:gdLst/>
            <a:ahLst/>
            <a:cxnLst/>
            <a:rect l="0" t="0" r="r" b="b"/>
            <a:pathLst>
              <a:path w="11955" h="1509" fill="none">
                <a:moveTo>
                  <a:pt x="0" y="1381"/>
                </a:moveTo>
                <a:lnTo>
                  <a:pt x="0" y="127"/>
                </a:lnTo>
                <a:cubicBezTo>
                  <a:pt x="0" y="110"/>
                  <a:pt x="3" y="94"/>
                  <a:pt x="9" y="78"/>
                </a:cubicBezTo>
                <a:cubicBezTo>
                  <a:pt x="16" y="63"/>
                  <a:pt x="25" y="49"/>
                  <a:pt x="37" y="37"/>
                </a:cubicBezTo>
                <a:cubicBezTo>
                  <a:pt x="49" y="25"/>
                  <a:pt x="63" y="16"/>
                  <a:pt x="78" y="9"/>
                </a:cubicBezTo>
                <a:cubicBezTo>
                  <a:pt x="94" y="3"/>
                  <a:pt x="110" y="0"/>
                  <a:pt x="127" y="0"/>
                </a:cubicBezTo>
                <a:lnTo>
                  <a:pt x="11828" y="0"/>
                </a:lnTo>
                <a:cubicBezTo>
                  <a:pt x="11845" y="0"/>
                  <a:pt x="11861" y="3"/>
                  <a:pt x="11877" y="9"/>
                </a:cubicBezTo>
                <a:cubicBezTo>
                  <a:pt x="11892" y="16"/>
                  <a:pt x="11906" y="25"/>
                  <a:pt x="11918" y="37"/>
                </a:cubicBezTo>
                <a:cubicBezTo>
                  <a:pt x="11930" y="49"/>
                  <a:pt x="11939" y="63"/>
                  <a:pt x="11946" y="78"/>
                </a:cubicBezTo>
                <a:cubicBezTo>
                  <a:pt x="11952" y="94"/>
                  <a:pt x="11955" y="110"/>
                  <a:pt x="11955" y="127"/>
                </a:cubicBezTo>
                <a:lnTo>
                  <a:pt x="11955" y="1381"/>
                </a:lnTo>
                <a:cubicBezTo>
                  <a:pt x="11955" y="1399"/>
                  <a:pt x="11952" y="1415"/>
                  <a:pt x="11946" y="1431"/>
                </a:cubicBezTo>
                <a:cubicBezTo>
                  <a:pt x="11939" y="1446"/>
                  <a:pt x="11930" y="1460"/>
                  <a:pt x="11918" y="1472"/>
                </a:cubicBezTo>
                <a:cubicBezTo>
                  <a:pt x="11906" y="1484"/>
                  <a:pt x="11892" y="1493"/>
                  <a:pt x="11877" y="1500"/>
                </a:cubicBezTo>
                <a:cubicBezTo>
                  <a:pt x="11861" y="1506"/>
                  <a:pt x="11845" y="1509"/>
                  <a:pt x="11828" y="1509"/>
                </a:cubicBezTo>
                <a:lnTo>
                  <a:pt x="127" y="1509"/>
                </a:lnTo>
                <a:cubicBezTo>
                  <a:pt x="110" y="1509"/>
                  <a:pt x="94" y="1506"/>
                  <a:pt x="78" y="1500"/>
                </a:cubicBezTo>
                <a:cubicBezTo>
                  <a:pt x="63" y="1493"/>
                  <a:pt x="49" y="1484"/>
                  <a:pt x="37" y="1472"/>
                </a:cubicBezTo>
                <a:cubicBezTo>
                  <a:pt x="25" y="1460"/>
                  <a:pt x="16" y="1446"/>
                  <a:pt x="9" y="1431"/>
                </a:cubicBezTo>
                <a:cubicBezTo>
                  <a:pt x="3" y="1415"/>
                  <a:pt x="0" y="1399"/>
                  <a:pt x="0" y="1381"/>
                </a:cubicBezTo>
              </a:path>
            </a:pathLst>
          </a:custGeom>
          <a:ln w="828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3" name="Picture 1452"/>
          <p:cNvPicPr/>
          <p:nvPr/>
        </p:nvPicPr>
        <p:blipFill>
          <a:blip r:embed="rId6"/>
          <a:stretch/>
        </p:blipFill>
        <p:spPr>
          <a:xfrm>
            <a:off x="568080" y="3108600"/>
            <a:ext cx="447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4" name="Picture 1453"/>
          <p:cNvPicPr/>
          <p:nvPr/>
        </p:nvPicPr>
        <p:blipFill>
          <a:blip r:embed="rId7"/>
          <a:stretch/>
        </p:blipFill>
        <p:spPr>
          <a:xfrm>
            <a:off x="668520" y="325908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5" name="TextBox 1454"/>
          <p:cNvSpPr txBox="1"/>
          <p:nvPr/>
        </p:nvSpPr>
        <p:spPr>
          <a:xfrm>
            <a:off x="9588600" y="2406960"/>
            <a:ext cx="584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333333"/>
                </a:solidFill>
                <a:effectLst/>
                <a:uFillTx/>
                <a:latin typeface="DejaVuSans"/>
                <a:ea typeface="DejaVuSans"/>
              </a:rPr>
              <a:t>Final Step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TextBox 1455"/>
          <p:cNvSpPr txBox="1"/>
          <p:nvPr/>
        </p:nvSpPr>
        <p:spPr>
          <a:xfrm>
            <a:off x="1148760" y="3106440"/>
            <a:ext cx="34502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5: Complex Driving Force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Freeform 1456"/>
          <p:cNvSpPr/>
          <p:nvPr/>
        </p:nvSpPr>
        <p:spPr>
          <a:xfrm>
            <a:off x="626400" y="383544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8"/>
                </a:moveTo>
                <a:cubicBezTo>
                  <a:pt x="118" y="66"/>
                  <a:pt x="116" y="73"/>
                  <a:pt x="113" y="82"/>
                </a:cubicBezTo>
                <a:cubicBezTo>
                  <a:pt x="110" y="89"/>
                  <a:pt x="106" y="95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1"/>
                  <a:pt x="2" y="43"/>
                  <a:pt x="5" y="36"/>
                </a:cubicBezTo>
                <a:cubicBezTo>
                  <a:pt x="8" y="29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60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8" y="51"/>
                  <a:pt x="118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TextBox 1457"/>
          <p:cNvSpPr txBox="1"/>
          <p:nvPr/>
        </p:nvSpPr>
        <p:spPr>
          <a:xfrm>
            <a:off x="1148760" y="3373920"/>
            <a:ext cx="6886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Model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Freeform 1458"/>
          <p:cNvSpPr/>
          <p:nvPr/>
        </p:nvSpPr>
        <p:spPr>
          <a:xfrm>
            <a:off x="626400" y="413640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7"/>
                  <a:pt x="116" y="74"/>
                  <a:pt x="113" y="81"/>
                </a:cubicBezTo>
                <a:cubicBezTo>
                  <a:pt x="110" y="88"/>
                  <a:pt x="106" y="95"/>
                  <a:pt x="101" y="100"/>
                </a:cubicBezTo>
                <a:cubicBezTo>
                  <a:pt x="95" y="105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5"/>
                  <a:pt x="17" y="100"/>
                </a:cubicBezTo>
                <a:cubicBezTo>
                  <a:pt x="12" y="95"/>
                  <a:pt x="8" y="88"/>
                  <a:pt x="5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9"/>
                  <a:pt x="12" y="22"/>
                  <a:pt x="17" y="17"/>
                </a:cubicBezTo>
                <a:cubicBezTo>
                  <a:pt x="23" y="12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2"/>
                  <a:pt x="101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8" y="50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TextBox 1459"/>
          <p:cNvSpPr txBox="1"/>
          <p:nvPr/>
        </p:nvSpPr>
        <p:spPr>
          <a:xfrm>
            <a:off x="768960" y="3778560"/>
            <a:ext cx="4039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Re-introduce the ﬁrst equation of motion governing rotation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TextBox 1460"/>
          <p:cNvSpPr txBox="1"/>
          <p:nvPr/>
        </p:nvSpPr>
        <p:spPr>
          <a:xfrm>
            <a:off x="768960" y="4079160"/>
            <a:ext cx="3973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Construct driving force as function of both angular position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Freeform 1461"/>
          <p:cNvSpPr/>
          <p:nvPr/>
        </p:nvSpPr>
        <p:spPr>
          <a:xfrm>
            <a:off x="626400" y="463788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6"/>
                  <a:pt x="116" y="74"/>
                  <a:pt x="113" y="81"/>
                </a:cubicBezTo>
                <a:cubicBezTo>
                  <a:pt x="110" y="88"/>
                  <a:pt x="106" y="94"/>
                  <a:pt x="101" y="100"/>
                </a:cubicBezTo>
                <a:cubicBezTo>
                  <a:pt x="95" y="105"/>
                  <a:pt x="89" y="109"/>
                  <a:pt x="82" y="112"/>
                </a:cubicBezTo>
                <a:cubicBezTo>
                  <a:pt x="75" y="115"/>
                  <a:pt x="67" y="117"/>
                  <a:pt x="60" y="117"/>
                </a:cubicBezTo>
                <a:cubicBezTo>
                  <a:pt x="51" y="117"/>
                  <a:pt x="43" y="115"/>
                  <a:pt x="36" y="112"/>
                </a:cubicBezTo>
                <a:cubicBezTo>
                  <a:pt x="29" y="109"/>
                  <a:pt x="23" y="105"/>
                  <a:pt x="17" y="100"/>
                </a:cubicBezTo>
                <a:cubicBezTo>
                  <a:pt x="12" y="94"/>
                  <a:pt x="8" y="88"/>
                  <a:pt x="5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0"/>
                  <a:pt x="2" y="43"/>
                  <a:pt x="5" y="36"/>
                </a:cubicBezTo>
                <a:cubicBezTo>
                  <a:pt x="8" y="28"/>
                  <a:pt x="12" y="22"/>
                  <a:pt x="17" y="17"/>
                </a:cubicBezTo>
                <a:cubicBezTo>
                  <a:pt x="23" y="11"/>
                  <a:pt x="29" y="7"/>
                  <a:pt x="36" y="4"/>
                </a:cubicBezTo>
                <a:cubicBezTo>
                  <a:pt x="43" y="1"/>
                  <a:pt x="51" y="0"/>
                  <a:pt x="60" y="0"/>
                </a:cubicBezTo>
                <a:cubicBezTo>
                  <a:pt x="67" y="0"/>
                  <a:pt x="75" y="1"/>
                  <a:pt x="82" y="4"/>
                </a:cubicBezTo>
                <a:cubicBezTo>
                  <a:pt x="89" y="7"/>
                  <a:pt x="95" y="11"/>
                  <a:pt x="101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8" y="50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TextBox 1462"/>
          <p:cNvSpPr txBox="1"/>
          <p:nvPr/>
        </p:nvSpPr>
        <p:spPr>
          <a:xfrm>
            <a:off x="768960" y="4280040"/>
            <a:ext cx="1249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and mode position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Freeform 1463"/>
          <p:cNvSpPr/>
          <p:nvPr/>
        </p:nvSpPr>
        <p:spPr>
          <a:xfrm>
            <a:off x="626400" y="4938480"/>
            <a:ext cx="42480" cy="42120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118" y="59"/>
                </a:moveTo>
                <a:cubicBezTo>
                  <a:pt x="118" y="67"/>
                  <a:pt x="116" y="75"/>
                  <a:pt x="113" y="82"/>
                </a:cubicBezTo>
                <a:cubicBezTo>
                  <a:pt x="110" y="89"/>
                  <a:pt x="106" y="95"/>
                  <a:pt x="101" y="100"/>
                </a:cubicBezTo>
                <a:cubicBezTo>
                  <a:pt x="95" y="106"/>
                  <a:pt x="89" y="110"/>
                  <a:pt x="82" y="113"/>
                </a:cubicBezTo>
                <a:cubicBezTo>
                  <a:pt x="75" y="116"/>
                  <a:pt x="67" y="117"/>
                  <a:pt x="60" y="117"/>
                </a:cubicBezTo>
                <a:cubicBezTo>
                  <a:pt x="51" y="117"/>
                  <a:pt x="43" y="116"/>
                  <a:pt x="36" y="113"/>
                </a:cubicBezTo>
                <a:cubicBezTo>
                  <a:pt x="29" y="110"/>
                  <a:pt x="23" y="106"/>
                  <a:pt x="17" y="100"/>
                </a:cubicBezTo>
                <a:cubicBezTo>
                  <a:pt x="12" y="95"/>
                  <a:pt x="8" y="89"/>
                  <a:pt x="5" y="82"/>
                </a:cubicBezTo>
                <a:cubicBezTo>
                  <a:pt x="2" y="75"/>
                  <a:pt x="0" y="67"/>
                  <a:pt x="0" y="59"/>
                </a:cubicBezTo>
                <a:cubicBezTo>
                  <a:pt x="0" y="52"/>
                  <a:pt x="2" y="44"/>
                  <a:pt x="5" y="37"/>
                </a:cubicBezTo>
                <a:cubicBezTo>
                  <a:pt x="8" y="30"/>
                  <a:pt x="12" y="23"/>
                  <a:pt x="17" y="17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1" y="0"/>
                  <a:pt x="60" y="0"/>
                </a:cubicBezTo>
                <a:cubicBezTo>
                  <a:pt x="67" y="0"/>
                  <a:pt x="75" y="2"/>
                  <a:pt x="82" y="5"/>
                </a:cubicBezTo>
                <a:cubicBezTo>
                  <a:pt x="89" y="8"/>
                  <a:pt x="95" y="12"/>
                  <a:pt x="101" y="17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8" y="52"/>
                  <a:pt x="118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TextBox 1464"/>
          <p:cNvSpPr txBox="1"/>
          <p:nvPr/>
        </p:nvSpPr>
        <p:spPr>
          <a:xfrm>
            <a:off x="768960" y="4580640"/>
            <a:ext cx="389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Account for coupling between modes and rotating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6" name="Picture 1465"/>
          <p:cNvPicPr/>
          <p:nvPr/>
        </p:nvPicPr>
        <p:blipFill>
          <a:blip r:embed="rId8"/>
          <a:stretch/>
        </p:blipFill>
        <p:spPr>
          <a:xfrm>
            <a:off x="676800" y="540684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7" name="TextBox 1466"/>
          <p:cNvSpPr txBox="1"/>
          <p:nvPr/>
        </p:nvSpPr>
        <p:spPr>
          <a:xfrm>
            <a:off x="768960" y="4881600"/>
            <a:ext cx="3393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Train NN to predict the more realistic driving force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TextBox 1467"/>
          <p:cNvSpPr txBox="1"/>
          <p:nvPr/>
        </p:nvSpPr>
        <p:spPr>
          <a:xfrm>
            <a:off x="871200" y="5323320"/>
            <a:ext cx="405648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This step represents a more realistic modeling approach compared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Freeform 1468"/>
          <p:cNvSpPr/>
          <p:nvPr/>
        </p:nvSpPr>
        <p:spPr>
          <a:xfrm>
            <a:off x="5615640" y="2891160"/>
            <a:ext cx="4746960" cy="3259440"/>
          </a:xfrm>
          <a:custGeom>
            <a:avLst/>
            <a:gdLst/>
            <a:ahLst/>
            <a:cxnLst/>
            <a:rect l="0" t="0" r="r" b="b"/>
            <a:pathLst>
              <a:path w="13186" h="9054">
                <a:moveTo>
                  <a:pt x="0" y="0"/>
                </a:moveTo>
                <a:lnTo>
                  <a:pt x="13186" y="0"/>
                </a:lnTo>
                <a:lnTo>
                  <a:pt x="13186" y="9054"/>
                </a:lnTo>
                <a:lnTo>
                  <a:pt x="0" y="90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Freeform 1469"/>
          <p:cNvSpPr/>
          <p:nvPr/>
        </p:nvSpPr>
        <p:spPr>
          <a:xfrm>
            <a:off x="5615640" y="2891160"/>
            <a:ext cx="33840" cy="3259440"/>
          </a:xfrm>
          <a:custGeom>
            <a:avLst/>
            <a:gdLst/>
            <a:ahLst/>
            <a:cxnLst/>
            <a:rect l="0" t="0" r="r" b="b"/>
            <a:pathLst>
              <a:path w="94" h="9054">
                <a:moveTo>
                  <a:pt x="0" y="0"/>
                </a:moveTo>
                <a:lnTo>
                  <a:pt x="94" y="0"/>
                </a:lnTo>
                <a:lnTo>
                  <a:pt x="94" y="9054"/>
                </a:lnTo>
                <a:lnTo>
                  <a:pt x="0" y="905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Freeform 1470"/>
          <p:cNvSpPr/>
          <p:nvPr/>
        </p:nvSpPr>
        <p:spPr>
          <a:xfrm>
            <a:off x="5853600" y="5402520"/>
            <a:ext cx="4304160" cy="543600"/>
          </a:xfrm>
          <a:custGeom>
            <a:avLst/>
            <a:gdLst/>
            <a:ahLst/>
            <a:cxnLst/>
            <a:rect l="0" t="0" r="r" b="b"/>
            <a:pathLst>
              <a:path w="11956" h="1510">
                <a:moveTo>
                  <a:pt x="0" y="1382"/>
                </a:moveTo>
                <a:lnTo>
                  <a:pt x="0" y="127"/>
                </a:lnTo>
                <a:cubicBezTo>
                  <a:pt x="0" y="110"/>
                  <a:pt x="3" y="94"/>
                  <a:pt x="10" y="79"/>
                </a:cubicBezTo>
                <a:cubicBezTo>
                  <a:pt x="16" y="63"/>
                  <a:pt x="26" y="49"/>
                  <a:pt x="38" y="37"/>
                </a:cubicBezTo>
                <a:cubicBezTo>
                  <a:pt x="50" y="25"/>
                  <a:pt x="63" y="16"/>
                  <a:pt x="79" y="9"/>
                </a:cubicBezTo>
                <a:cubicBezTo>
                  <a:pt x="95" y="3"/>
                  <a:pt x="111" y="0"/>
                  <a:pt x="128" y="0"/>
                </a:cubicBezTo>
                <a:lnTo>
                  <a:pt x="11828" y="0"/>
                </a:lnTo>
                <a:cubicBezTo>
                  <a:pt x="11845" y="0"/>
                  <a:pt x="11862" y="3"/>
                  <a:pt x="11877" y="9"/>
                </a:cubicBezTo>
                <a:cubicBezTo>
                  <a:pt x="11893" y="16"/>
                  <a:pt x="11907" y="25"/>
                  <a:pt x="11919" y="37"/>
                </a:cubicBezTo>
                <a:cubicBezTo>
                  <a:pt x="11931" y="49"/>
                  <a:pt x="11940" y="63"/>
                  <a:pt x="11946" y="79"/>
                </a:cubicBezTo>
                <a:cubicBezTo>
                  <a:pt x="11953" y="94"/>
                  <a:pt x="11956" y="110"/>
                  <a:pt x="11956" y="127"/>
                </a:cubicBezTo>
                <a:lnTo>
                  <a:pt x="11956" y="1382"/>
                </a:lnTo>
                <a:cubicBezTo>
                  <a:pt x="11956" y="1399"/>
                  <a:pt x="11953" y="1415"/>
                  <a:pt x="11946" y="1431"/>
                </a:cubicBezTo>
                <a:cubicBezTo>
                  <a:pt x="11940" y="1446"/>
                  <a:pt x="11931" y="1460"/>
                  <a:pt x="11919" y="1472"/>
                </a:cubicBezTo>
                <a:cubicBezTo>
                  <a:pt x="11907" y="1484"/>
                  <a:pt x="11893" y="1493"/>
                  <a:pt x="11877" y="1500"/>
                </a:cubicBezTo>
                <a:cubicBezTo>
                  <a:pt x="11862" y="1506"/>
                  <a:pt x="11845" y="1510"/>
                  <a:pt x="11828" y="1510"/>
                </a:cubicBezTo>
                <a:lnTo>
                  <a:pt x="128" y="1510"/>
                </a:lnTo>
                <a:cubicBezTo>
                  <a:pt x="111" y="1510"/>
                  <a:pt x="95" y="1506"/>
                  <a:pt x="79" y="1500"/>
                </a:cubicBezTo>
                <a:cubicBezTo>
                  <a:pt x="63" y="1493"/>
                  <a:pt x="50" y="1484"/>
                  <a:pt x="38" y="1472"/>
                </a:cubicBezTo>
                <a:cubicBezTo>
                  <a:pt x="26" y="1460"/>
                  <a:pt x="16" y="1446"/>
                  <a:pt x="10" y="1431"/>
                </a:cubicBezTo>
                <a:cubicBezTo>
                  <a:pt x="3" y="1415"/>
                  <a:pt x="0" y="1399"/>
                  <a:pt x="0" y="1382"/>
                </a:cubicBezTo>
                <a:close/>
              </a:path>
            </a:pathLst>
          </a:custGeom>
          <a:solidFill>
            <a:srgbClr val="FFF7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Freeform 1471"/>
          <p:cNvSpPr/>
          <p:nvPr/>
        </p:nvSpPr>
        <p:spPr>
          <a:xfrm>
            <a:off x="5853600" y="5402520"/>
            <a:ext cx="4304160" cy="543600"/>
          </a:xfrm>
          <a:custGeom>
            <a:avLst/>
            <a:gdLst/>
            <a:ahLst/>
            <a:cxnLst/>
            <a:rect l="0" t="0" r="r" b="b"/>
            <a:pathLst>
              <a:path w="11956" h="1510" fill="none">
                <a:moveTo>
                  <a:pt x="0" y="1382"/>
                </a:moveTo>
                <a:lnTo>
                  <a:pt x="0" y="127"/>
                </a:lnTo>
                <a:cubicBezTo>
                  <a:pt x="0" y="110"/>
                  <a:pt x="3" y="94"/>
                  <a:pt x="10" y="79"/>
                </a:cubicBezTo>
                <a:cubicBezTo>
                  <a:pt x="16" y="63"/>
                  <a:pt x="26" y="49"/>
                  <a:pt x="38" y="37"/>
                </a:cubicBezTo>
                <a:cubicBezTo>
                  <a:pt x="50" y="25"/>
                  <a:pt x="63" y="16"/>
                  <a:pt x="79" y="9"/>
                </a:cubicBezTo>
                <a:cubicBezTo>
                  <a:pt x="95" y="3"/>
                  <a:pt x="111" y="0"/>
                  <a:pt x="128" y="0"/>
                </a:cubicBezTo>
                <a:lnTo>
                  <a:pt x="11828" y="0"/>
                </a:lnTo>
                <a:cubicBezTo>
                  <a:pt x="11845" y="0"/>
                  <a:pt x="11862" y="3"/>
                  <a:pt x="11877" y="9"/>
                </a:cubicBezTo>
                <a:cubicBezTo>
                  <a:pt x="11893" y="16"/>
                  <a:pt x="11907" y="25"/>
                  <a:pt x="11919" y="37"/>
                </a:cubicBezTo>
                <a:cubicBezTo>
                  <a:pt x="11931" y="49"/>
                  <a:pt x="11940" y="63"/>
                  <a:pt x="11946" y="79"/>
                </a:cubicBezTo>
                <a:cubicBezTo>
                  <a:pt x="11953" y="94"/>
                  <a:pt x="11956" y="110"/>
                  <a:pt x="11956" y="127"/>
                </a:cubicBezTo>
                <a:lnTo>
                  <a:pt x="11956" y="1382"/>
                </a:lnTo>
                <a:cubicBezTo>
                  <a:pt x="11956" y="1399"/>
                  <a:pt x="11953" y="1415"/>
                  <a:pt x="11946" y="1431"/>
                </a:cubicBezTo>
                <a:cubicBezTo>
                  <a:pt x="11940" y="1446"/>
                  <a:pt x="11931" y="1460"/>
                  <a:pt x="11919" y="1472"/>
                </a:cubicBezTo>
                <a:cubicBezTo>
                  <a:pt x="11907" y="1484"/>
                  <a:pt x="11893" y="1493"/>
                  <a:pt x="11877" y="1500"/>
                </a:cubicBezTo>
                <a:cubicBezTo>
                  <a:pt x="11862" y="1506"/>
                  <a:pt x="11845" y="1510"/>
                  <a:pt x="11828" y="1510"/>
                </a:cubicBezTo>
                <a:lnTo>
                  <a:pt x="128" y="1510"/>
                </a:lnTo>
                <a:cubicBezTo>
                  <a:pt x="111" y="1510"/>
                  <a:pt x="95" y="1506"/>
                  <a:pt x="79" y="1500"/>
                </a:cubicBezTo>
                <a:cubicBezTo>
                  <a:pt x="63" y="1493"/>
                  <a:pt x="50" y="1484"/>
                  <a:pt x="38" y="1472"/>
                </a:cubicBezTo>
                <a:cubicBezTo>
                  <a:pt x="26" y="1460"/>
                  <a:pt x="16" y="1446"/>
                  <a:pt x="10" y="1431"/>
                </a:cubicBezTo>
                <a:cubicBezTo>
                  <a:pt x="3" y="1415"/>
                  <a:pt x="0" y="1399"/>
                  <a:pt x="0" y="1382"/>
                </a:cubicBezTo>
              </a:path>
            </a:pathLst>
          </a:custGeom>
          <a:ln w="828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73" name="Picture 1472"/>
          <p:cNvPicPr/>
          <p:nvPr/>
        </p:nvPicPr>
        <p:blipFill>
          <a:blip r:embed="rId9"/>
          <a:stretch/>
        </p:blipFill>
        <p:spPr>
          <a:xfrm>
            <a:off x="5849640" y="3108600"/>
            <a:ext cx="41076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4" name="Picture 1473"/>
          <p:cNvPicPr/>
          <p:nvPr/>
        </p:nvPicPr>
        <p:blipFill>
          <a:blip r:embed="rId10"/>
          <a:stretch/>
        </p:blipFill>
        <p:spPr>
          <a:xfrm>
            <a:off x="5950080" y="3259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5" name="TextBox 1474"/>
          <p:cNvSpPr txBox="1"/>
          <p:nvPr/>
        </p:nvSpPr>
        <p:spPr>
          <a:xfrm>
            <a:off x="871200" y="5490360"/>
            <a:ext cx="120276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to the current work.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TextBox 1475"/>
          <p:cNvSpPr txBox="1"/>
          <p:nvPr/>
        </p:nvSpPr>
        <p:spPr>
          <a:xfrm>
            <a:off x="6391080" y="3106440"/>
            <a:ext cx="2470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Step 6: Application to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Freeform 1476"/>
          <p:cNvSpPr/>
          <p:nvPr/>
        </p:nvSpPr>
        <p:spPr>
          <a:xfrm>
            <a:off x="5907960" y="38354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2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4" y="106"/>
                  <a:pt x="18" y="100"/>
                </a:cubicBezTo>
                <a:cubicBezTo>
                  <a:pt x="13" y="95"/>
                  <a:pt x="8" y="89"/>
                  <a:pt x="6" y="82"/>
                </a:cubicBezTo>
                <a:cubicBezTo>
                  <a:pt x="2" y="73"/>
                  <a:pt x="0" y="66"/>
                  <a:pt x="0" y="58"/>
                </a:cubicBezTo>
                <a:cubicBezTo>
                  <a:pt x="0" y="51"/>
                  <a:pt x="2" y="43"/>
                  <a:pt x="6" y="36"/>
                </a:cubicBezTo>
                <a:cubicBezTo>
                  <a:pt x="8" y="29"/>
                  <a:pt x="13" y="23"/>
                  <a:pt x="18" y="17"/>
                </a:cubicBezTo>
                <a:cubicBezTo>
                  <a:pt x="24" y="12"/>
                  <a:pt x="30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5" y="12"/>
                  <a:pt x="100" y="17"/>
                </a:cubicBezTo>
                <a:cubicBezTo>
                  <a:pt x="106" y="23"/>
                  <a:pt x="110" y="29"/>
                  <a:pt x="113" y="36"/>
                </a:cubicBezTo>
                <a:cubicBezTo>
                  <a:pt x="116" y="43"/>
                  <a:pt x="117" y="51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TextBox 1477"/>
          <p:cNvSpPr txBox="1"/>
          <p:nvPr/>
        </p:nvSpPr>
        <p:spPr>
          <a:xfrm>
            <a:off x="6391080" y="3373920"/>
            <a:ext cx="2111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Experimental Data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Freeform 1478"/>
          <p:cNvSpPr/>
          <p:nvPr/>
        </p:nvSpPr>
        <p:spPr>
          <a:xfrm>
            <a:off x="5907960" y="413640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5" y="105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4" y="105"/>
                  <a:pt x="18" y="100"/>
                </a:cubicBezTo>
                <a:cubicBezTo>
                  <a:pt x="13" y="95"/>
                  <a:pt x="8" y="88"/>
                  <a:pt x="6" y="81"/>
                </a:cubicBezTo>
                <a:cubicBezTo>
                  <a:pt x="2" y="74"/>
                  <a:pt x="0" y="67"/>
                  <a:pt x="0" y="59"/>
                </a:cubicBezTo>
                <a:cubicBezTo>
                  <a:pt x="0" y="50"/>
                  <a:pt x="2" y="43"/>
                  <a:pt x="6" y="36"/>
                </a:cubicBezTo>
                <a:cubicBezTo>
                  <a:pt x="8" y="29"/>
                  <a:pt x="13" y="22"/>
                  <a:pt x="18" y="17"/>
                </a:cubicBezTo>
                <a:cubicBezTo>
                  <a:pt x="24" y="12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2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TextBox 1479"/>
          <p:cNvSpPr txBox="1"/>
          <p:nvPr/>
        </p:nvSpPr>
        <p:spPr>
          <a:xfrm>
            <a:off x="6050160" y="3778560"/>
            <a:ext cx="3460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Obtain actual experimental data from collaborators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TextBox 1480"/>
          <p:cNvSpPr txBox="1"/>
          <p:nvPr/>
        </p:nvSpPr>
        <p:spPr>
          <a:xfrm>
            <a:off x="6050160" y="4079160"/>
            <a:ext cx="3679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Process data containing mode position, mode velocity,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Freeform 1481"/>
          <p:cNvSpPr/>
          <p:nvPr/>
        </p:nvSpPr>
        <p:spPr>
          <a:xfrm>
            <a:off x="5907960" y="46378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5" y="105"/>
                  <a:pt x="88" y="109"/>
                  <a:pt x="81" y="112"/>
                </a:cubicBezTo>
                <a:cubicBezTo>
                  <a:pt x="74" y="115"/>
                  <a:pt x="67" y="117"/>
                  <a:pt x="59" y="117"/>
                </a:cubicBezTo>
                <a:cubicBezTo>
                  <a:pt x="51" y="117"/>
                  <a:pt x="44" y="115"/>
                  <a:pt x="37" y="112"/>
                </a:cubicBezTo>
                <a:cubicBezTo>
                  <a:pt x="30" y="109"/>
                  <a:pt x="24" y="105"/>
                  <a:pt x="18" y="100"/>
                </a:cubicBezTo>
                <a:cubicBezTo>
                  <a:pt x="13" y="94"/>
                  <a:pt x="8" y="88"/>
                  <a:pt x="6" y="81"/>
                </a:cubicBezTo>
                <a:cubicBezTo>
                  <a:pt x="2" y="74"/>
                  <a:pt x="0" y="66"/>
                  <a:pt x="0" y="59"/>
                </a:cubicBezTo>
                <a:cubicBezTo>
                  <a:pt x="0" y="50"/>
                  <a:pt x="2" y="43"/>
                  <a:pt x="6" y="36"/>
                </a:cubicBezTo>
                <a:cubicBezTo>
                  <a:pt x="8" y="28"/>
                  <a:pt x="13" y="22"/>
                  <a:pt x="18" y="17"/>
                </a:cubicBezTo>
                <a:cubicBezTo>
                  <a:pt x="24" y="11"/>
                  <a:pt x="30" y="7"/>
                  <a:pt x="37" y="4"/>
                </a:cubicBezTo>
                <a:cubicBezTo>
                  <a:pt x="44" y="1"/>
                  <a:pt x="51" y="0"/>
                  <a:pt x="59" y="0"/>
                </a:cubicBezTo>
                <a:cubicBezTo>
                  <a:pt x="67" y="0"/>
                  <a:pt x="74" y="1"/>
                  <a:pt x="81" y="4"/>
                </a:cubicBezTo>
                <a:cubicBezTo>
                  <a:pt x="88" y="7"/>
                  <a:pt x="95" y="11"/>
                  <a:pt x="100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TextBox 1482"/>
          <p:cNvSpPr txBox="1"/>
          <p:nvPr/>
        </p:nvSpPr>
        <p:spPr>
          <a:xfrm>
            <a:off x="6050160" y="4280040"/>
            <a:ext cx="3232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angular position, and angular velocity over time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Freeform 1483"/>
          <p:cNvSpPr/>
          <p:nvPr/>
        </p:nvSpPr>
        <p:spPr>
          <a:xfrm>
            <a:off x="5907960" y="493848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5"/>
                  <a:pt x="113" y="82"/>
                </a:cubicBezTo>
                <a:cubicBezTo>
                  <a:pt x="110" y="89"/>
                  <a:pt x="106" y="95"/>
                  <a:pt x="100" y="100"/>
                </a:cubicBezTo>
                <a:cubicBezTo>
                  <a:pt x="95" y="106"/>
                  <a:pt x="88" y="110"/>
                  <a:pt x="81" y="113"/>
                </a:cubicBezTo>
                <a:cubicBezTo>
                  <a:pt x="74" y="116"/>
                  <a:pt x="67" y="117"/>
                  <a:pt x="59" y="117"/>
                </a:cubicBezTo>
                <a:cubicBezTo>
                  <a:pt x="51" y="117"/>
                  <a:pt x="44" y="116"/>
                  <a:pt x="37" y="113"/>
                </a:cubicBezTo>
                <a:cubicBezTo>
                  <a:pt x="30" y="110"/>
                  <a:pt x="24" y="106"/>
                  <a:pt x="18" y="100"/>
                </a:cubicBezTo>
                <a:cubicBezTo>
                  <a:pt x="13" y="95"/>
                  <a:pt x="8" y="89"/>
                  <a:pt x="6" y="82"/>
                </a:cubicBezTo>
                <a:cubicBezTo>
                  <a:pt x="2" y="75"/>
                  <a:pt x="0" y="67"/>
                  <a:pt x="0" y="59"/>
                </a:cubicBezTo>
                <a:cubicBezTo>
                  <a:pt x="0" y="52"/>
                  <a:pt x="2" y="44"/>
                  <a:pt x="6" y="37"/>
                </a:cubicBezTo>
                <a:cubicBezTo>
                  <a:pt x="8" y="30"/>
                  <a:pt x="13" y="23"/>
                  <a:pt x="18" y="17"/>
                </a:cubicBezTo>
                <a:cubicBezTo>
                  <a:pt x="24" y="12"/>
                  <a:pt x="30" y="8"/>
                  <a:pt x="37" y="5"/>
                </a:cubicBezTo>
                <a:cubicBezTo>
                  <a:pt x="44" y="2"/>
                  <a:pt x="51" y="0"/>
                  <a:pt x="59" y="0"/>
                </a:cubicBezTo>
                <a:cubicBezTo>
                  <a:pt x="67" y="0"/>
                  <a:pt x="74" y="2"/>
                  <a:pt x="81" y="5"/>
                </a:cubicBezTo>
                <a:cubicBezTo>
                  <a:pt x="88" y="8"/>
                  <a:pt x="95" y="12"/>
                  <a:pt x="100" y="17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7" y="52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TextBox 1484"/>
          <p:cNvSpPr txBox="1"/>
          <p:nvPr/>
        </p:nvSpPr>
        <p:spPr>
          <a:xfrm>
            <a:off x="6050160" y="4580640"/>
            <a:ext cx="3256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Apply ODE numerical solver to make predictions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TextBox 1485"/>
          <p:cNvSpPr txBox="1"/>
          <p:nvPr/>
        </p:nvSpPr>
        <p:spPr>
          <a:xfrm>
            <a:off x="6050160" y="4881600"/>
            <a:ext cx="3271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Validate model predictions against experimental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7" name="Picture 1486"/>
          <p:cNvPicPr/>
          <p:nvPr/>
        </p:nvPicPr>
        <p:blipFill>
          <a:blip r:embed="rId11"/>
          <a:stretch/>
        </p:blipFill>
        <p:spPr>
          <a:xfrm>
            <a:off x="5958360" y="560736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8" name="TextBox 1487"/>
          <p:cNvSpPr txBox="1"/>
          <p:nvPr/>
        </p:nvSpPr>
        <p:spPr>
          <a:xfrm>
            <a:off x="6050160" y="5082120"/>
            <a:ext cx="863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observations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TextBox 1488"/>
          <p:cNvSpPr txBox="1"/>
          <p:nvPr/>
        </p:nvSpPr>
        <p:spPr>
          <a:xfrm>
            <a:off x="6169320" y="5523840"/>
            <a:ext cx="341460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This ﬁnal step represents the practical application of the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TextBox 1489"/>
          <p:cNvSpPr txBox="1"/>
          <p:nvPr/>
        </p:nvSpPr>
        <p:spPr>
          <a:xfrm>
            <a:off x="6169320" y="5690880"/>
            <a:ext cx="30337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developed model to real-world experimental data.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TextBox 1490"/>
          <p:cNvSpPr txBox="1"/>
          <p:nvPr/>
        </p:nvSpPr>
        <p:spPr>
          <a:xfrm>
            <a:off x="10025640" y="61686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18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2" name="Picture 1491"/>
          <p:cNvPicPr/>
          <p:nvPr/>
        </p:nvPicPr>
        <p:blipFill>
          <a:blip r:embed="rId2"/>
          <a:stretch/>
        </p:blipFill>
        <p:spPr>
          <a:xfrm>
            <a:off x="200520" y="768960"/>
            <a:ext cx="5013720" cy="536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3" name="Picture 1492"/>
          <p:cNvPicPr/>
          <p:nvPr/>
        </p:nvPicPr>
        <p:blipFill>
          <a:blip r:embed="rId3"/>
          <a:stretch/>
        </p:blipFill>
        <p:spPr>
          <a:xfrm>
            <a:off x="-1070604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4" name="Picture 1493"/>
          <p:cNvPicPr/>
          <p:nvPr/>
        </p:nvPicPr>
        <p:blipFill>
          <a:blip r:embed="rId4"/>
          <a:stretch/>
        </p:blipFill>
        <p:spPr>
          <a:xfrm>
            <a:off x="-936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5" name="Picture 1494"/>
          <p:cNvPicPr/>
          <p:nvPr/>
        </p:nvPicPr>
        <p:blipFill>
          <a:blip r:embed="rId3"/>
          <a:stretch/>
        </p:blipFill>
        <p:spPr>
          <a:xfrm>
            <a:off x="0" y="-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6" name="Picture 1495"/>
          <p:cNvPicPr/>
          <p:nvPr/>
        </p:nvPicPr>
        <p:blipFill>
          <a:blip r:embed="rId4"/>
          <a:stretch/>
        </p:blipFill>
        <p:spPr>
          <a:xfrm>
            <a:off x="10696680" y="-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7" name="Picture 1496"/>
          <p:cNvPicPr/>
          <p:nvPr/>
        </p:nvPicPr>
        <p:blipFill>
          <a:blip r:embed="rId3"/>
          <a:stretch/>
        </p:blipFill>
        <p:spPr>
          <a:xfrm>
            <a:off x="-1070604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8" name="Picture 1497"/>
          <p:cNvPicPr/>
          <p:nvPr/>
        </p:nvPicPr>
        <p:blipFill>
          <a:blip r:embed="rId4"/>
          <a:stretch/>
        </p:blipFill>
        <p:spPr>
          <a:xfrm>
            <a:off x="-936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9" name="Picture 1498"/>
          <p:cNvPicPr/>
          <p:nvPr/>
        </p:nvPicPr>
        <p:blipFill>
          <a:blip r:embed="rId3"/>
          <a:stretch/>
        </p:blipFill>
        <p:spPr>
          <a:xfrm>
            <a:off x="0" y="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0" name="Picture 1499"/>
          <p:cNvPicPr/>
          <p:nvPr/>
        </p:nvPicPr>
        <p:blipFill>
          <a:blip r:embed="rId4"/>
          <a:stretch/>
        </p:blipFill>
        <p:spPr>
          <a:xfrm>
            <a:off x="10696680" y="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1" name="Picture 1500"/>
          <p:cNvPicPr/>
          <p:nvPr/>
        </p:nvPicPr>
        <p:blipFill>
          <a:blip r:embed="rId3"/>
          <a:stretch/>
        </p:blipFill>
        <p:spPr>
          <a:xfrm>
            <a:off x="-1070604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2" name="Picture 1501"/>
          <p:cNvPicPr/>
          <p:nvPr/>
        </p:nvPicPr>
        <p:blipFill>
          <a:blip r:embed="rId4"/>
          <a:stretch/>
        </p:blipFill>
        <p:spPr>
          <a:xfrm>
            <a:off x="-936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3" name="Picture 1502"/>
          <p:cNvPicPr/>
          <p:nvPr/>
        </p:nvPicPr>
        <p:blipFill>
          <a:blip r:embed="rId3"/>
          <a:stretch/>
        </p:blipFill>
        <p:spPr>
          <a:xfrm>
            <a:off x="0" y="6334200"/>
            <a:ext cx="1069632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4" name="Picture 1503"/>
          <p:cNvPicPr/>
          <p:nvPr/>
        </p:nvPicPr>
        <p:blipFill>
          <a:blip r:embed="rId4"/>
          <a:stretch/>
        </p:blipFill>
        <p:spPr>
          <a:xfrm>
            <a:off x="10696680" y="6334200"/>
            <a:ext cx="9000" cy="633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5" name="Picture 1504"/>
          <p:cNvPicPr/>
          <p:nvPr/>
        </p:nvPicPr>
        <p:blipFill>
          <a:blip r:embed="rId5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6" name="Freeform 1505"/>
          <p:cNvSpPr/>
          <p:nvPr/>
        </p:nvSpPr>
        <p:spPr>
          <a:xfrm>
            <a:off x="5481720" y="768600"/>
            <a:ext cx="5014440" cy="1504440"/>
          </a:xfrm>
          <a:custGeom>
            <a:avLst/>
            <a:gdLst/>
            <a:ahLst/>
            <a:cxnLst/>
            <a:rect l="0" t="0" r="r" b="b"/>
            <a:pathLst>
              <a:path w="13929" h="4179">
                <a:moveTo>
                  <a:pt x="0" y="0"/>
                </a:moveTo>
                <a:lnTo>
                  <a:pt x="13929" y="0"/>
                </a:lnTo>
                <a:lnTo>
                  <a:pt x="13929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Freeform 1506"/>
          <p:cNvSpPr/>
          <p:nvPr/>
        </p:nvSpPr>
        <p:spPr>
          <a:xfrm>
            <a:off x="5481720" y="768600"/>
            <a:ext cx="33840" cy="1504440"/>
          </a:xfrm>
          <a:custGeom>
            <a:avLst/>
            <a:gdLst/>
            <a:ahLst/>
            <a:cxnLst/>
            <a:rect l="0" t="0" r="r" b="b"/>
            <a:pathLst>
              <a:path w="94" h="4179">
                <a:moveTo>
                  <a:pt x="0" y="0"/>
                </a:moveTo>
                <a:lnTo>
                  <a:pt x="94" y="0"/>
                </a:lnTo>
                <a:lnTo>
                  <a:pt x="94" y="4179"/>
                </a:lnTo>
                <a:lnTo>
                  <a:pt x="0" y="417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Freeform 1507"/>
          <p:cNvSpPr/>
          <p:nvPr/>
        </p:nvSpPr>
        <p:spPr>
          <a:xfrm>
            <a:off x="5481720" y="2406600"/>
            <a:ext cx="5014440" cy="1704960"/>
          </a:xfrm>
          <a:custGeom>
            <a:avLst/>
            <a:gdLst/>
            <a:ahLst/>
            <a:cxnLst/>
            <a:rect l="0" t="0" r="r" b="b"/>
            <a:pathLst>
              <a:path w="13929" h="4736">
                <a:moveTo>
                  <a:pt x="0" y="0"/>
                </a:moveTo>
                <a:lnTo>
                  <a:pt x="13929" y="0"/>
                </a:lnTo>
                <a:lnTo>
                  <a:pt x="13929" y="4736"/>
                </a:lnTo>
                <a:lnTo>
                  <a:pt x="0" y="47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Freeform 1508"/>
          <p:cNvSpPr/>
          <p:nvPr/>
        </p:nvSpPr>
        <p:spPr>
          <a:xfrm>
            <a:off x="5481720" y="2406600"/>
            <a:ext cx="33840" cy="1704960"/>
          </a:xfrm>
          <a:custGeom>
            <a:avLst/>
            <a:gdLst/>
            <a:ahLst/>
            <a:cxnLst/>
            <a:rect l="0" t="0" r="r" b="b"/>
            <a:pathLst>
              <a:path w="94" h="4736">
                <a:moveTo>
                  <a:pt x="0" y="0"/>
                </a:moveTo>
                <a:lnTo>
                  <a:pt x="94" y="0"/>
                </a:lnTo>
                <a:lnTo>
                  <a:pt x="94" y="4736"/>
                </a:lnTo>
                <a:lnTo>
                  <a:pt x="0" y="4736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Freeform 1509"/>
          <p:cNvSpPr/>
          <p:nvPr/>
        </p:nvSpPr>
        <p:spPr>
          <a:xfrm>
            <a:off x="5481720" y="4245120"/>
            <a:ext cx="5014440" cy="1270440"/>
          </a:xfrm>
          <a:custGeom>
            <a:avLst/>
            <a:gdLst/>
            <a:ahLst/>
            <a:cxnLst/>
            <a:rect l="0" t="0" r="r" b="b"/>
            <a:pathLst>
              <a:path w="13929" h="3529">
                <a:moveTo>
                  <a:pt x="0" y="0"/>
                </a:moveTo>
                <a:lnTo>
                  <a:pt x="13929" y="0"/>
                </a:lnTo>
                <a:lnTo>
                  <a:pt x="13929" y="3529"/>
                </a:lnTo>
                <a:lnTo>
                  <a:pt x="0" y="35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Freeform 1510"/>
          <p:cNvSpPr/>
          <p:nvPr/>
        </p:nvSpPr>
        <p:spPr>
          <a:xfrm>
            <a:off x="5481720" y="4245120"/>
            <a:ext cx="33840" cy="1270440"/>
          </a:xfrm>
          <a:custGeom>
            <a:avLst/>
            <a:gdLst/>
            <a:ahLst/>
            <a:cxnLst/>
            <a:rect l="0" t="0" r="r" b="b"/>
            <a:pathLst>
              <a:path w="94" h="3529">
                <a:moveTo>
                  <a:pt x="0" y="0"/>
                </a:moveTo>
                <a:lnTo>
                  <a:pt x="94" y="0"/>
                </a:lnTo>
                <a:lnTo>
                  <a:pt x="94" y="3529"/>
                </a:lnTo>
                <a:lnTo>
                  <a:pt x="0" y="3529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12" name="Picture 1511"/>
          <p:cNvPicPr/>
          <p:nvPr/>
        </p:nvPicPr>
        <p:blipFill>
          <a:blip r:embed="rId6"/>
          <a:stretch/>
        </p:blipFill>
        <p:spPr>
          <a:xfrm>
            <a:off x="5649120" y="90252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3" name="Picture 1512"/>
          <p:cNvPicPr/>
          <p:nvPr/>
        </p:nvPicPr>
        <p:blipFill>
          <a:blip r:embed="rId7"/>
          <a:stretch/>
        </p:blipFill>
        <p:spPr>
          <a:xfrm>
            <a:off x="5699160" y="96948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4" name="TextBox 1513"/>
          <p:cNvSpPr txBox="1"/>
          <p:nvPr/>
        </p:nvSpPr>
        <p:spPr>
          <a:xfrm>
            <a:off x="334440" y="135000"/>
            <a:ext cx="3660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Neural Network Structure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Freeform 1514"/>
          <p:cNvSpPr/>
          <p:nvPr/>
        </p:nvSpPr>
        <p:spPr>
          <a:xfrm>
            <a:off x="5707440" y="1311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4" y="105"/>
                  <a:pt x="87" y="110"/>
                  <a:pt x="80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2" y="105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30"/>
                  <a:pt x="12" y="23"/>
                  <a:pt x="17" y="18"/>
                </a:cubicBezTo>
                <a:cubicBezTo>
                  <a:pt x="22" y="13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3"/>
                  <a:pt x="100" y="18"/>
                </a:cubicBezTo>
                <a:cubicBezTo>
                  <a:pt x="106" y="23"/>
                  <a:pt x="110" y="30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TextBox 1515"/>
          <p:cNvSpPr txBox="1"/>
          <p:nvPr/>
        </p:nvSpPr>
        <p:spPr>
          <a:xfrm>
            <a:off x="6016680" y="939600"/>
            <a:ext cx="2037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Network Components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Freeform 1516"/>
          <p:cNvSpPr/>
          <p:nvPr/>
        </p:nvSpPr>
        <p:spPr>
          <a:xfrm>
            <a:off x="5707440" y="1545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5"/>
                  <a:pt x="100" y="100"/>
                </a:cubicBezTo>
                <a:cubicBezTo>
                  <a:pt x="94" y="105"/>
                  <a:pt x="87" y="110"/>
                  <a:pt x="80" y="113"/>
                </a:cubicBezTo>
                <a:cubicBezTo>
                  <a:pt x="73" y="116"/>
                  <a:pt x="66" y="117"/>
                  <a:pt x="58" y="117"/>
                </a:cubicBezTo>
                <a:cubicBezTo>
                  <a:pt x="50" y="117"/>
                  <a:pt x="43" y="116"/>
                  <a:pt x="36" y="113"/>
                </a:cubicBezTo>
                <a:cubicBezTo>
                  <a:pt x="29" y="110"/>
                  <a:pt x="22" y="105"/>
                  <a:pt x="17" y="100"/>
                </a:cubicBezTo>
                <a:cubicBezTo>
                  <a:pt x="12" y="95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TextBox 1517"/>
          <p:cNvSpPr txBox="1"/>
          <p:nvPr/>
        </p:nvSpPr>
        <p:spPr>
          <a:xfrm>
            <a:off x="5849640" y="1254600"/>
            <a:ext cx="3459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Input Layer: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Receives theta and frequency values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Freeform 1518"/>
          <p:cNvSpPr/>
          <p:nvPr/>
        </p:nvSpPr>
        <p:spPr>
          <a:xfrm>
            <a:off x="5707440" y="1779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6"/>
                  <a:pt x="116" y="73"/>
                  <a:pt x="113" y="80"/>
                </a:cubicBezTo>
                <a:cubicBezTo>
                  <a:pt x="110" y="87"/>
                  <a:pt x="106" y="94"/>
                  <a:pt x="100" y="99"/>
                </a:cubicBezTo>
                <a:cubicBezTo>
                  <a:pt x="94" y="105"/>
                  <a:pt x="87" y="110"/>
                  <a:pt x="80" y="113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3"/>
                </a:cubicBezTo>
                <a:cubicBezTo>
                  <a:pt x="29" y="110"/>
                  <a:pt x="22" y="105"/>
                  <a:pt x="17" y="99"/>
                </a:cubicBezTo>
                <a:cubicBezTo>
                  <a:pt x="12" y="94"/>
                  <a:pt x="7" y="87"/>
                  <a:pt x="4" y="80"/>
                </a:cubicBezTo>
                <a:cubicBezTo>
                  <a:pt x="1" y="73"/>
                  <a:pt x="0" y="66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TextBox 1519"/>
          <p:cNvSpPr txBox="1"/>
          <p:nvPr/>
        </p:nvSpPr>
        <p:spPr>
          <a:xfrm>
            <a:off x="5849640" y="1488600"/>
            <a:ext cx="3068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Hidden Layers: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Learn features of input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Freeform 1520"/>
          <p:cNvSpPr/>
          <p:nvPr/>
        </p:nvSpPr>
        <p:spPr>
          <a:xfrm>
            <a:off x="5707440" y="2013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10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10"/>
                  <a:pt x="22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TextBox 1521"/>
          <p:cNvSpPr txBox="1"/>
          <p:nvPr/>
        </p:nvSpPr>
        <p:spPr>
          <a:xfrm>
            <a:off x="5849640" y="1722600"/>
            <a:ext cx="2984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Output Layer: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Produces torque predictions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23" name="Picture 1522"/>
          <p:cNvPicPr/>
          <p:nvPr/>
        </p:nvPicPr>
        <p:blipFill>
          <a:blip r:embed="rId8"/>
          <a:stretch/>
        </p:blipFill>
        <p:spPr>
          <a:xfrm>
            <a:off x="5649120" y="254052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4" name="Picture 1523"/>
          <p:cNvPicPr/>
          <p:nvPr/>
        </p:nvPicPr>
        <p:blipFill>
          <a:blip r:embed="rId9"/>
          <a:stretch/>
        </p:blipFill>
        <p:spPr>
          <a:xfrm>
            <a:off x="5699160" y="260712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5" name="TextBox 1524"/>
          <p:cNvSpPr txBox="1"/>
          <p:nvPr/>
        </p:nvSpPr>
        <p:spPr>
          <a:xfrm>
            <a:off x="5849640" y="1956600"/>
            <a:ext cx="3925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Parameters: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Weights and biases updated during training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Freeform 1525"/>
          <p:cNvSpPr/>
          <p:nvPr/>
        </p:nvSpPr>
        <p:spPr>
          <a:xfrm>
            <a:off x="5707440" y="294984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0"/>
                </a:cubicBezTo>
                <a:cubicBezTo>
                  <a:pt x="110" y="87"/>
                  <a:pt x="106" y="93"/>
                  <a:pt x="100" y="99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99"/>
                </a:cubicBezTo>
                <a:cubicBezTo>
                  <a:pt x="12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TextBox 1526"/>
          <p:cNvSpPr txBox="1"/>
          <p:nvPr/>
        </p:nvSpPr>
        <p:spPr>
          <a:xfrm>
            <a:off x="6016680" y="2577600"/>
            <a:ext cx="1576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Training Process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TextBox 1527"/>
          <p:cNvSpPr txBox="1"/>
          <p:nvPr/>
        </p:nvSpPr>
        <p:spPr>
          <a:xfrm>
            <a:off x="5849640" y="2892600"/>
            <a:ext cx="4246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Loss Function: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Mean squared errors between predictions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Freeform 1528"/>
          <p:cNvSpPr/>
          <p:nvPr/>
        </p:nvSpPr>
        <p:spPr>
          <a:xfrm>
            <a:off x="5707440" y="3384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7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7"/>
                  <a:pt x="0" y="59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0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TextBox 1529"/>
          <p:cNvSpPr txBox="1"/>
          <p:nvPr/>
        </p:nvSpPr>
        <p:spPr>
          <a:xfrm>
            <a:off x="5849640" y="3093120"/>
            <a:ext cx="892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actual values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Freeform 1530"/>
          <p:cNvSpPr/>
          <p:nvPr/>
        </p:nvSpPr>
        <p:spPr>
          <a:xfrm>
            <a:off x="5707440" y="3618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0"/>
                </a:cubicBezTo>
                <a:cubicBezTo>
                  <a:pt x="110" y="87"/>
                  <a:pt x="106" y="93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6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8"/>
                  <a:pt x="113" y="36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TextBox 1531"/>
          <p:cNvSpPr txBox="1"/>
          <p:nvPr/>
        </p:nvSpPr>
        <p:spPr>
          <a:xfrm>
            <a:off x="5849640" y="3327120"/>
            <a:ext cx="3793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Gradients: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Direction of steepest ascent of loss function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Freeform 1532"/>
          <p:cNvSpPr/>
          <p:nvPr/>
        </p:nvSpPr>
        <p:spPr>
          <a:xfrm>
            <a:off x="5707440" y="3852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4"/>
                  <a:pt x="4" y="37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8"/>
                  <a:pt x="113" y="37"/>
                </a:cubicBezTo>
                <a:cubicBezTo>
                  <a:pt x="116" y="44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TextBox 1533"/>
          <p:cNvSpPr txBox="1"/>
          <p:nvPr/>
        </p:nvSpPr>
        <p:spPr>
          <a:xfrm>
            <a:off x="5849640" y="3561120"/>
            <a:ext cx="4450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Gradient Descent: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Taking negative of gradients for optimization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35" name="Picture 1534"/>
          <p:cNvPicPr/>
          <p:nvPr/>
        </p:nvPicPr>
        <p:blipFill>
          <a:blip r:embed="rId10"/>
          <a:stretch/>
        </p:blipFill>
        <p:spPr>
          <a:xfrm>
            <a:off x="5716080" y="44456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6" name="TextBox 1535"/>
          <p:cNvSpPr txBox="1"/>
          <p:nvPr/>
        </p:nvSpPr>
        <p:spPr>
          <a:xfrm>
            <a:off x="5849640" y="3795120"/>
            <a:ext cx="353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Learning Rate: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Controls the size of weight updates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Freeform 1536"/>
          <p:cNvSpPr/>
          <p:nvPr/>
        </p:nvSpPr>
        <p:spPr>
          <a:xfrm>
            <a:off x="5707440" y="4788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0"/>
                </a:cubicBezTo>
                <a:cubicBezTo>
                  <a:pt x="110" y="87"/>
                  <a:pt x="106" y="93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3"/>
                  <a:pt x="7" y="87"/>
                  <a:pt x="4" y="80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3"/>
                  <a:pt x="4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3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TextBox 1537"/>
          <p:cNvSpPr txBox="1"/>
          <p:nvPr/>
        </p:nvSpPr>
        <p:spPr>
          <a:xfrm>
            <a:off x="6016680" y="4416120"/>
            <a:ext cx="1266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Data Pipeline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Freeform 1538"/>
          <p:cNvSpPr/>
          <p:nvPr/>
        </p:nvSpPr>
        <p:spPr>
          <a:xfrm>
            <a:off x="5707440" y="5022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9"/>
                </a:moveTo>
                <a:cubicBezTo>
                  <a:pt x="117" y="66"/>
                  <a:pt x="116" y="74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4"/>
                  <a:pt x="0" y="66"/>
                  <a:pt x="0" y="59"/>
                </a:cubicBezTo>
                <a:cubicBezTo>
                  <a:pt x="0" y="51"/>
                  <a:pt x="1" y="43"/>
                  <a:pt x="4" y="36"/>
                </a:cubicBezTo>
                <a:cubicBezTo>
                  <a:pt x="7" y="29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9"/>
                  <a:pt x="113" y="36"/>
                </a:cubicBezTo>
                <a:cubicBezTo>
                  <a:pt x="116" y="43"/>
                  <a:pt x="117" y="51"/>
                  <a:pt x="117" y="59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TextBox 1539"/>
          <p:cNvSpPr txBox="1"/>
          <p:nvPr/>
        </p:nvSpPr>
        <p:spPr>
          <a:xfrm>
            <a:off x="5849640" y="4731120"/>
            <a:ext cx="3677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Simulation: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Generate data using equations of motion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Freeform 1540"/>
          <p:cNvSpPr/>
          <p:nvPr/>
        </p:nvSpPr>
        <p:spPr>
          <a:xfrm>
            <a:off x="5707440" y="5256360"/>
            <a:ext cx="42120" cy="42120"/>
          </a:xfrm>
          <a:custGeom>
            <a:avLst/>
            <a:gdLst/>
            <a:ahLst/>
            <a:cxnLst/>
            <a:rect l="0" t="0" r="r" b="b"/>
            <a:pathLst>
              <a:path w="117" h="117">
                <a:moveTo>
                  <a:pt x="117" y="58"/>
                </a:moveTo>
                <a:cubicBezTo>
                  <a:pt x="117" y="65"/>
                  <a:pt x="116" y="73"/>
                  <a:pt x="113" y="81"/>
                </a:cubicBezTo>
                <a:cubicBezTo>
                  <a:pt x="110" y="88"/>
                  <a:pt x="106" y="94"/>
                  <a:pt x="100" y="100"/>
                </a:cubicBezTo>
                <a:cubicBezTo>
                  <a:pt x="94" y="105"/>
                  <a:pt x="87" y="109"/>
                  <a:pt x="80" y="112"/>
                </a:cubicBezTo>
                <a:cubicBezTo>
                  <a:pt x="73" y="115"/>
                  <a:pt x="66" y="117"/>
                  <a:pt x="58" y="117"/>
                </a:cubicBezTo>
                <a:cubicBezTo>
                  <a:pt x="50" y="117"/>
                  <a:pt x="43" y="115"/>
                  <a:pt x="36" y="112"/>
                </a:cubicBezTo>
                <a:cubicBezTo>
                  <a:pt x="29" y="109"/>
                  <a:pt x="22" y="105"/>
                  <a:pt x="17" y="100"/>
                </a:cubicBezTo>
                <a:cubicBezTo>
                  <a:pt x="12" y="94"/>
                  <a:pt x="7" y="88"/>
                  <a:pt x="4" y="81"/>
                </a:cubicBezTo>
                <a:cubicBezTo>
                  <a:pt x="1" y="73"/>
                  <a:pt x="0" y="65"/>
                  <a:pt x="0" y="58"/>
                </a:cubicBezTo>
                <a:cubicBezTo>
                  <a:pt x="0" y="50"/>
                  <a:pt x="1" y="42"/>
                  <a:pt x="4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8" y="0"/>
                </a:cubicBezTo>
                <a:cubicBezTo>
                  <a:pt x="66" y="0"/>
                  <a:pt x="73" y="1"/>
                  <a:pt x="80" y="4"/>
                </a:cubicBezTo>
                <a:cubicBezTo>
                  <a:pt x="87" y="7"/>
                  <a:pt x="94" y="11"/>
                  <a:pt x="100" y="17"/>
                </a:cubicBezTo>
                <a:cubicBezTo>
                  <a:pt x="106" y="22"/>
                  <a:pt x="110" y="28"/>
                  <a:pt x="113" y="35"/>
                </a:cubicBezTo>
                <a:cubicBezTo>
                  <a:pt x="116" y="42"/>
                  <a:pt x="117" y="50"/>
                  <a:pt x="117" y="58"/>
                </a:cubicBez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TextBox 1541"/>
          <p:cNvSpPr txBox="1"/>
          <p:nvPr/>
        </p:nvSpPr>
        <p:spPr>
          <a:xfrm>
            <a:off x="5849640" y="4965120"/>
            <a:ext cx="3307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Training: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Update parameters to minimize errors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Freeform 1542"/>
          <p:cNvSpPr/>
          <p:nvPr/>
        </p:nvSpPr>
        <p:spPr>
          <a:xfrm>
            <a:off x="200520" y="768600"/>
            <a:ext cx="5014080" cy="5373720"/>
          </a:xfrm>
          <a:custGeom>
            <a:avLst/>
            <a:gdLst/>
            <a:ahLst/>
            <a:cxnLst/>
            <a:rect l="0" t="0" r="r" b="b"/>
            <a:pathLst>
              <a:path w="13928" h="14927">
                <a:moveTo>
                  <a:pt x="0" y="1474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3743" y="0"/>
                </a:lnTo>
                <a:cubicBezTo>
                  <a:pt x="13755" y="0"/>
                  <a:pt x="13767" y="1"/>
                  <a:pt x="13779" y="4"/>
                </a:cubicBezTo>
                <a:cubicBezTo>
                  <a:pt x="13791" y="6"/>
                  <a:pt x="13803" y="10"/>
                  <a:pt x="13814" y="14"/>
                </a:cubicBezTo>
                <a:cubicBezTo>
                  <a:pt x="13825" y="19"/>
                  <a:pt x="13836" y="25"/>
                  <a:pt x="13846" y="31"/>
                </a:cubicBezTo>
                <a:cubicBezTo>
                  <a:pt x="13856" y="38"/>
                  <a:pt x="13865" y="46"/>
                  <a:pt x="13874" y="54"/>
                </a:cubicBezTo>
                <a:cubicBezTo>
                  <a:pt x="13883" y="63"/>
                  <a:pt x="13890" y="72"/>
                  <a:pt x="13897" y="83"/>
                </a:cubicBezTo>
                <a:cubicBezTo>
                  <a:pt x="13904" y="93"/>
                  <a:pt x="13910" y="103"/>
                  <a:pt x="13914" y="115"/>
                </a:cubicBezTo>
                <a:cubicBezTo>
                  <a:pt x="13919" y="126"/>
                  <a:pt x="13922" y="138"/>
                  <a:pt x="13925" y="150"/>
                </a:cubicBezTo>
                <a:cubicBezTo>
                  <a:pt x="13927" y="162"/>
                  <a:pt x="13928" y="174"/>
                  <a:pt x="13928" y="186"/>
                </a:cubicBezTo>
                <a:lnTo>
                  <a:pt x="13928" y="14741"/>
                </a:lnTo>
                <a:cubicBezTo>
                  <a:pt x="13928" y="14754"/>
                  <a:pt x="13927" y="14766"/>
                  <a:pt x="13925" y="14778"/>
                </a:cubicBezTo>
                <a:cubicBezTo>
                  <a:pt x="13922" y="14790"/>
                  <a:pt x="13919" y="14801"/>
                  <a:pt x="13914" y="14812"/>
                </a:cubicBezTo>
                <a:cubicBezTo>
                  <a:pt x="13910" y="14824"/>
                  <a:pt x="13904" y="14834"/>
                  <a:pt x="13897" y="14845"/>
                </a:cubicBezTo>
                <a:cubicBezTo>
                  <a:pt x="13890" y="14855"/>
                  <a:pt x="13883" y="14864"/>
                  <a:pt x="13874" y="14873"/>
                </a:cubicBezTo>
                <a:cubicBezTo>
                  <a:pt x="13865" y="14881"/>
                  <a:pt x="13856" y="14889"/>
                  <a:pt x="13846" y="14896"/>
                </a:cubicBezTo>
                <a:cubicBezTo>
                  <a:pt x="13836" y="14903"/>
                  <a:pt x="13825" y="14908"/>
                  <a:pt x="13814" y="14913"/>
                </a:cubicBezTo>
                <a:cubicBezTo>
                  <a:pt x="13803" y="14918"/>
                  <a:pt x="13791" y="14921"/>
                  <a:pt x="13779" y="14924"/>
                </a:cubicBezTo>
                <a:cubicBezTo>
                  <a:pt x="13767" y="14926"/>
                  <a:pt x="13755" y="14927"/>
                  <a:pt x="13743" y="14927"/>
                </a:cubicBezTo>
                <a:lnTo>
                  <a:pt x="185" y="14927"/>
                </a:lnTo>
                <a:cubicBezTo>
                  <a:pt x="173" y="14927"/>
                  <a:pt x="161" y="14926"/>
                  <a:pt x="149" y="14924"/>
                </a:cubicBezTo>
                <a:cubicBezTo>
                  <a:pt x="137" y="14921"/>
                  <a:pt x="126" y="14918"/>
                  <a:pt x="114" y="14913"/>
                </a:cubicBezTo>
                <a:cubicBezTo>
                  <a:pt x="103" y="14908"/>
                  <a:pt x="92" y="14903"/>
                  <a:pt x="82" y="14896"/>
                </a:cubicBezTo>
                <a:cubicBezTo>
                  <a:pt x="72" y="14889"/>
                  <a:pt x="63" y="14881"/>
                  <a:pt x="54" y="14873"/>
                </a:cubicBezTo>
                <a:cubicBezTo>
                  <a:pt x="45" y="14864"/>
                  <a:pt x="38" y="14855"/>
                  <a:pt x="31" y="14845"/>
                </a:cubicBezTo>
                <a:cubicBezTo>
                  <a:pt x="24" y="14834"/>
                  <a:pt x="18" y="14824"/>
                  <a:pt x="14" y="14812"/>
                </a:cubicBezTo>
                <a:cubicBezTo>
                  <a:pt x="9" y="14801"/>
                  <a:pt x="6" y="14790"/>
                  <a:pt x="3" y="14778"/>
                </a:cubicBezTo>
                <a:cubicBezTo>
                  <a:pt x="1" y="14766"/>
                  <a:pt x="0" y="14754"/>
                  <a:pt x="0" y="147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TextBox 1543"/>
          <p:cNvSpPr txBox="1"/>
          <p:nvPr/>
        </p:nvSpPr>
        <p:spPr>
          <a:xfrm>
            <a:off x="5849640" y="5199120"/>
            <a:ext cx="3206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Testing: </a:t>
            </a:r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Validate performance on unseen data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TextBox 1544"/>
          <p:cNvSpPr txBox="1"/>
          <p:nvPr/>
        </p:nvSpPr>
        <p:spPr>
          <a:xfrm>
            <a:off x="1689840" y="836359"/>
            <a:ext cx="2035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Network Architecture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46" name="Picture 1545"/>
          <p:cNvPicPr/>
          <p:nvPr/>
        </p:nvPicPr>
        <p:blipFill>
          <a:blip r:embed="rId11"/>
          <a:stretch/>
        </p:blipFill>
        <p:spPr>
          <a:xfrm>
            <a:off x="802080" y="318384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7" name="Picture 1546"/>
          <p:cNvPicPr/>
          <p:nvPr/>
        </p:nvPicPr>
        <p:blipFill>
          <a:blip r:embed="rId12"/>
          <a:stretch/>
        </p:blipFill>
        <p:spPr>
          <a:xfrm>
            <a:off x="869040" y="32425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8" name="Picture 1547"/>
          <p:cNvPicPr/>
          <p:nvPr/>
        </p:nvPicPr>
        <p:blipFill>
          <a:blip r:embed="rId13"/>
          <a:stretch/>
        </p:blipFill>
        <p:spPr>
          <a:xfrm>
            <a:off x="802080" y="353484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9" name="Picture 1548"/>
          <p:cNvPicPr/>
          <p:nvPr/>
        </p:nvPicPr>
        <p:blipFill>
          <a:blip r:embed="rId12"/>
          <a:stretch/>
        </p:blipFill>
        <p:spPr>
          <a:xfrm>
            <a:off x="869040" y="35935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0" name="Picture 1549"/>
          <p:cNvPicPr/>
          <p:nvPr/>
        </p:nvPicPr>
        <p:blipFill>
          <a:blip r:embed="rId14"/>
          <a:stretch/>
        </p:blipFill>
        <p:spPr>
          <a:xfrm>
            <a:off x="802080" y="388584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1" name="Picture 1550"/>
          <p:cNvPicPr/>
          <p:nvPr/>
        </p:nvPicPr>
        <p:blipFill>
          <a:blip r:embed="rId12"/>
          <a:stretch/>
        </p:blipFill>
        <p:spPr>
          <a:xfrm>
            <a:off x="869040" y="39445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2" name="Picture 1551"/>
          <p:cNvPicPr/>
          <p:nvPr/>
        </p:nvPicPr>
        <p:blipFill>
          <a:blip r:embed="rId15"/>
          <a:stretch/>
        </p:blipFill>
        <p:spPr>
          <a:xfrm>
            <a:off x="802080" y="423684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3" name="Picture 1552"/>
          <p:cNvPicPr/>
          <p:nvPr/>
        </p:nvPicPr>
        <p:blipFill>
          <a:blip r:embed="rId12"/>
          <a:stretch/>
        </p:blipFill>
        <p:spPr>
          <a:xfrm>
            <a:off x="869040" y="42955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4" name="TextBox 1553"/>
          <p:cNvSpPr txBox="1"/>
          <p:nvPr/>
        </p:nvSpPr>
        <p:spPr>
          <a:xfrm>
            <a:off x="496800" y="2934360"/>
            <a:ext cx="868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C3F94"/>
                </a:solidFill>
                <a:effectLst/>
                <a:uFillTx/>
                <a:latin typeface="DejaVuSans"/>
                <a:ea typeface="DejaVuSans"/>
              </a:rPr>
              <a:t>Input Layer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TextBox 1554"/>
          <p:cNvSpPr txBox="1"/>
          <p:nvPr/>
        </p:nvSpPr>
        <p:spPr>
          <a:xfrm>
            <a:off x="375120" y="4571280"/>
            <a:ext cx="1120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Theta &amp; Frequency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6" name="Picture 1555"/>
          <p:cNvPicPr/>
          <p:nvPr/>
        </p:nvPicPr>
        <p:blipFill>
          <a:blip r:embed="rId16"/>
          <a:stretch/>
        </p:blipFill>
        <p:spPr>
          <a:xfrm>
            <a:off x="2582280" y="32338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7" name="Picture 1556"/>
          <p:cNvPicPr/>
          <p:nvPr/>
        </p:nvPicPr>
        <p:blipFill>
          <a:blip r:embed="rId17"/>
          <a:stretch/>
        </p:blipFill>
        <p:spPr>
          <a:xfrm>
            <a:off x="2624040" y="329256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8" name="Picture 1557"/>
          <p:cNvPicPr/>
          <p:nvPr/>
        </p:nvPicPr>
        <p:blipFill>
          <a:blip r:embed="rId18"/>
          <a:stretch/>
        </p:blipFill>
        <p:spPr>
          <a:xfrm>
            <a:off x="2582280" y="355176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9" name="Picture 1558"/>
          <p:cNvPicPr/>
          <p:nvPr/>
        </p:nvPicPr>
        <p:blipFill>
          <a:blip r:embed="rId17"/>
          <a:stretch/>
        </p:blipFill>
        <p:spPr>
          <a:xfrm>
            <a:off x="2624040" y="361008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0" name="Picture 1559"/>
          <p:cNvPicPr/>
          <p:nvPr/>
        </p:nvPicPr>
        <p:blipFill>
          <a:blip r:embed="rId19"/>
          <a:stretch/>
        </p:blipFill>
        <p:spPr>
          <a:xfrm>
            <a:off x="2582280" y="38692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1" name="Picture 1560"/>
          <p:cNvPicPr/>
          <p:nvPr/>
        </p:nvPicPr>
        <p:blipFill>
          <a:blip r:embed="rId17"/>
          <a:stretch/>
        </p:blipFill>
        <p:spPr>
          <a:xfrm>
            <a:off x="2624040" y="392760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2" name="Picture 1561"/>
          <p:cNvPicPr/>
          <p:nvPr/>
        </p:nvPicPr>
        <p:blipFill>
          <a:blip r:embed="rId20"/>
          <a:stretch/>
        </p:blipFill>
        <p:spPr>
          <a:xfrm>
            <a:off x="2582280" y="418680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3" name="Picture 1562"/>
          <p:cNvPicPr/>
          <p:nvPr/>
        </p:nvPicPr>
        <p:blipFill>
          <a:blip r:embed="rId17"/>
          <a:stretch/>
        </p:blipFill>
        <p:spPr>
          <a:xfrm>
            <a:off x="2624040" y="424512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4" name="TextBox 1563"/>
          <p:cNvSpPr txBox="1"/>
          <p:nvPr/>
        </p:nvSpPr>
        <p:spPr>
          <a:xfrm>
            <a:off x="2169360" y="2984760"/>
            <a:ext cx="1084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C3F94"/>
                </a:solidFill>
                <a:effectLst/>
                <a:uFillTx/>
                <a:latin typeface="DejaVuSans"/>
                <a:ea typeface="DejaVuSans"/>
              </a:rPr>
              <a:t>Hidden Layers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TextBox 1564"/>
          <p:cNvSpPr txBox="1"/>
          <p:nvPr/>
        </p:nvSpPr>
        <p:spPr>
          <a:xfrm>
            <a:off x="2214000" y="4520880"/>
            <a:ext cx="1004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Feature Learning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66" name="Picture 1565"/>
          <p:cNvPicPr/>
          <p:nvPr/>
        </p:nvPicPr>
        <p:blipFill>
          <a:blip r:embed="rId21"/>
          <a:stretch/>
        </p:blipFill>
        <p:spPr>
          <a:xfrm>
            <a:off x="4362120" y="335952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7" name="Picture 1566"/>
          <p:cNvPicPr/>
          <p:nvPr/>
        </p:nvPicPr>
        <p:blipFill>
          <a:blip r:embed="rId22"/>
          <a:stretch/>
        </p:blipFill>
        <p:spPr>
          <a:xfrm>
            <a:off x="4420800" y="3417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8" name="Picture 1567"/>
          <p:cNvPicPr/>
          <p:nvPr/>
        </p:nvPicPr>
        <p:blipFill>
          <a:blip r:embed="rId23"/>
          <a:stretch/>
        </p:blipFill>
        <p:spPr>
          <a:xfrm>
            <a:off x="4362120" y="371052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9" name="Picture 1568"/>
          <p:cNvPicPr/>
          <p:nvPr/>
        </p:nvPicPr>
        <p:blipFill>
          <a:blip r:embed="rId22"/>
          <a:stretch/>
        </p:blipFill>
        <p:spPr>
          <a:xfrm>
            <a:off x="4420800" y="3768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0" name="Picture 1569"/>
          <p:cNvPicPr/>
          <p:nvPr/>
        </p:nvPicPr>
        <p:blipFill>
          <a:blip r:embed="rId24"/>
          <a:stretch/>
        </p:blipFill>
        <p:spPr>
          <a:xfrm>
            <a:off x="4362120" y="406152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1" name="Picture 1570"/>
          <p:cNvPicPr/>
          <p:nvPr/>
        </p:nvPicPr>
        <p:blipFill>
          <a:blip r:embed="rId22"/>
          <a:stretch/>
        </p:blipFill>
        <p:spPr>
          <a:xfrm>
            <a:off x="4420800" y="4119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2" name="TextBox 1571"/>
          <p:cNvSpPr txBox="1"/>
          <p:nvPr/>
        </p:nvSpPr>
        <p:spPr>
          <a:xfrm>
            <a:off x="3992760" y="3110040"/>
            <a:ext cx="997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1C3F94"/>
                </a:solidFill>
                <a:effectLst/>
                <a:uFillTx/>
                <a:latin typeface="DejaVuSans"/>
                <a:ea typeface="DejaVuSans"/>
              </a:rPr>
              <a:t>Output Layer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TextBox 1572"/>
          <p:cNvSpPr txBox="1"/>
          <p:nvPr/>
        </p:nvSpPr>
        <p:spPr>
          <a:xfrm>
            <a:off x="3983400" y="4395600"/>
            <a:ext cx="1038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Torque Prediction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TextBox 1573"/>
          <p:cNvSpPr txBox="1"/>
          <p:nvPr/>
        </p:nvSpPr>
        <p:spPr>
          <a:xfrm>
            <a:off x="10025640" y="60264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19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 descr="A computer screen with text and numbers&#10;&#10;Description automatically generated">
            <a:extLst>
              <a:ext uri="{FF2B5EF4-FFF2-40B4-BE49-F238E27FC236}">
                <a16:creationId xmlns:a16="http://schemas.microsoft.com/office/drawing/2014/main" id="{20BC6750-9CD5-BF16-2444-9838D41098D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50" y="1102681"/>
            <a:ext cx="3332429" cy="1781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AAD037-E5DA-9183-C2C4-EE8E8BE4933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8104E3-DF0C-156C-0970-3CB71B9ACAA5}"/>
              </a:ext>
            </a:extLst>
          </p:cNvPr>
          <p:cNvSpPr txBox="1"/>
          <p:nvPr/>
        </p:nvSpPr>
        <p:spPr>
          <a:xfrm>
            <a:off x="334440" y="135000"/>
            <a:ext cx="7563994" cy="3045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 dirty="0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Neural Network Structure (Example of an accurate prediction of Torque)</a:t>
            </a:r>
            <a:endParaRPr lang="en-US" sz="1979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Picture 6" descr="A graph showing the loss of a training loss&#10;&#10;Description automatically generated">
            <a:extLst>
              <a:ext uri="{FF2B5EF4-FFF2-40B4-BE49-F238E27FC236}">
                <a16:creationId xmlns:a16="http://schemas.microsoft.com/office/drawing/2014/main" id="{4545D351-FD9C-2EB5-3904-AE3BEF6CD6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8584"/>
            <a:ext cx="5042517" cy="3938777"/>
          </a:xfrm>
          <a:prstGeom prst="rect">
            <a:avLst/>
          </a:prstGeom>
        </p:spPr>
      </p:pic>
      <p:pic>
        <p:nvPicPr>
          <p:cNvPr id="9" name="Picture 8" descr="A graph showing the true torque&#10;&#10;Description automatically generated">
            <a:extLst>
              <a:ext uri="{FF2B5EF4-FFF2-40B4-BE49-F238E27FC236}">
                <a16:creationId xmlns:a16="http://schemas.microsoft.com/office/drawing/2014/main" id="{2EB5D8C4-1E70-227B-6332-80D17BF47E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170" y="1356826"/>
            <a:ext cx="5404545" cy="346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40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Picture 1574"/>
          <p:cNvPicPr/>
          <p:nvPr/>
        </p:nvPicPr>
        <p:blipFill>
          <a:blip r:embed="rId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6" name="Picture 1575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7" name="Freeform 1576"/>
          <p:cNvSpPr/>
          <p:nvPr/>
        </p:nvSpPr>
        <p:spPr>
          <a:xfrm>
            <a:off x="284040" y="4980240"/>
            <a:ext cx="10145160" cy="468360"/>
          </a:xfrm>
          <a:custGeom>
            <a:avLst/>
            <a:gdLst/>
            <a:ahLst/>
            <a:cxnLst/>
            <a:rect l="0" t="0" r="r" b="b"/>
            <a:pathLst>
              <a:path w="28181" h="1301">
                <a:moveTo>
                  <a:pt x="0" y="1116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1" y="55"/>
                </a:cubicBezTo>
                <a:cubicBezTo>
                  <a:pt x="47" y="46"/>
                  <a:pt x="54" y="39"/>
                  <a:pt x="62" y="32"/>
                </a:cubicBezTo>
                <a:cubicBezTo>
                  <a:pt x="69" y="25"/>
                  <a:pt x="77" y="19"/>
                  <a:pt x="86" y="15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27996" y="0"/>
                </a:lnTo>
                <a:cubicBezTo>
                  <a:pt x="28008" y="0"/>
                  <a:pt x="28020" y="2"/>
                  <a:pt x="28032" y="4"/>
                </a:cubicBezTo>
                <a:cubicBezTo>
                  <a:pt x="28044" y="6"/>
                  <a:pt x="28055" y="10"/>
                  <a:pt x="28067" y="15"/>
                </a:cubicBezTo>
                <a:cubicBezTo>
                  <a:pt x="28078" y="19"/>
                  <a:pt x="28089" y="25"/>
                  <a:pt x="28099" y="32"/>
                </a:cubicBezTo>
                <a:cubicBezTo>
                  <a:pt x="28109" y="39"/>
                  <a:pt x="28118" y="46"/>
                  <a:pt x="28127" y="55"/>
                </a:cubicBezTo>
                <a:cubicBezTo>
                  <a:pt x="28136" y="63"/>
                  <a:pt x="28143" y="73"/>
                  <a:pt x="28150" y="83"/>
                </a:cubicBezTo>
                <a:cubicBezTo>
                  <a:pt x="28157" y="93"/>
                  <a:pt x="28163" y="104"/>
                  <a:pt x="28167" y="115"/>
                </a:cubicBezTo>
                <a:cubicBezTo>
                  <a:pt x="28172" y="126"/>
                  <a:pt x="28175" y="138"/>
                  <a:pt x="28178" y="150"/>
                </a:cubicBezTo>
                <a:cubicBezTo>
                  <a:pt x="28180" y="162"/>
                  <a:pt x="28181" y="174"/>
                  <a:pt x="28181" y="186"/>
                </a:cubicBezTo>
                <a:lnTo>
                  <a:pt x="28181" y="1116"/>
                </a:lnTo>
                <a:cubicBezTo>
                  <a:pt x="28181" y="1128"/>
                  <a:pt x="28180" y="1140"/>
                  <a:pt x="28178" y="1152"/>
                </a:cubicBezTo>
                <a:cubicBezTo>
                  <a:pt x="28175" y="1164"/>
                  <a:pt x="28172" y="1176"/>
                  <a:pt x="28167" y="1187"/>
                </a:cubicBezTo>
                <a:cubicBezTo>
                  <a:pt x="28163" y="1198"/>
                  <a:pt x="28157" y="1209"/>
                  <a:pt x="28150" y="1219"/>
                </a:cubicBezTo>
                <a:cubicBezTo>
                  <a:pt x="28143" y="1229"/>
                  <a:pt x="28136" y="1238"/>
                  <a:pt x="28127" y="1247"/>
                </a:cubicBezTo>
                <a:cubicBezTo>
                  <a:pt x="28118" y="1256"/>
                  <a:pt x="28109" y="1263"/>
                  <a:pt x="28099" y="1270"/>
                </a:cubicBezTo>
                <a:cubicBezTo>
                  <a:pt x="28089" y="1277"/>
                  <a:pt x="28078" y="1283"/>
                  <a:pt x="28067" y="1287"/>
                </a:cubicBezTo>
                <a:cubicBezTo>
                  <a:pt x="28055" y="1292"/>
                  <a:pt x="28044" y="1295"/>
                  <a:pt x="28032" y="1298"/>
                </a:cubicBezTo>
                <a:cubicBezTo>
                  <a:pt x="28020" y="1300"/>
                  <a:pt x="28008" y="1301"/>
                  <a:pt x="27996" y="1301"/>
                </a:cubicBezTo>
                <a:lnTo>
                  <a:pt x="139" y="1301"/>
                </a:lnTo>
                <a:cubicBezTo>
                  <a:pt x="130" y="1301"/>
                  <a:pt x="121" y="1300"/>
                  <a:pt x="112" y="1298"/>
                </a:cubicBezTo>
                <a:cubicBezTo>
                  <a:pt x="103" y="1295"/>
                  <a:pt x="94" y="1292"/>
                  <a:pt x="86" y="1287"/>
                </a:cubicBezTo>
                <a:cubicBezTo>
                  <a:pt x="77" y="1283"/>
                  <a:pt x="69" y="1277"/>
                  <a:pt x="62" y="1270"/>
                </a:cubicBezTo>
                <a:cubicBezTo>
                  <a:pt x="54" y="1263"/>
                  <a:pt x="47" y="1256"/>
                  <a:pt x="41" y="1247"/>
                </a:cubicBezTo>
                <a:cubicBezTo>
                  <a:pt x="34" y="1238"/>
                  <a:pt x="28" y="1229"/>
                  <a:pt x="23" y="1219"/>
                </a:cubicBezTo>
                <a:cubicBezTo>
                  <a:pt x="18" y="1209"/>
                  <a:pt x="14" y="1198"/>
                  <a:pt x="10" y="1187"/>
                </a:cubicBezTo>
                <a:cubicBezTo>
                  <a:pt x="7" y="1176"/>
                  <a:pt x="4" y="1164"/>
                  <a:pt x="2" y="1152"/>
                </a:cubicBezTo>
                <a:cubicBezTo>
                  <a:pt x="1" y="1140"/>
                  <a:pt x="0" y="1128"/>
                  <a:pt x="0" y="111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Freeform 1577"/>
          <p:cNvSpPr/>
          <p:nvPr/>
        </p:nvSpPr>
        <p:spPr>
          <a:xfrm>
            <a:off x="267120" y="4980240"/>
            <a:ext cx="67320" cy="468360"/>
          </a:xfrm>
          <a:custGeom>
            <a:avLst/>
            <a:gdLst/>
            <a:ahLst/>
            <a:cxnLst/>
            <a:rect l="0" t="0" r="r" b="b"/>
            <a:pathLst>
              <a:path w="187" h="1301">
                <a:moveTo>
                  <a:pt x="0" y="0"/>
                </a:moveTo>
                <a:lnTo>
                  <a:pt x="187" y="0"/>
                </a:lnTo>
                <a:lnTo>
                  <a:pt x="187" y="1301"/>
                </a:lnTo>
                <a:lnTo>
                  <a:pt x="0" y="1301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Freeform 1578"/>
          <p:cNvSpPr/>
          <p:nvPr/>
        </p:nvSpPr>
        <p:spPr>
          <a:xfrm>
            <a:off x="267120" y="180504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Freeform 1579"/>
          <p:cNvSpPr/>
          <p:nvPr/>
        </p:nvSpPr>
        <p:spPr>
          <a:xfrm>
            <a:off x="267120" y="180504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Freeform 1580"/>
          <p:cNvSpPr/>
          <p:nvPr/>
        </p:nvSpPr>
        <p:spPr>
          <a:xfrm>
            <a:off x="267120" y="284112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Freeform 1581"/>
          <p:cNvSpPr/>
          <p:nvPr/>
        </p:nvSpPr>
        <p:spPr>
          <a:xfrm>
            <a:off x="267120" y="284112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Freeform 1582"/>
          <p:cNvSpPr/>
          <p:nvPr/>
        </p:nvSpPr>
        <p:spPr>
          <a:xfrm>
            <a:off x="267120" y="387720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Freeform 1583"/>
          <p:cNvSpPr/>
          <p:nvPr/>
        </p:nvSpPr>
        <p:spPr>
          <a:xfrm>
            <a:off x="267120" y="387720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85" name="Picture 1584"/>
          <p:cNvPicPr/>
          <p:nvPr/>
        </p:nvPicPr>
        <p:blipFill>
          <a:blip r:embed="rId4"/>
          <a:stretch/>
        </p:blipFill>
        <p:spPr>
          <a:xfrm>
            <a:off x="267480" y="143748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6" name="TextBox 1585"/>
          <p:cNvSpPr txBox="1"/>
          <p:nvPr/>
        </p:nvSpPr>
        <p:spPr>
          <a:xfrm>
            <a:off x="334440" y="135000"/>
            <a:ext cx="367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Challenges &amp; Adaptations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87" name="Picture 1586"/>
          <p:cNvPicPr/>
          <p:nvPr/>
        </p:nvPicPr>
        <p:blipFill>
          <a:blip r:embed="rId5"/>
          <a:stretch/>
        </p:blipFill>
        <p:spPr>
          <a:xfrm>
            <a:off x="434520" y="193860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8" name="Picture 1587"/>
          <p:cNvPicPr/>
          <p:nvPr/>
        </p:nvPicPr>
        <p:blipFill>
          <a:blip r:embed="rId6"/>
          <a:stretch/>
        </p:blipFill>
        <p:spPr>
          <a:xfrm>
            <a:off x="559800" y="20642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9" name="TextBox 1588"/>
          <p:cNvSpPr txBox="1"/>
          <p:nvPr/>
        </p:nvSpPr>
        <p:spPr>
          <a:xfrm>
            <a:off x="585000" y="1418400"/>
            <a:ext cx="2387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Technical Challenges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TextBox 1589"/>
          <p:cNvSpPr txBox="1"/>
          <p:nvPr/>
        </p:nvSpPr>
        <p:spPr>
          <a:xfrm>
            <a:off x="986040" y="1966320"/>
            <a:ext cx="1987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Complex NN Structures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TextBox 1590"/>
          <p:cNvSpPr txBox="1"/>
          <p:nvPr/>
        </p:nvSpPr>
        <p:spPr>
          <a:xfrm>
            <a:off x="986040" y="2190600"/>
            <a:ext cx="3795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Took 3 weeks to resolve major issues with programming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92" name="Picture 1591"/>
          <p:cNvPicPr/>
          <p:nvPr/>
        </p:nvPicPr>
        <p:blipFill>
          <a:blip r:embed="rId7"/>
          <a:stretch/>
        </p:blipFill>
        <p:spPr>
          <a:xfrm>
            <a:off x="434520" y="29750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3" name="Picture 1592"/>
          <p:cNvPicPr/>
          <p:nvPr/>
        </p:nvPicPr>
        <p:blipFill>
          <a:blip r:embed="rId8"/>
          <a:stretch/>
        </p:blipFill>
        <p:spPr>
          <a:xfrm>
            <a:off x="551520" y="310032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4" name="TextBox 1593"/>
          <p:cNvSpPr txBox="1"/>
          <p:nvPr/>
        </p:nvSpPr>
        <p:spPr>
          <a:xfrm>
            <a:off x="986040" y="2391120"/>
            <a:ext cx="3133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scripts and complex neural network structures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TextBox 1594"/>
          <p:cNvSpPr txBox="1"/>
          <p:nvPr/>
        </p:nvSpPr>
        <p:spPr>
          <a:xfrm>
            <a:off x="986040" y="3002400"/>
            <a:ext cx="15069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Script Conversion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TextBox 1595"/>
          <p:cNvSpPr txBox="1"/>
          <p:nvPr/>
        </p:nvSpPr>
        <p:spPr>
          <a:xfrm>
            <a:off x="986040" y="3227040"/>
            <a:ext cx="4030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Diﬃculties converting from Numpy to JAX framework due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97" name="Picture 1596"/>
          <p:cNvPicPr/>
          <p:nvPr/>
        </p:nvPicPr>
        <p:blipFill>
          <a:blip r:embed="rId9"/>
          <a:stretch/>
        </p:blipFill>
        <p:spPr>
          <a:xfrm>
            <a:off x="434520" y="40111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8" name="Picture 1597"/>
          <p:cNvPicPr/>
          <p:nvPr/>
        </p:nvPicPr>
        <p:blipFill>
          <a:blip r:embed="rId10"/>
          <a:stretch/>
        </p:blipFill>
        <p:spPr>
          <a:xfrm>
            <a:off x="585000" y="413640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9" name="TextBox 1598"/>
          <p:cNvSpPr txBox="1"/>
          <p:nvPr/>
        </p:nvSpPr>
        <p:spPr>
          <a:xfrm>
            <a:off x="986040" y="3427560"/>
            <a:ext cx="2340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ﬁne adjustments in the ODE solver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TextBox 1599"/>
          <p:cNvSpPr txBox="1"/>
          <p:nvPr/>
        </p:nvSpPr>
        <p:spPr>
          <a:xfrm>
            <a:off x="986040" y="4038840"/>
            <a:ext cx="16743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Solution: Seek Help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TextBox 1600"/>
          <p:cNvSpPr txBox="1"/>
          <p:nvPr/>
        </p:nvSpPr>
        <p:spPr>
          <a:xfrm>
            <a:off x="986040" y="4263120"/>
            <a:ext cx="4138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Worked through the structure again with a more experienced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Freeform 1601"/>
          <p:cNvSpPr/>
          <p:nvPr/>
        </p:nvSpPr>
        <p:spPr>
          <a:xfrm>
            <a:off x="5448240" y="180504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Freeform 1602"/>
          <p:cNvSpPr/>
          <p:nvPr/>
        </p:nvSpPr>
        <p:spPr>
          <a:xfrm>
            <a:off x="5448240" y="180504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Freeform 1603"/>
          <p:cNvSpPr/>
          <p:nvPr/>
        </p:nvSpPr>
        <p:spPr>
          <a:xfrm>
            <a:off x="5448240" y="284112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Freeform 1604"/>
          <p:cNvSpPr/>
          <p:nvPr/>
        </p:nvSpPr>
        <p:spPr>
          <a:xfrm>
            <a:off x="5448240" y="284112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1C3F9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Freeform 1605"/>
          <p:cNvSpPr/>
          <p:nvPr/>
        </p:nvSpPr>
        <p:spPr>
          <a:xfrm>
            <a:off x="5448240" y="3877200"/>
            <a:ext cx="4980960" cy="902880"/>
          </a:xfrm>
          <a:custGeom>
            <a:avLst/>
            <a:gdLst/>
            <a:ahLst/>
            <a:cxnLst/>
            <a:rect l="0" t="0" r="r" b="b"/>
            <a:pathLst>
              <a:path w="13836" h="2508">
                <a:moveTo>
                  <a:pt x="0" y="0"/>
                </a:moveTo>
                <a:lnTo>
                  <a:pt x="13836" y="0"/>
                </a:lnTo>
                <a:lnTo>
                  <a:pt x="13836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Freeform 1606"/>
          <p:cNvSpPr/>
          <p:nvPr/>
        </p:nvSpPr>
        <p:spPr>
          <a:xfrm>
            <a:off x="5448240" y="3877200"/>
            <a:ext cx="33840" cy="902880"/>
          </a:xfrm>
          <a:custGeom>
            <a:avLst/>
            <a:gdLst/>
            <a:ahLst/>
            <a:cxn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08" name="Picture 1607"/>
          <p:cNvPicPr/>
          <p:nvPr/>
        </p:nvPicPr>
        <p:blipFill>
          <a:blip r:embed="rId11"/>
          <a:stretch/>
        </p:blipFill>
        <p:spPr>
          <a:xfrm>
            <a:off x="5448600" y="14374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9" name="TextBox 1608"/>
          <p:cNvSpPr txBox="1"/>
          <p:nvPr/>
        </p:nvSpPr>
        <p:spPr>
          <a:xfrm>
            <a:off x="986040" y="4463640"/>
            <a:ext cx="3350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colleague to attain comprehensive understanding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0" name="Picture 1609"/>
          <p:cNvPicPr/>
          <p:nvPr/>
        </p:nvPicPr>
        <p:blipFill>
          <a:blip r:embed="rId5"/>
          <a:stretch/>
        </p:blipFill>
        <p:spPr>
          <a:xfrm>
            <a:off x="5615640" y="193860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1" name="Picture 1610"/>
          <p:cNvPicPr/>
          <p:nvPr/>
        </p:nvPicPr>
        <p:blipFill>
          <a:blip r:embed="rId12"/>
          <a:stretch/>
        </p:blipFill>
        <p:spPr>
          <a:xfrm>
            <a:off x="5740920" y="20642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2" name="TextBox 1611"/>
          <p:cNvSpPr txBox="1"/>
          <p:nvPr/>
        </p:nvSpPr>
        <p:spPr>
          <a:xfrm>
            <a:off x="5716080" y="1418400"/>
            <a:ext cx="2437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Personal Adaptations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TextBox 1612"/>
          <p:cNvSpPr txBox="1"/>
          <p:nvPr/>
        </p:nvSpPr>
        <p:spPr>
          <a:xfrm>
            <a:off x="6167160" y="1966320"/>
            <a:ext cx="1218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Time Pressure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TextBox 1613"/>
          <p:cNvSpPr txBox="1"/>
          <p:nvPr/>
        </p:nvSpPr>
        <p:spPr>
          <a:xfrm>
            <a:off x="6167160" y="2190600"/>
            <a:ext cx="3884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Last 2 weeks faced intense pressure to deliver completed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5" name="Picture 1614"/>
          <p:cNvPicPr/>
          <p:nvPr/>
        </p:nvPicPr>
        <p:blipFill>
          <a:blip r:embed="rId7"/>
          <a:stretch/>
        </p:blipFill>
        <p:spPr>
          <a:xfrm>
            <a:off x="5615640" y="297504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6" name="Picture 1615"/>
          <p:cNvPicPr/>
          <p:nvPr/>
        </p:nvPicPr>
        <p:blipFill>
          <a:blip r:embed="rId13"/>
          <a:stretch/>
        </p:blipFill>
        <p:spPr>
          <a:xfrm>
            <a:off x="5724360" y="310032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7" name="TextBox 1616"/>
          <p:cNvSpPr txBox="1"/>
          <p:nvPr/>
        </p:nvSpPr>
        <p:spPr>
          <a:xfrm>
            <a:off x="6167160" y="2391120"/>
            <a:ext cx="145552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tasks 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for final deployment.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TextBox 1617"/>
          <p:cNvSpPr txBox="1"/>
          <p:nvPr/>
        </p:nvSpPr>
        <p:spPr>
          <a:xfrm>
            <a:off x="6167160" y="3002400"/>
            <a:ext cx="21729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Expectation Management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TextBox 1618"/>
          <p:cNvSpPr txBox="1"/>
          <p:nvPr/>
        </p:nvSpPr>
        <p:spPr>
          <a:xfrm>
            <a:off x="6167160" y="3227040"/>
            <a:ext cx="240931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Learned to balance expectations 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on delivery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20" name="Picture 1619"/>
          <p:cNvPicPr/>
          <p:nvPr/>
        </p:nvPicPr>
        <p:blipFill>
          <a:blip r:embed="rId9"/>
          <a:stretch/>
        </p:blipFill>
        <p:spPr>
          <a:xfrm>
            <a:off x="5615640" y="4011120"/>
            <a:ext cx="417600" cy="41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1" name="Picture 1620"/>
          <p:cNvPicPr/>
          <p:nvPr/>
        </p:nvPicPr>
        <p:blipFill>
          <a:blip r:embed="rId14"/>
          <a:stretch/>
        </p:blipFill>
        <p:spPr>
          <a:xfrm>
            <a:off x="5740920" y="413640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3" name="TextBox 1622"/>
          <p:cNvSpPr txBox="1"/>
          <p:nvPr/>
        </p:nvSpPr>
        <p:spPr>
          <a:xfrm>
            <a:off x="6167160" y="4038840"/>
            <a:ext cx="1719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Mindset Adjustment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TextBox 1623"/>
          <p:cNvSpPr txBox="1"/>
          <p:nvPr/>
        </p:nvSpPr>
        <p:spPr>
          <a:xfrm>
            <a:off x="6167160" y="4263120"/>
            <a:ext cx="3801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Developed resilience by focusing on what I could control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25" name="Picture 1624"/>
          <p:cNvPicPr/>
          <p:nvPr/>
        </p:nvPicPr>
        <p:blipFill>
          <a:blip r:embed="rId15"/>
          <a:stretch/>
        </p:blipFill>
        <p:spPr>
          <a:xfrm>
            <a:off x="434520" y="5114160"/>
            <a:ext cx="1836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6" name="TextBox 1625"/>
          <p:cNvSpPr txBox="1"/>
          <p:nvPr/>
        </p:nvSpPr>
        <p:spPr>
          <a:xfrm>
            <a:off x="6167160" y="4463640"/>
            <a:ext cx="243496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rather than </a:t>
            </a:r>
            <a:r>
              <a:rPr lang="en-US" sz="1050" dirty="0">
                <a:solidFill>
                  <a:srgbClr val="4B5563"/>
                </a:solidFill>
                <a:latin typeface="DejaVuSans"/>
                <a:ea typeface="DejaVuSans"/>
              </a:rPr>
              <a:t>engaging in self-doubt for</a:t>
            </a: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 delays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Freeform 1626"/>
          <p:cNvSpPr/>
          <p:nvPr/>
        </p:nvSpPr>
        <p:spPr>
          <a:xfrm>
            <a:off x="267120" y="1086120"/>
            <a:ext cx="10162080" cy="67320"/>
          </a:xfrm>
          <a:custGeom>
            <a:avLst/>
            <a:gdLst/>
            <a:ahLst/>
            <a:cxnLst/>
            <a:rect l="0" t="0" r="r" b="b"/>
            <a:pathLst>
              <a:path w="28228" h="187">
                <a:moveTo>
                  <a:pt x="0" y="94"/>
                </a:moveTo>
                <a:cubicBezTo>
                  <a:pt x="0" y="82"/>
                  <a:pt x="3" y="70"/>
                  <a:pt x="7" y="59"/>
                </a:cubicBezTo>
                <a:cubicBezTo>
                  <a:pt x="12" y="47"/>
                  <a:pt x="19" y="37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lnTo>
                  <a:pt x="28136" y="0"/>
                </a:lnTo>
                <a:cubicBezTo>
                  <a:pt x="28148" y="0"/>
                  <a:pt x="28160" y="3"/>
                  <a:pt x="28171" y="7"/>
                </a:cubicBezTo>
                <a:cubicBezTo>
                  <a:pt x="28182" y="12"/>
                  <a:pt x="28192" y="19"/>
                  <a:pt x="28201" y="27"/>
                </a:cubicBezTo>
                <a:cubicBezTo>
                  <a:pt x="28210" y="37"/>
                  <a:pt x="28217" y="47"/>
                  <a:pt x="28221" y="59"/>
                </a:cubicBezTo>
                <a:cubicBezTo>
                  <a:pt x="28226" y="70"/>
                  <a:pt x="28228" y="82"/>
                  <a:pt x="28228" y="94"/>
                </a:cubicBezTo>
                <a:cubicBezTo>
                  <a:pt x="28228" y="106"/>
                  <a:pt x="28226" y="118"/>
                  <a:pt x="28221" y="130"/>
                </a:cubicBezTo>
                <a:cubicBezTo>
                  <a:pt x="28217" y="141"/>
                  <a:pt x="28210" y="151"/>
                  <a:pt x="28201" y="160"/>
                </a:cubicBezTo>
                <a:cubicBezTo>
                  <a:pt x="28192" y="168"/>
                  <a:pt x="28182" y="175"/>
                  <a:pt x="28171" y="180"/>
                </a:cubicBezTo>
                <a:cubicBezTo>
                  <a:pt x="28160" y="185"/>
                  <a:pt x="28148" y="187"/>
                  <a:pt x="28136" y="187"/>
                </a:cubicBezTo>
                <a:lnTo>
                  <a:pt x="93" y="187"/>
                </a:lnTo>
                <a:cubicBezTo>
                  <a:pt x="81" y="187"/>
                  <a:pt x="69" y="185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7" y="130"/>
                </a:cubicBezTo>
                <a:cubicBezTo>
                  <a:pt x="3" y="118"/>
                  <a:pt x="0" y="106"/>
                  <a:pt x="0" y="94"/>
                </a:cubicBezTo>
                <a:close/>
              </a:path>
            </a:pathLst>
          </a:custGeom>
          <a:solidFill>
            <a:srgbClr val="E0E0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28" name="Picture 1627"/>
          <p:cNvPicPr/>
          <p:nvPr/>
        </p:nvPicPr>
        <p:blipFill>
          <a:blip r:embed="rId16"/>
          <a:stretch/>
        </p:blipFill>
        <p:spPr>
          <a:xfrm>
            <a:off x="267480" y="1086480"/>
            <a:ext cx="7620840" cy="6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9" name="TextBox 1628"/>
          <p:cNvSpPr txBox="1"/>
          <p:nvPr/>
        </p:nvSpPr>
        <p:spPr>
          <a:xfrm>
            <a:off x="749520" y="5132160"/>
            <a:ext cx="72835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9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"The kind of compromise to make when facing technical limitations while maintaining scientiﬁc integrity."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Freeform 1629"/>
          <p:cNvSpPr/>
          <p:nvPr/>
        </p:nvSpPr>
        <p:spPr>
          <a:xfrm>
            <a:off x="27972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>
                <a:moveTo>
                  <a:pt x="396" y="198"/>
                </a:moveTo>
                <a:cubicBezTo>
                  <a:pt x="396" y="211"/>
                  <a:pt x="394" y="224"/>
                  <a:pt x="392" y="237"/>
                </a:cubicBezTo>
                <a:cubicBezTo>
                  <a:pt x="389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9" y="347"/>
                  <a:pt x="319" y="355"/>
                  <a:pt x="308" y="362"/>
                </a:cubicBezTo>
                <a:cubicBezTo>
                  <a:pt x="297" y="369"/>
                  <a:pt x="286" y="375"/>
                  <a:pt x="274" y="380"/>
                </a:cubicBezTo>
                <a:cubicBezTo>
                  <a:pt x="262" y="385"/>
                  <a:pt x="250" y="389"/>
                  <a:pt x="237" y="392"/>
                </a:cubicBezTo>
                <a:cubicBezTo>
                  <a:pt x="224" y="394"/>
                  <a:pt x="211" y="395"/>
                  <a:pt x="197" y="395"/>
                </a:cubicBezTo>
                <a:cubicBezTo>
                  <a:pt x="184" y="395"/>
                  <a:pt x="172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2" y="1"/>
                  <a:pt x="184" y="0"/>
                  <a:pt x="197" y="0"/>
                </a:cubicBezTo>
                <a:cubicBezTo>
                  <a:pt x="211" y="0"/>
                  <a:pt x="224" y="1"/>
                  <a:pt x="237" y="4"/>
                </a:cubicBezTo>
                <a:cubicBezTo>
                  <a:pt x="250" y="6"/>
                  <a:pt x="262" y="10"/>
                  <a:pt x="274" y="15"/>
                </a:cubicBezTo>
                <a:cubicBezTo>
                  <a:pt x="286" y="20"/>
                  <a:pt x="297" y="26"/>
                  <a:pt x="308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5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89" y="147"/>
                  <a:pt x="392" y="160"/>
                </a:cubicBezTo>
                <a:cubicBezTo>
                  <a:pt x="394" y="172"/>
                  <a:pt x="396" y="185"/>
                  <a:pt x="396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Freeform 1630"/>
          <p:cNvSpPr/>
          <p:nvPr/>
        </p:nvSpPr>
        <p:spPr>
          <a:xfrm>
            <a:off x="27972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 fill="none">
                <a:moveTo>
                  <a:pt x="396" y="198"/>
                </a:moveTo>
                <a:cubicBezTo>
                  <a:pt x="396" y="211"/>
                  <a:pt x="394" y="224"/>
                  <a:pt x="392" y="237"/>
                </a:cubicBezTo>
                <a:cubicBezTo>
                  <a:pt x="389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9" y="347"/>
                  <a:pt x="319" y="355"/>
                  <a:pt x="308" y="362"/>
                </a:cubicBezTo>
                <a:cubicBezTo>
                  <a:pt x="297" y="369"/>
                  <a:pt x="286" y="375"/>
                  <a:pt x="274" y="380"/>
                </a:cubicBezTo>
                <a:cubicBezTo>
                  <a:pt x="262" y="385"/>
                  <a:pt x="250" y="389"/>
                  <a:pt x="237" y="392"/>
                </a:cubicBezTo>
                <a:cubicBezTo>
                  <a:pt x="224" y="394"/>
                  <a:pt x="211" y="395"/>
                  <a:pt x="197" y="395"/>
                </a:cubicBezTo>
                <a:cubicBezTo>
                  <a:pt x="184" y="395"/>
                  <a:pt x="172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2" y="1"/>
                  <a:pt x="184" y="0"/>
                  <a:pt x="197" y="0"/>
                </a:cubicBezTo>
                <a:cubicBezTo>
                  <a:pt x="211" y="0"/>
                  <a:pt x="224" y="1"/>
                  <a:pt x="237" y="4"/>
                </a:cubicBezTo>
                <a:cubicBezTo>
                  <a:pt x="250" y="6"/>
                  <a:pt x="262" y="10"/>
                  <a:pt x="274" y="15"/>
                </a:cubicBezTo>
                <a:cubicBezTo>
                  <a:pt x="286" y="20"/>
                  <a:pt x="297" y="26"/>
                  <a:pt x="308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5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89" y="147"/>
                  <a:pt x="392" y="160"/>
                </a:cubicBezTo>
                <a:cubicBezTo>
                  <a:pt x="394" y="172"/>
                  <a:pt x="396" y="185"/>
                  <a:pt x="396" y="198"/>
                </a:cubicBezTo>
              </a:path>
            </a:pathLst>
          </a:custGeom>
          <a:ln w="24840">
            <a:solidFill>
              <a:srgbClr val="1C3F94"/>
            </a:solidFill>
            <a:miter/>
          </a:ln>
        </p:spPr>
        <p:txBody>
          <a:bodyPr lIns="12240" tIns="12240" rIns="12240" bIns="122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Freeform 1631"/>
          <p:cNvSpPr/>
          <p:nvPr/>
        </p:nvSpPr>
        <p:spPr>
          <a:xfrm>
            <a:off x="282024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>
                <a:moveTo>
                  <a:pt x="396" y="198"/>
                </a:moveTo>
                <a:cubicBezTo>
                  <a:pt x="396" y="211"/>
                  <a:pt x="394" y="224"/>
                  <a:pt x="392" y="237"/>
                </a:cubicBezTo>
                <a:cubicBezTo>
                  <a:pt x="389" y="249"/>
                  <a:pt x="385" y="262"/>
                  <a:pt x="381" y="274"/>
                </a:cubicBezTo>
                <a:cubicBezTo>
                  <a:pt x="376" y="286"/>
                  <a:pt x="369" y="297"/>
                  <a:pt x="362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9" y="347"/>
                  <a:pt x="319" y="355"/>
                  <a:pt x="308" y="362"/>
                </a:cubicBezTo>
                <a:cubicBezTo>
                  <a:pt x="297" y="369"/>
                  <a:pt x="286" y="375"/>
                  <a:pt x="274" y="380"/>
                </a:cubicBezTo>
                <a:cubicBezTo>
                  <a:pt x="262" y="385"/>
                  <a:pt x="249" y="389"/>
                  <a:pt x="236" y="392"/>
                </a:cubicBezTo>
                <a:cubicBezTo>
                  <a:pt x="223" y="394"/>
                  <a:pt x="210" y="395"/>
                  <a:pt x="197" y="395"/>
                </a:cubicBezTo>
                <a:cubicBezTo>
                  <a:pt x="184" y="395"/>
                  <a:pt x="171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8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0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8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1" y="1"/>
                  <a:pt x="184" y="0"/>
                  <a:pt x="197" y="0"/>
                </a:cubicBezTo>
                <a:cubicBezTo>
                  <a:pt x="210" y="0"/>
                  <a:pt x="223" y="1"/>
                  <a:pt x="236" y="4"/>
                </a:cubicBezTo>
                <a:cubicBezTo>
                  <a:pt x="249" y="6"/>
                  <a:pt x="262" y="10"/>
                  <a:pt x="274" y="15"/>
                </a:cubicBezTo>
                <a:cubicBezTo>
                  <a:pt x="286" y="20"/>
                  <a:pt x="297" y="26"/>
                  <a:pt x="308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5" y="78"/>
                  <a:pt x="362" y="88"/>
                </a:cubicBezTo>
                <a:cubicBezTo>
                  <a:pt x="369" y="99"/>
                  <a:pt x="376" y="111"/>
                  <a:pt x="381" y="123"/>
                </a:cubicBezTo>
                <a:cubicBezTo>
                  <a:pt x="385" y="135"/>
                  <a:pt x="389" y="147"/>
                  <a:pt x="392" y="160"/>
                </a:cubicBezTo>
                <a:cubicBezTo>
                  <a:pt x="394" y="172"/>
                  <a:pt x="396" y="185"/>
                  <a:pt x="396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Freeform 1632"/>
          <p:cNvSpPr/>
          <p:nvPr/>
        </p:nvSpPr>
        <p:spPr>
          <a:xfrm>
            <a:off x="282024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 fill="none">
                <a:moveTo>
                  <a:pt x="396" y="198"/>
                </a:moveTo>
                <a:cubicBezTo>
                  <a:pt x="396" y="211"/>
                  <a:pt x="394" y="224"/>
                  <a:pt x="392" y="237"/>
                </a:cubicBezTo>
                <a:cubicBezTo>
                  <a:pt x="389" y="249"/>
                  <a:pt x="385" y="262"/>
                  <a:pt x="381" y="274"/>
                </a:cubicBezTo>
                <a:cubicBezTo>
                  <a:pt x="376" y="286"/>
                  <a:pt x="369" y="297"/>
                  <a:pt x="362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9" y="347"/>
                  <a:pt x="319" y="355"/>
                  <a:pt x="308" y="362"/>
                </a:cubicBezTo>
                <a:cubicBezTo>
                  <a:pt x="297" y="369"/>
                  <a:pt x="286" y="375"/>
                  <a:pt x="274" y="380"/>
                </a:cubicBezTo>
                <a:cubicBezTo>
                  <a:pt x="262" y="385"/>
                  <a:pt x="249" y="389"/>
                  <a:pt x="236" y="392"/>
                </a:cubicBezTo>
                <a:cubicBezTo>
                  <a:pt x="223" y="394"/>
                  <a:pt x="210" y="395"/>
                  <a:pt x="197" y="395"/>
                </a:cubicBezTo>
                <a:cubicBezTo>
                  <a:pt x="184" y="395"/>
                  <a:pt x="171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8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0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8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1" y="1"/>
                  <a:pt x="184" y="0"/>
                  <a:pt x="197" y="0"/>
                </a:cubicBezTo>
                <a:cubicBezTo>
                  <a:pt x="210" y="0"/>
                  <a:pt x="223" y="1"/>
                  <a:pt x="236" y="4"/>
                </a:cubicBezTo>
                <a:cubicBezTo>
                  <a:pt x="249" y="6"/>
                  <a:pt x="262" y="10"/>
                  <a:pt x="274" y="15"/>
                </a:cubicBezTo>
                <a:cubicBezTo>
                  <a:pt x="286" y="20"/>
                  <a:pt x="297" y="26"/>
                  <a:pt x="308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5" y="78"/>
                  <a:pt x="362" y="88"/>
                </a:cubicBezTo>
                <a:cubicBezTo>
                  <a:pt x="369" y="99"/>
                  <a:pt x="376" y="111"/>
                  <a:pt x="381" y="123"/>
                </a:cubicBezTo>
                <a:cubicBezTo>
                  <a:pt x="385" y="135"/>
                  <a:pt x="389" y="147"/>
                  <a:pt x="392" y="160"/>
                </a:cubicBezTo>
                <a:cubicBezTo>
                  <a:pt x="394" y="172"/>
                  <a:pt x="396" y="185"/>
                  <a:pt x="396" y="198"/>
                </a:cubicBezTo>
              </a:path>
            </a:pathLst>
          </a:custGeom>
          <a:ln w="24840">
            <a:solidFill>
              <a:srgbClr val="008080"/>
            </a:solidFill>
            <a:miter/>
          </a:ln>
        </p:spPr>
        <p:txBody>
          <a:bodyPr lIns="12240" tIns="12240" rIns="12240" bIns="122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Freeform 1633"/>
          <p:cNvSpPr/>
          <p:nvPr/>
        </p:nvSpPr>
        <p:spPr>
          <a:xfrm>
            <a:off x="5360760" y="1048680"/>
            <a:ext cx="142200" cy="142200"/>
          </a:xfrm>
          <a:custGeom>
            <a:avLst/>
            <a:gdLst/>
            <a:ahLst/>
            <a:cxnLst/>
            <a:rect l="0" t="0" r="r" b="b"/>
            <a:pathLst>
              <a:path w="395" h="395">
                <a:moveTo>
                  <a:pt x="395" y="198"/>
                </a:moveTo>
                <a:cubicBezTo>
                  <a:pt x="395" y="211"/>
                  <a:pt x="394" y="224"/>
                  <a:pt x="392" y="237"/>
                </a:cubicBezTo>
                <a:cubicBezTo>
                  <a:pt x="389" y="249"/>
                  <a:pt x="385" y="262"/>
                  <a:pt x="380" y="274"/>
                </a:cubicBezTo>
                <a:cubicBezTo>
                  <a:pt x="375" y="286"/>
                  <a:pt x="369" y="297"/>
                  <a:pt x="362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8" y="347"/>
                  <a:pt x="318" y="355"/>
                  <a:pt x="308" y="362"/>
                </a:cubicBezTo>
                <a:cubicBezTo>
                  <a:pt x="297" y="369"/>
                  <a:pt x="285" y="375"/>
                  <a:pt x="272" y="380"/>
                </a:cubicBezTo>
                <a:cubicBezTo>
                  <a:pt x="261" y="385"/>
                  <a:pt x="248" y="389"/>
                  <a:pt x="235" y="392"/>
                </a:cubicBezTo>
                <a:cubicBezTo>
                  <a:pt x="223" y="394"/>
                  <a:pt x="210" y="395"/>
                  <a:pt x="197" y="395"/>
                </a:cubicBezTo>
                <a:cubicBezTo>
                  <a:pt x="184" y="395"/>
                  <a:pt x="171" y="394"/>
                  <a:pt x="158" y="392"/>
                </a:cubicBezTo>
                <a:cubicBezTo>
                  <a:pt x="146" y="389"/>
                  <a:pt x="133" y="385"/>
                  <a:pt x="121" y="380"/>
                </a:cubicBezTo>
                <a:cubicBezTo>
                  <a:pt x="110" y="375"/>
                  <a:pt x="98" y="369"/>
                  <a:pt x="87" y="362"/>
                </a:cubicBezTo>
                <a:cubicBezTo>
                  <a:pt x="77" y="355"/>
                  <a:pt x="67" y="347"/>
                  <a:pt x="57" y="338"/>
                </a:cubicBezTo>
                <a:cubicBezTo>
                  <a:pt x="48" y="328"/>
                  <a:pt x="40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3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8" y="68"/>
                  <a:pt x="57" y="59"/>
                </a:cubicBezTo>
                <a:cubicBezTo>
                  <a:pt x="67" y="49"/>
                  <a:pt x="77" y="40"/>
                  <a:pt x="87" y="33"/>
                </a:cubicBezTo>
                <a:cubicBezTo>
                  <a:pt x="98" y="26"/>
                  <a:pt x="110" y="20"/>
                  <a:pt x="121" y="15"/>
                </a:cubicBezTo>
                <a:cubicBezTo>
                  <a:pt x="133" y="10"/>
                  <a:pt x="146" y="6"/>
                  <a:pt x="158" y="4"/>
                </a:cubicBezTo>
                <a:cubicBezTo>
                  <a:pt x="171" y="1"/>
                  <a:pt x="184" y="0"/>
                  <a:pt x="197" y="0"/>
                </a:cubicBezTo>
                <a:cubicBezTo>
                  <a:pt x="210" y="0"/>
                  <a:pt x="223" y="1"/>
                  <a:pt x="235" y="4"/>
                </a:cubicBezTo>
                <a:cubicBezTo>
                  <a:pt x="248" y="6"/>
                  <a:pt x="261" y="10"/>
                  <a:pt x="272" y="15"/>
                </a:cubicBezTo>
                <a:cubicBezTo>
                  <a:pt x="285" y="20"/>
                  <a:pt x="297" y="26"/>
                  <a:pt x="308" y="33"/>
                </a:cubicBezTo>
                <a:cubicBezTo>
                  <a:pt x="318" y="40"/>
                  <a:pt x="328" y="49"/>
                  <a:pt x="338" y="59"/>
                </a:cubicBezTo>
                <a:cubicBezTo>
                  <a:pt x="347" y="68"/>
                  <a:pt x="355" y="78"/>
                  <a:pt x="362" y="88"/>
                </a:cubicBezTo>
                <a:cubicBezTo>
                  <a:pt x="369" y="99"/>
                  <a:pt x="375" y="111"/>
                  <a:pt x="380" y="123"/>
                </a:cubicBezTo>
                <a:cubicBezTo>
                  <a:pt x="385" y="135"/>
                  <a:pt x="389" y="147"/>
                  <a:pt x="392" y="160"/>
                </a:cubicBezTo>
                <a:cubicBezTo>
                  <a:pt x="394" y="172"/>
                  <a:pt x="395" y="185"/>
                  <a:pt x="395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Freeform 1634"/>
          <p:cNvSpPr/>
          <p:nvPr/>
        </p:nvSpPr>
        <p:spPr>
          <a:xfrm>
            <a:off x="5360760" y="1048680"/>
            <a:ext cx="142200" cy="142200"/>
          </a:xfrm>
          <a:custGeom>
            <a:avLst/>
            <a:gdLst/>
            <a:ahLst/>
            <a:cxnLst/>
            <a:rect l="0" t="0" r="r" b="b"/>
            <a:pathLst>
              <a:path w="395" h="395" fill="none">
                <a:moveTo>
                  <a:pt x="395" y="198"/>
                </a:moveTo>
                <a:cubicBezTo>
                  <a:pt x="395" y="211"/>
                  <a:pt x="394" y="224"/>
                  <a:pt x="392" y="237"/>
                </a:cubicBezTo>
                <a:cubicBezTo>
                  <a:pt x="389" y="249"/>
                  <a:pt x="385" y="262"/>
                  <a:pt x="380" y="274"/>
                </a:cubicBezTo>
                <a:cubicBezTo>
                  <a:pt x="375" y="286"/>
                  <a:pt x="369" y="297"/>
                  <a:pt x="362" y="308"/>
                </a:cubicBezTo>
                <a:cubicBezTo>
                  <a:pt x="355" y="318"/>
                  <a:pt x="347" y="328"/>
                  <a:pt x="338" y="338"/>
                </a:cubicBezTo>
                <a:cubicBezTo>
                  <a:pt x="328" y="347"/>
                  <a:pt x="318" y="355"/>
                  <a:pt x="308" y="362"/>
                </a:cubicBezTo>
                <a:cubicBezTo>
                  <a:pt x="297" y="369"/>
                  <a:pt x="285" y="375"/>
                  <a:pt x="272" y="380"/>
                </a:cubicBezTo>
                <a:cubicBezTo>
                  <a:pt x="261" y="385"/>
                  <a:pt x="248" y="389"/>
                  <a:pt x="235" y="392"/>
                </a:cubicBezTo>
                <a:cubicBezTo>
                  <a:pt x="223" y="394"/>
                  <a:pt x="210" y="395"/>
                  <a:pt x="197" y="395"/>
                </a:cubicBezTo>
                <a:cubicBezTo>
                  <a:pt x="184" y="395"/>
                  <a:pt x="171" y="394"/>
                  <a:pt x="158" y="392"/>
                </a:cubicBezTo>
                <a:cubicBezTo>
                  <a:pt x="146" y="389"/>
                  <a:pt x="133" y="385"/>
                  <a:pt x="121" y="380"/>
                </a:cubicBezTo>
                <a:cubicBezTo>
                  <a:pt x="110" y="375"/>
                  <a:pt x="98" y="369"/>
                  <a:pt x="87" y="362"/>
                </a:cubicBezTo>
                <a:cubicBezTo>
                  <a:pt x="77" y="355"/>
                  <a:pt x="67" y="347"/>
                  <a:pt x="57" y="338"/>
                </a:cubicBezTo>
                <a:cubicBezTo>
                  <a:pt x="48" y="328"/>
                  <a:pt x="40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6" y="249"/>
                  <a:pt x="3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8" y="68"/>
                  <a:pt x="57" y="59"/>
                </a:cubicBezTo>
                <a:cubicBezTo>
                  <a:pt x="67" y="49"/>
                  <a:pt x="77" y="40"/>
                  <a:pt x="87" y="33"/>
                </a:cubicBezTo>
                <a:cubicBezTo>
                  <a:pt x="98" y="26"/>
                  <a:pt x="110" y="20"/>
                  <a:pt x="121" y="15"/>
                </a:cubicBezTo>
                <a:cubicBezTo>
                  <a:pt x="133" y="10"/>
                  <a:pt x="146" y="6"/>
                  <a:pt x="158" y="4"/>
                </a:cubicBezTo>
                <a:cubicBezTo>
                  <a:pt x="171" y="1"/>
                  <a:pt x="184" y="0"/>
                  <a:pt x="197" y="0"/>
                </a:cubicBezTo>
                <a:cubicBezTo>
                  <a:pt x="210" y="0"/>
                  <a:pt x="223" y="1"/>
                  <a:pt x="235" y="4"/>
                </a:cubicBezTo>
                <a:cubicBezTo>
                  <a:pt x="248" y="6"/>
                  <a:pt x="261" y="10"/>
                  <a:pt x="272" y="15"/>
                </a:cubicBezTo>
                <a:cubicBezTo>
                  <a:pt x="285" y="20"/>
                  <a:pt x="297" y="26"/>
                  <a:pt x="308" y="33"/>
                </a:cubicBezTo>
                <a:cubicBezTo>
                  <a:pt x="318" y="40"/>
                  <a:pt x="328" y="49"/>
                  <a:pt x="338" y="59"/>
                </a:cubicBezTo>
                <a:cubicBezTo>
                  <a:pt x="347" y="68"/>
                  <a:pt x="355" y="78"/>
                  <a:pt x="362" y="88"/>
                </a:cubicBezTo>
                <a:cubicBezTo>
                  <a:pt x="369" y="99"/>
                  <a:pt x="375" y="111"/>
                  <a:pt x="380" y="123"/>
                </a:cubicBezTo>
                <a:cubicBezTo>
                  <a:pt x="385" y="135"/>
                  <a:pt x="389" y="147"/>
                  <a:pt x="392" y="160"/>
                </a:cubicBezTo>
                <a:cubicBezTo>
                  <a:pt x="394" y="172"/>
                  <a:pt x="395" y="185"/>
                  <a:pt x="395" y="198"/>
                </a:cubicBezTo>
              </a:path>
            </a:pathLst>
          </a:custGeom>
          <a:ln w="24840">
            <a:solidFill>
              <a:srgbClr val="008080"/>
            </a:solidFill>
            <a:miter/>
          </a:ln>
        </p:spPr>
        <p:txBody>
          <a:bodyPr lIns="12240" tIns="12240" rIns="12240" bIns="122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Freeform 1635"/>
          <p:cNvSpPr/>
          <p:nvPr/>
        </p:nvSpPr>
        <p:spPr>
          <a:xfrm>
            <a:off x="790092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>
                <a:moveTo>
                  <a:pt x="396" y="198"/>
                </a:moveTo>
                <a:cubicBezTo>
                  <a:pt x="396" y="211"/>
                  <a:pt x="395" y="224"/>
                  <a:pt x="392" y="237"/>
                </a:cubicBezTo>
                <a:cubicBezTo>
                  <a:pt x="390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6" y="318"/>
                  <a:pt x="347" y="328"/>
                  <a:pt x="338" y="338"/>
                </a:cubicBezTo>
                <a:cubicBezTo>
                  <a:pt x="329" y="347"/>
                  <a:pt x="319" y="355"/>
                  <a:pt x="307" y="362"/>
                </a:cubicBezTo>
                <a:cubicBezTo>
                  <a:pt x="297" y="369"/>
                  <a:pt x="285" y="375"/>
                  <a:pt x="273" y="380"/>
                </a:cubicBezTo>
                <a:cubicBezTo>
                  <a:pt x="261" y="385"/>
                  <a:pt x="249" y="389"/>
                  <a:pt x="236" y="392"/>
                </a:cubicBezTo>
                <a:cubicBezTo>
                  <a:pt x="224" y="394"/>
                  <a:pt x="211" y="395"/>
                  <a:pt x="198" y="395"/>
                </a:cubicBezTo>
                <a:cubicBezTo>
                  <a:pt x="185" y="395"/>
                  <a:pt x="172" y="394"/>
                  <a:pt x="159" y="392"/>
                </a:cubicBezTo>
                <a:cubicBezTo>
                  <a:pt x="147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4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1" y="262"/>
                  <a:pt x="7" y="249"/>
                  <a:pt x="4" y="237"/>
                </a:cubicBezTo>
                <a:cubicBezTo>
                  <a:pt x="2" y="224"/>
                  <a:pt x="0" y="211"/>
                  <a:pt x="0" y="198"/>
                </a:cubicBez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cubicBezTo>
                  <a:pt x="211" y="0"/>
                  <a:pt x="224" y="1"/>
                  <a:pt x="236" y="4"/>
                </a:cubicBezTo>
                <a:cubicBezTo>
                  <a:pt x="249" y="6"/>
                  <a:pt x="261" y="10"/>
                  <a:pt x="273" y="15"/>
                </a:cubicBezTo>
                <a:cubicBezTo>
                  <a:pt x="285" y="20"/>
                  <a:pt x="297" y="26"/>
                  <a:pt x="307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6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90" y="147"/>
                  <a:pt x="392" y="160"/>
                </a:cubicBezTo>
                <a:cubicBezTo>
                  <a:pt x="395" y="172"/>
                  <a:pt x="396" y="185"/>
                  <a:pt x="396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Freeform 1636"/>
          <p:cNvSpPr/>
          <p:nvPr/>
        </p:nvSpPr>
        <p:spPr>
          <a:xfrm>
            <a:off x="790092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 fill="none">
                <a:moveTo>
                  <a:pt x="396" y="198"/>
                </a:moveTo>
                <a:cubicBezTo>
                  <a:pt x="396" y="211"/>
                  <a:pt x="395" y="224"/>
                  <a:pt x="392" y="237"/>
                </a:cubicBezTo>
                <a:cubicBezTo>
                  <a:pt x="390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6" y="318"/>
                  <a:pt x="347" y="328"/>
                  <a:pt x="338" y="338"/>
                </a:cubicBezTo>
                <a:cubicBezTo>
                  <a:pt x="329" y="347"/>
                  <a:pt x="319" y="355"/>
                  <a:pt x="307" y="362"/>
                </a:cubicBezTo>
                <a:cubicBezTo>
                  <a:pt x="297" y="369"/>
                  <a:pt x="285" y="375"/>
                  <a:pt x="273" y="380"/>
                </a:cubicBezTo>
                <a:cubicBezTo>
                  <a:pt x="261" y="385"/>
                  <a:pt x="249" y="389"/>
                  <a:pt x="236" y="392"/>
                </a:cubicBezTo>
                <a:cubicBezTo>
                  <a:pt x="224" y="394"/>
                  <a:pt x="211" y="395"/>
                  <a:pt x="198" y="395"/>
                </a:cubicBezTo>
                <a:cubicBezTo>
                  <a:pt x="185" y="395"/>
                  <a:pt x="172" y="394"/>
                  <a:pt x="159" y="392"/>
                </a:cubicBezTo>
                <a:cubicBezTo>
                  <a:pt x="147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4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1" y="262"/>
                  <a:pt x="7" y="249"/>
                  <a:pt x="4" y="237"/>
                </a:cubicBezTo>
                <a:cubicBezTo>
                  <a:pt x="2" y="224"/>
                  <a:pt x="0" y="211"/>
                  <a:pt x="0" y="198"/>
                </a:cubicBez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cubicBezTo>
                  <a:pt x="211" y="0"/>
                  <a:pt x="224" y="1"/>
                  <a:pt x="236" y="4"/>
                </a:cubicBezTo>
                <a:cubicBezTo>
                  <a:pt x="249" y="6"/>
                  <a:pt x="261" y="10"/>
                  <a:pt x="273" y="15"/>
                </a:cubicBezTo>
                <a:cubicBezTo>
                  <a:pt x="285" y="20"/>
                  <a:pt x="297" y="26"/>
                  <a:pt x="307" y="33"/>
                </a:cubicBezTo>
                <a:cubicBezTo>
                  <a:pt x="319" y="40"/>
                  <a:pt x="329" y="49"/>
                  <a:pt x="338" y="59"/>
                </a:cubicBezTo>
                <a:cubicBezTo>
                  <a:pt x="347" y="68"/>
                  <a:pt x="356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90" y="147"/>
                  <a:pt x="392" y="160"/>
                </a:cubicBezTo>
                <a:cubicBezTo>
                  <a:pt x="395" y="172"/>
                  <a:pt x="396" y="185"/>
                  <a:pt x="396" y="198"/>
                </a:cubicBezTo>
              </a:path>
            </a:pathLst>
          </a:custGeom>
          <a:ln w="24840">
            <a:solidFill>
              <a:srgbClr val="FFA500"/>
            </a:solidFill>
            <a:miter/>
          </a:ln>
        </p:spPr>
        <p:txBody>
          <a:bodyPr lIns="12240" tIns="12240" rIns="12240" bIns="122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Freeform 1637"/>
          <p:cNvSpPr/>
          <p:nvPr/>
        </p:nvSpPr>
        <p:spPr>
          <a:xfrm>
            <a:off x="1044144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>
                <a:moveTo>
                  <a:pt x="396" y="198"/>
                </a:moveTo>
                <a:cubicBezTo>
                  <a:pt x="396" y="211"/>
                  <a:pt x="395" y="224"/>
                  <a:pt x="392" y="237"/>
                </a:cubicBezTo>
                <a:cubicBezTo>
                  <a:pt x="390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5" y="318"/>
                  <a:pt x="346" y="328"/>
                  <a:pt x="337" y="338"/>
                </a:cubicBezTo>
                <a:cubicBezTo>
                  <a:pt x="328" y="347"/>
                  <a:pt x="318" y="355"/>
                  <a:pt x="307" y="362"/>
                </a:cubicBezTo>
                <a:cubicBezTo>
                  <a:pt x="296" y="369"/>
                  <a:pt x="285" y="375"/>
                  <a:pt x="273" y="380"/>
                </a:cubicBezTo>
                <a:cubicBezTo>
                  <a:pt x="261" y="385"/>
                  <a:pt x="249" y="389"/>
                  <a:pt x="236" y="392"/>
                </a:cubicBezTo>
                <a:cubicBezTo>
                  <a:pt x="223" y="394"/>
                  <a:pt x="210" y="395"/>
                  <a:pt x="198" y="395"/>
                </a:cubicBezTo>
                <a:cubicBezTo>
                  <a:pt x="185" y="395"/>
                  <a:pt x="172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7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cubicBezTo>
                  <a:pt x="210" y="0"/>
                  <a:pt x="223" y="1"/>
                  <a:pt x="236" y="4"/>
                </a:cubicBezTo>
                <a:cubicBezTo>
                  <a:pt x="249" y="6"/>
                  <a:pt x="261" y="10"/>
                  <a:pt x="273" y="15"/>
                </a:cubicBezTo>
                <a:cubicBezTo>
                  <a:pt x="285" y="20"/>
                  <a:pt x="296" y="26"/>
                  <a:pt x="307" y="33"/>
                </a:cubicBezTo>
                <a:cubicBezTo>
                  <a:pt x="318" y="40"/>
                  <a:pt x="328" y="49"/>
                  <a:pt x="337" y="59"/>
                </a:cubicBezTo>
                <a:cubicBezTo>
                  <a:pt x="346" y="68"/>
                  <a:pt x="355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90" y="147"/>
                  <a:pt x="392" y="160"/>
                </a:cubicBezTo>
                <a:cubicBezTo>
                  <a:pt x="395" y="172"/>
                  <a:pt x="396" y="185"/>
                  <a:pt x="396" y="1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Freeform 1638"/>
          <p:cNvSpPr/>
          <p:nvPr/>
        </p:nvSpPr>
        <p:spPr>
          <a:xfrm>
            <a:off x="10441440" y="1048680"/>
            <a:ext cx="142560" cy="142200"/>
          </a:xfrm>
          <a:custGeom>
            <a:avLst/>
            <a:gdLst/>
            <a:ahLst/>
            <a:cxnLst/>
            <a:rect l="0" t="0" r="r" b="b"/>
            <a:pathLst>
              <a:path w="396" h="395" fill="none">
                <a:moveTo>
                  <a:pt x="396" y="198"/>
                </a:moveTo>
                <a:cubicBezTo>
                  <a:pt x="396" y="211"/>
                  <a:pt x="395" y="224"/>
                  <a:pt x="392" y="237"/>
                </a:cubicBezTo>
                <a:cubicBezTo>
                  <a:pt x="390" y="249"/>
                  <a:pt x="386" y="262"/>
                  <a:pt x="381" y="274"/>
                </a:cubicBezTo>
                <a:cubicBezTo>
                  <a:pt x="376" y="286"/>
                  <a:pt x="370" y="297"/>
                  <a:pt x="363" y="308"/>
                </a:cubicBezTo>
                <a:cubicBezTo>
                  <a:pt x="355" y="318"/>
                  <a:pt x="346" y="328"/>
                  <a:pt x="337" y="338"/>
                </a:cubicBezTo>
                <a:cubicBezTo>
                  <a:pt x="328" y="347"/>
                  <a:pt x="318" y="355"/>
                  <a:pt x="307" y="362"/>
                </a:cubicBezTo>
                <a:cubicBezTo>
                  <a:pt x="296" y="369"/>
                  <a:pt x="285" y="375"/>
                  <a:pt x="273" y="380"/>
                </a:cubicBezTo>
                <a:cubicBezTo>
                  <a:pt x="261" y="385"/>
                  <a:pt x="249" y="389"/>
                  <a:pt x="236" y="392"/>
                </a:cubicBezTo>
                <a:cubicBezTo>
                  <a:pt x="223" y="394"/>
                  <a:pt x="210" y="395"/>
                  <a:pt x="198" y="395"/>
                </a:cubicBezTo>
                <a:cubicBezTo>
                  <a:pt x="185" y="395"/>
                  <a:pt x="172" y="394"/>
                  <a:pt x="159" y="392"/>
                </a:cubicBezTo>
                <a:cubicBezTo>
                  <a:pt x="146" y="389"/>
                  <a:pt x="134" y="385"/>
                  <a:pt x="122" y="380"/>
                </a:cubicBezTo>
                <a:cubicBezTo>
                  <a:pt x="110" y="375"/>
                  <a:pt x="99" y="369"/>
                  <a:pt x="88" y="362"/>
                </a:cubicBezTo>
                <a:cubicBezTo>
                  <a:pt x="77" y="355"/>
                  <a:pt x="67" y="347"/>
                  <a:pt x="58" y="338"/>
                </a:cubicBezTo>
                <a:cubicBezTo>
                  <a:pt x="49" y="328"/>
                  <a:pt x="41" y="318"/>
                  <a:pt x="33" y="308"/>
                </a:cubicBezTo>
                <a:cubicBezTo>
                  <a:pt x="26" y="297"/>
                  <a:pt x="20" y="286"/>
                  <a:pt x="15" y="274"/>
                </a:cubicBezTo>
                <a:cubicBezTo>
                  <a:pt x="10" y="262"/>
                  <a:pt x="7" y="249"/>
                  <a:pt x="4" y="237"/>
                </a:cubicBezTo>
                <a:cubicBezTo>
                  <a:pt x="1" y="224"/>
                  <a:pt x="0" y="211"/>
                  <a:pt x="0" y="198"/>
                </a:cubicBezTo>
                <a:cubicBezTo>
                  <a:pt x="0" y="185"/>
                  <a:pt x="1" y="172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6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cubicBezTo>
                  <a:pt x="210" y="0"/>
                  <a:pt x="223" y="1"/>
                  <a:pt x="236" y="4"/>
                </a:cubicBezTo>
                <a:cubicBezTo>
                  <a:pt x="249" y="6"/>
                  <a:pt x="261" y="10"/>
                  <a:pt x="273" y="15"/>
                </a:cubicBezTo>
                <a:cubicBezTo>
                  <a:pt x="285" y="20"/>
                  <a:pt x="296" y="26"/>
                  <a:pt x="307" y="33"/>
                </a:cubicBezTo>
                <a:cubicBezTo>
                  <a:pt x="318" y="40"/>
                  <a:pt x="328" y="49"/>
                  <a:pt x="337" y="59"/>
                </a:cubicBezTo>
                <a:cubicBezTo>
                  <a:pt x="346" y="68"/>
                  <a:pt x="355" y="78"/>
                  <a:pt x="363" y="88"/>
                </a:cubicBezTo>
                <a:cubicBezTo>
                  <a:pt x="370" y="99"/>
                  <a:pt x="376" y="111"/>
                  <a:pt x="381" y="123"/>
                </a:cubicBezTo>
                <a:cubicBezTo>
                  <a:pt x="386" y="135"/>
                  <a:pt x="390" y="147"/>
                  <a:pt x="392" y="160"/>
                </a:cubicBezTo>
                <a:cubicBezTo>
                  <a:pt x="395" y="172"/>
                  <a:pt x="396" y="185"/>
                  <a:pt x="396" y="198"/>
                </a:cubicBezTo>
              </a:path>
            </a:pathLst>
          </a:custGeom>
          <a:ln w="24840">
            <a:solidFill>
              <a:srgbClr val="FF8C00"/>
            </a:solidFill>
            <a:miter/>
          </a:ln>
        </p:spPr>
        <p:txBody>
          <a:bodyPr lIns="12240" tIns="12240" rIns="12240" bIns="122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TextBox 1639"/>
          <p:cNvSpPr txBox="1"/>
          <p:nvPr/>
        </p:nvSpPr>
        <p:spPr>
          <a:xfrm>
            <a:off x="10025640" y="57006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20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1" name="Picture 1640"/>
          <p:cNvPicPr/>
          <p:nvPr/>
        </p:nvPicPr>
        <p:blipFill>
          <a:blip r:embed="rId2"/>
          <a:stretch/>
        </p:blipFill>
        <p:spPr>
          <a:xfrm>
            <a:off x="0" y="305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2" name="Picture 1641"/>
          <p:cNvPicPr/>
          <p:nvPr/>
        </p:nvPicPr>
        <p:blipFill>
          <a:blip r:embed="rId3"/>
          <a:stretch/>
        </p:blipFill>
        <p:spPr>
          <a:xfrm>
            <a:off x="0" y="0"/>
            <a:ext cx="10696320" cy="5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3" name="Freeform 1642"/>
          <p:cNvSpPr/>
          <p:nvPr/>
        </p:nvSpPr>
        <p:spPr>
          <a:xfrm>
            <a:off x="4813200" y="1236600"/>
            <a:ext cx="1069920" cy="33840"/>
          </a:xfrm>
          <a:custGeom>
            <a:avLst/>
            <a:gdLst/>
            <a:ahLst/>
            <a:cxnLst/>
            <a:rect l="0" t="0" r="r" b="b"/>
            <a:pathLst>
              <a:path w="2972" h="94">
                <a:moveTo>
                  <a:pt x="0" y="0"/>
                </a:moveTo>
                <a:lnTo>
                  <a:pt x="2972" y="0"/>
                </a:lnTo>
                <a:lnTo>
                  <a:pt x="2972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44" name="Picture 1643"/>
          <p:cNvPicPr/>
          <p:nvPr/>
        </p:nvPicPr>
        <p:blipFill>
          <a:blip r:embed="rId4"/>
          <a:stretch/>
        </p:blipFill>
        <p:spPr>
          <a:xfrm>
            <a:off x="376200" y="4479120"/>
            <a:ext cx="99860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5" name="Freeform 1644"/>
          <p:cNvSpPr/>
          <p:nvPr/>
        </p:nvSpPr>
        <p:spPr>
          <a:xfrm>
            <a:off x="334080" y="4479120"/>
            <a:ext cx="42120" cy="1103400"/>
          </a:xfrm>
          <a:custGeom>
            <a:avLst/>
            <a:gdLst/>
            <a:ahLst/>
            <a:cxnLst/>
            <a:rect l="0" t="0" r="r" b="b"/>
            <a:pathLst>
              <a:path w="117" h="3065">
                <a:moveTo>
                  <a:pt x="0" y="0"/>
                </a:moveTo>
                <a:lnTo>
                  <a:pt x="117" y="0"/>
                </a:lnTo>
                <a:lnTo>
                  <a:pt x="117" y="3065"/>
                </a:lnTo>
                <a:lnTo>
                  <a:pt x="0" y="3065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TextBox 1645"/>
          <p:cNvSpPr txBox="1"/>
          <p:nvPr/>
        </p:nvSpPr>
        <p:spPr>
          <a:xfrm>
            <a:off x="334440" y="135000"/>
            <a:ext cx="2181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Key Takeaways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Freeform 1646"/>
          <p:cNvSpPr/>
          <p:nvPr/>
        </p:nvSpPr>
        <p:spPr>
          <a:xfrm>
            <a:off x="354960" y="1537560"/>
            <a:ext cx="4893120" cy="1236960"/>
          </a:xfrm>
          <a:custGeom>
            <a:avLst/>
            <a:gdLst/>
            <a:ahLst/>
            <a:cxnLst/>
            <a:rect l="0" t="0" r="r" b="b"/>
            <a:pathLst>
              <a:path w="13592" h="3436">
                <a:moveTo>
                  <a:pt x="0" y="3251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3" y="103"/>
                  <a:pt x="17" y="92"/>
                  <a:pt x="22" y="82"/>
                </a:cubicBezTo>
                <a:cubicBezTo>
                  <a:pt x="26" y="72"/>
                  <a:pt x="32" y="63"/>
                  <a:pt x="37" y="54"/>
                </a:cubicBezTo>
                <a:cubicBezTo>
                  <a:pt x="43" y="45"/>
                  <a:pt x="50" y="38"/>
                  <a:pt x="57" y="31"/>
                </a:cubicBezTo>
                <a:cubicBezTo>
                  <a:pt x="64" y="24"/>
                  <a:pt x="71" y="19"/>
                  <a:pt x="79" y="14"/>
                </a:cubicBezTo>
                <a:cubicBezTo>
                  <a:pt x="87" y="9"/>
                  <a:pt x="95" y="6"/>
                  <a:pt x="103" y="3"/>
                </a:cubicBezTo>
                <a:cubicBezTo>
                  <a:pt x="111" y="1"/>
                  <a:pt x="119" y="0"/>
                  <a:pt x="128" y="0"/>
                </a:cubicBezTo>
                <a:lnTo>
                  <a:pt x="13407" y="0"/>
                </a:lnTo>
                <a:cubicBezTo>
                  <a:pt x="13419" y="0"/>
                  <a:pt x="13431" y="1"/>
                  <a:pt x="13443" y="3"/>
                </a:cubicBezTo>
                <a:cubicBezTo>
                  <a:pt x="13455" y="6"/>
                  <a:pt x="13466" y="9"/>
                  <a:pt x="13478" y="14"/>
                </a:cubicBezTo>
                <a:cubicBezTo>
                  <a:pt x="13489" y="19"/>
                  <a:pt x="13500" y="24"/>
                  <a:pt x="13510" y="31"/>
                </a:cubicBezTo>
                <a:cubicBezTo>
                  <a:pt x="13520" y="38"/>
                  <a:pt x="13529" y="45"/>
                  <a:pt x="13538" y="54"/>
                </a:cubicBezTo>
                <a:cubicBezTo>
                  <a:pt x="13547" y="63"/>
                  <a:pt x="13554" y="72"/>
                  <a:pt x="13561" y="82"/>
                </a:cubicBezTo>
                <a:cubicBezTo>
                  <a:pt x="13568" y="92"/>
                  <a:pt x="13573" y="103"/>
                  <a:pt x="13578" y="114"/>
                </a:cubicBezTo>
                <a:cubicBezTo>
                  <a:pt x="13583" y="126"/>
                  <a:pt x="13586" y="137"/>
                  <a:pt x="13589" y="149"/>
                </a:cubicBezTo>
                <a:cubicBezTo>
                  <a:pt x="13591" y="161"/>
                  <a:pt x="13592" y="173"/>
                  <a:pt x="13592" y="185"/>
                </a:cubicBezTo>
                <a:lnTo>
                  <a:pt x="13592" y="3251"/>
                </a:lnTo>
                <a:cubicBezTo>
                  <a:pt x="13592" y="3263"/>
                  <a:pt x="13591" y="3275"/>
                  <a:pt x="13589" y="3287"/>
                </a:cubicBezTo>
                <a:cubicBezTo>
                  <a:pt x="13586" y="3299"/>
                  <a:pt x="13583" y="3310"/>
                  <a:pt x="13578" y="3322"/>
                </a:cubicBezTo>
                <a:cubicBezTo>
                  <a:pt x="13573" y="3333"/>
                  <a:pt x="13568" y="3344"/>
                  <a:pt x="13561" y="3354"/>
                </a:cubicBezTo>
                <a:cubicBezTo>
                  <a:pt x="13554" y="3364"/>
                  <a:pt x="13547" y="3373"/>
                  <a:pt x="13538" y="3382"/>
                </a:cubicBezTo>
                <a:cubicBezTo>
                  <a:pt x="13529" y="3390"/>
                  <a:pt x="13520" y="3398"/>
                  <a:pt x="13510" y="3405"/>
                </a:cubicBezTo>
                <a:cubicBezTo>
                  <a:pt x="13500" y="3412"/>
                  <a:pt x="13489" y="3417"/>
                  <a:pt x="13478" y="3422"/>
                </a:cubicBezTo>
                <a:cubicBezTo>
                  <a:pt x="13466" y="3427"/>
                  <a:pt x="13455" y="3430"/>
                  <a:pt x="13443" y="3433"/>
                </a:cubicBezTo>
                <a:cubicBezTo>
                  <a:pt x="13431" y="3435"/>
                  <a:pt x="13419" y="3436"/>
                  <a:pt x="13407" y="3436"/>
                </a:cubicBezTo>
                <a:lnTo>
                  <a:pt x="128" y="3436"/>
                </a:lnTo>
                <a:cubicBezTo>
                  <a:pt x="119" y="3436"/>
                  <a:pt x="111" y="3435"/>
                  <a:pt x="103" y="3433"/>
                </a:cubicBezTo>
                <a:cubicBezTo>
                  <a:pt x="95" y="3430"/>
                  <a:pt x="87" y="3427"/>
                  <a:pt x="79" y="3422"/>
                </a:cubicBezTo>
                <a:cubicBezTo>
                  <a:pt x="71" y="3417"/>
                  <a:pt x="64" y="3412"/>
                  <a:pt x="57" y="3405"/>
                </a:cubicBezTo>
                <a:cubicBezTo>
                  <a:pt x="50" y="3398"/>
                  <a:pt x="43" y="3390"/>
                  <a:pt x="37" y="3382"/>
                </a:cubicBezTo>
                <a:cubicBezTo>
                  <a:pt x="32" y="3373"/>
                  <a:pt x="26" y="3364"/>
                  <a:pt x="22" y="3354"/>
                </a:cubicBezTo>
                <a:cubicBezTo>
                  <a:pt x="17" y="3344"/>
                  <a:pt x="13" y="3333"/>
                  <a:pt x="10" y="3322"/>
                </a:cubicBezTo>
                <a:cubicBezTo>
                  <a:pt x="7" y="3310"/>
                  <a:pt x="4" y="3299"/>
                  <a:pt x="3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Freeform 1647"/>
          <p:cNvSpPr/>
          <p:nvPr/>
        </p:nvSpPr>
        <p:spPr>
          <a:xfrm>
            <a:off x="334080" y="1537560"/>
            <a:ext cx="67320" cy="1236960"/>
          </a:xfrm>
          <a:custGeom>
            <a:avLst/>
            <a:gdLst/>
            <a:ahLst/>
            <a:cxnLst/>
            <a:rect l="0" t="0" r="r" b="b"/>
            <a:pathLst>
              <a:path w="187" h="3436">
                <a:moveTo>
                  <a:pt x="0" y="0"/>
                </a:moveTo>
                <a:lnTo>
                  <a:pt x="187" y="0"/>
                </a:lnTo>
                <a:lnTo>
                  <a:pt x="187" y="3436"/>
                </a:lnTo>
                <a:lnTo>
                  <a:pt x="0" y="343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Freeform 1648"/>
          <p:cNvSpPr/>
          <p:nvPr/>
        </p:nvSpPr>
        <p:spPr>
          <a:xfrm>
            <a:off x="542880" y="1704600"/>
            <a:ext cx="317880" cy="585360"/>
          </a:xfrm>
          <a:custGeom>
            <a:avLst/>
            <a:gdLst/>
            <a:ahLst/>
            <a:cxnLst/>
            <a:rect l="0" t="0" r="r" b="b"/>
            <a:pathLst>
              <a:path w="883" h="1626">
                <a:moveTo>
                  <a:pt x="883" y="812"/>
                </a:moveTo>
                <a:cubicBezTo>
                  <a:pt x="883" y="839"/>
                  <a:pt x="883" y="866"/>
                  <a:pt x="881" y="892"/>
                </a:cubicBezTo>
                <a:cubicBezTo>
                  <a:pt x="880" y="919"/>
                  <a:pt x="878" y="945"/>
                  <a:pt x="875" y="972"/>
                </a:cubicBezTo>
                <a:cubicBezTo>
                  <a:pt x="872" y="998"/>
                  <a:pt x="869" y="1024"/>
                  <a:pt x="864" y="1049"/>
                </a:cubicBezTo>
                <a:cubicBezTo>
                  <a:pt x="860" y="1075"/>
                  <a:pt x="855" y="1100"/>
                  <a:pt x="850" y="1124"/>
                </a:cubicBezTo>
                <a:cubicBezTo>
                  <a:pt x="844" y="1149"/>
                  <a:pt x="838" y="1173"/>
                  <a:pt x="831" y="1196"/>
                </a:cubicBezTo>
                <a:cubicBezTo>
                  <a:pt x="825" y="1220"/>
                  <a:pt x="817" y="1243"/>
                  <a:pt x="809" y="1265"/>
                </a:cubicBezTo>
                <a:cubicBezTo>
                  <a:pt x="801" y="1287"/>
                  <a:pt x="792" y="1308"/>
                  <a:pt x="783" y="1329"/>
                </a:cubicBezTo>
                <a:cubicBezTo>
                  <a:pt x="774" y="1349"/>
                  <a:pt x="764" y="1369"/>
                  <a:pt x="754" y="1388"/>
                </a:cubicBezTo>
                <a:cubicBezTo>
                  <a:pt x="744" y="1407"/>
                  <a:pt x="733" y="1425"/>
                  <a:pt x="722" y="1441"/>
                </a:cubicBezTo>
                <a:cubicBezTo>
                  <a:pt x="711" y="1458"/>
                  <a:pt x="699" y="1474"/>
                  <a:pt x="686" y="1489"/>
                </a:cubicBezTo>
                <a:cubicBezTo>
                  <a:pt x="674" y="1504"/>
                  <a:pt x="662" y="1517"/>
                  <a:pt x="649" y="1530"/>
                </a:cubicBezTo>
                <a:cubicBezTo>
                  <a:pt x="637" y="1542"/>
                  <a:pt x="624" y="1554"/>
                  <a:pt x="610" y="1564"/>
                </a:cubicBezTo>
                <a:cubicBezTo>
                  <a:pt x="597" y="1574"/>
                  <a:pt x="583" y="1583"/>
                  <a:pt x="569" y="1591"/>
                </a:cubicBezTo>
                <a:cubicBezTo>
                  <a:pt x="556" y="1599"/>
                  <a:pt x="542" y="1605"/>
                  <a:pt x="527" y="1610"/>
                </a:cubicBezTo>
                <a:cubicBezTo>
                  <a:pt x="513" y="1615"/>
                  <a:pt x="499" y="1619"/>
                  <a:pt x="485" y="1622"/>
                </a:cubicBezTo>
                <a:cubicBezTo>
                  <a:pt x="470" y="1625"/>
                  <a:pt x="456" y="1626"/>
                  <a:pt x="441" y="1626"/>
                </a:cubicBezTo>
                <a:cubicBezTo>
                  <a:pt x="427" y="1626"/>
                  <a:pt x="413" y="1625"/>
                  <a:pt x="398" y="1622"/>
                </a:cubicBezTo>
                <a:cubicBezTo>
                  <a:pt x="384" y="1619"/>
                  <a:pt x="370" y="1615"/>
                  <a:pt x="355" y="1610"/>
                </a:cubicBezTo>
                <a:cubicBezTo>
                  <a:pt x="341" y="1605"/>
                  <a:pt x="327" y="1599"/>
                  <a:pt x="313" y="1591"/>
                </a:cubicBezTo>
                <a:cubicBezTo>
                  <a:pt x="300" y="1583"/>
                  <a:pt x="286" y="1574"/>
                  <a:pt x="273" y="1564"/>
                </a:cubicBezTo>
                <a:cubicBezTo>
                  <a:pt x="259" y="1554"/>
                  <a:pt x="246" y="1542"/>
                  <a:pt x="233" y="1530"/>
                </a:cubicBezTo>
                <a:cubicBezTo>
                  <a:pt x="221" y="1517"/>
                  <a:pt x="208" y="1504"/>
                  <a:pt x="196" y="1489"/>
                </a:cubicBezTo>
                <a:cubicBezTo>
                  <a:pt x="184" y="1474"/>
                  <a:pt x="173" y="1458"/>
                  <a:pt x="162" y="1441"/>
                </a:cubicBezTo>
                <a:cubicBezTo>
                  <a:pt x="150" y="1425"/>
                  <a:pt x="140" y="1407"/>
                  <a:pt x="130" y="1388"/>
                </a:cubicBezTo>
                <a:cubicBezTo>
                  <a:pt x="119" y="1369"/>
                  <a:pt x="110" y="1349"/>
                  <a:pt x="100" y="1329"/>
                </a:cubicBezTo>
                <a:cubicBezTo>
                  <a:pt x="91" y="1308"/>
                  <a:pt x="83" y="1287"/>
                  <a:pt x="75" y="1265"/>
                </a:cubicBezTo>
                <a:cubicBezTo>
                  <a:pt x="67" y="1243"/>
                  <a:pt x="59" y="1220"/>
                  <a:pt x="52" y="1196"/>
                </a:cubicBezTo>
                <a:cubicBezTo>
                  <a:pt x="46" y="1173"/>
                  <a:pt x="39" y="1149"/>
                  <a:pt x="34" y="1124"/>
                </a:cubicBezTo>
                <a:cubicBezTo>
                  <a:pt x="28" y="1100"/>
                  <a:pt x="24" y="1075"/>
                  <a:pt x="19" y="1049"/>
                </a:cubicBezTo>
                <a:cubicBezTo>
                  <a:pt x="15" y="1024"/>
                  <a:pt x="12" y="998"/>
                  <a:pt x="9" y="972"/>
                </a:cubicBezTo>
                <a:cubicBezTo>
                  <a:pt x="6" y="945"/>
                  <a:pt x="4" y="919"/>
                  <a:pt x="2" y="892"/>
                </a:cubicBezTo>
                <a:cubicBezTo>
                  <a:pt x="1" y="866"/>
                  <a:pt x="0" y="839"/>
                  <a:pt x="0" y="812"/>
                </a:cubicBezTo>
                <a:cubicBezTo>
                  <a:pt x="0" y="786"/>
                  <a:pt x="1" y="759"/>
                  <a:pt x="2" y="733"/>
                </a:cubicBezTo>
                <a:cubicBezTo>
                  <a:pt x="4" y="706"/>
                  <a:pt x="6" y="680"/>
                  <a:pt x="9" y="654"/>
                </a:cubicBezTo>
                <a:cubicBezTo>
                  <a:pt x="12" y="628"/>
                  <a:pt x="15" y="602"/>
                  <a:pt x="19" y="577"/>
                </a:cubicBezTo>
                <a:cubicBezTo>
                  <a:pt x="24" y="551"/>
                  <a:pt x="28" y="526"/>
                  <a:pt x="34" y="502"/>
                </a:cubicBezTo>
                <a:cubicBezTo>
                  <a:pt x="39" y="477"/>
                  <a:pt x="46" y="453"/>
                  <a:pt x="52" y="429"/>
                </a:cubicBezTo>
                <a:cubicBezTo>
                  <a:pt x="59" y="406"/>
                  <a:pt x="67" y="383"/>
                  <a:pt x="75" y="361"/>
                </a:cubicBezTo>
                <a:cubicBezTo>
                  <a:pt x="83" y="339"/>
                  <a:pt x="91" y="318"/>
                  <a:pt x="100" y="297"/>
                </a:cubicBezTo>
                <a:cubicBezTo>
                  <a:pt x="110" y="276"/>
                  <a:pt x="119" y="257"/>
                  <a:pt x="130" y="238"/>
                </a:cubicBezTo>
                <a:cubicBezTo>
                  <a:pt x="140" y="219"/>
                  <a:pt x="150" y="201"/>
                  <a:pt x="162" y="184"/>
                </a:cubicBezTo>
                <a:cubicBezTo>
                  <a:pt x="173" y="168"/>
                  <a:pt x="184" y="152"/>
                  <a:pt x="196" y="137"/>
                </a:cubicBezTo>
                <a:cubicBezTo>
                  <a:pt x="208" y="122"/>
                  <a:pt x="221" y="108"/>
                  <a:pt x="233" y="96"/>
                </a:cubicBezTo>
                <a:cubicBezTo>
                  <a:pt x="246" y="83"/>
                  <a:pt x="259" y="72"/>
                  <a:pt x="273" y="62"/>
                </a:cubicBezTo>
                <a:cubicBezTo>
                  <a:pt x="286" y="52"/>
                  <a:pt x="300" y="43"/>
                  <a:pt x="313" y="35"/>
                </a:cubicBezTo>
                <a:cubicBezTo>
                  <a:pt x="327" y="27"/>
                  <a:pt x="341" y="21"/>
                  <a:pt x="355" y="16"/>
                </a:cubicBezTo>
                <a:cubicBezTo>
                  <a:pt x="370" y="10"/>
                  <a:pt x="384" y="6"/>
                  <a:pt x="398" y="4"/>
                </a:cubicBezTo>
                <a:cubicBezTo>
                  <a:pt x="413" y="1"/>
                  <a:pt x="427" y="0"/>
                  <a:pt x="441" y="0"/>
                </a:cubicBezTo>
                <a:cubicBezTo>
                  <a:pt x="456" y="0"/>
                  <a:pt x="470" y="1"/>
                  <a:pt x="485" y="4"/>
                </a:cubicBezTo>
                <a:cubicBezTo>
                  <a:pt x="499" y="6"/>
                  <a:pt x="513" y="10"/>
                  <a:pt x="527" y="16"/>
                </a:cubicBezTo>
                <a:cubicBezTo>
                  <a:pt x="542" y="21"/>
                  <a:pt x="556" y="27"/>
                  <a:pt x="569" y="35"/>
                </a:cubicBezTo>
                <a:cubicBezTo>
                  <a:pt x="583" y="43"/>
                  <a:pt x="597" y="52"/>
                  <a:pt x="610" y="62"/>
                </a:cubicBezTo>
                <a:cubicBezTo>
                  <a:pt x="624" y="72"/>
                  <a:pt x="637" y="83"/>
                  <a:pt x="649" y="96"/>
                </a:cubicBezTo>
                <a:cubicBezTo>
                  <a:pt x="662" y="108"/>
                  <a:pt x="674" y="122"/>
                  <a:pt x="686" y="137"/>
                </a:cubicBezTo>
                <a:cubicBezTo>
                  <a:pt x="699" y="152"/>
                  <a:pt x="711" y="168"/>
                  <a:pt x="722" y="184"/>
                </a:cubicBezTo>
                <a:cubicBezTo>
                  <a:pt x="733" y="201"/>
                  <a:pt x="744" y="219"/>
                  <a:pt x="754" y="238"/>
                </a:cubicBezTo>
                <a:cubicBezTo>
                  <a:pt x="764" y="257"/>
                  <a:pt x="774" y="276"/>
                  <a:pt x="783" y="297"/>
                </a:cubicBezTo>
                <a:cubicBezTo>
                  <a:pt x="792" y="318"/>
                  <a:pt x="801" y="339"/>
                  <a:pt x="809" y="361"/>
                </a:cubicBezTo>
                <a:cubicBezTo>
                  <a:pt x="817" y="383"/>
                  <a:pt x="825" y="406"/>
                  <a:pt x="831" y="429"/>
                </a:cubicBezTo>
                <a:cubicBezTo>
                  <a:pt x="838" y="453"/>
                  <a:pt x="844" y="477"/>
                  <a:pt x="850" y="502"/>
                </a:cubicBezTo>
                <a:cubicBezTo>
                  <a:pt x="855" y="526"/>
                  <a:pt x="860" y="551"/>
                  <a:pt x="864" y="577"/>
                </a:cubicBezTo>
                <a:cubicBezTo>
                  <a:pt x="869" y="602"/>
                  <a:pt x="872" y="628"/>
                  <a:pt x="875" y="654"/>
                </a:cubicBezTo>
                <a:cubicBezTo>
                  <a:pt x="878" y="680"/>
                  <a:pt x="880" y="706"/>
                  <a:pt x="881" y="733"/>
                </a:cubicBezTo>
                <a:cubicBezTo>
                  <a:pt x="883" y="759"/>
                  <a:pt x="883" y="786"/>
                  <a:pt x="883" y="812"/>
                </a:cubicBez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0" name="Picture 1649"/>
          <p:cNvPicPr/>
          <p:nvPr/>
        </p:nvPicPr>
        <p:blipFill>
          <a:blip r:embed="rId5"/>
          <a:stretch/>
        </p:blipFill>
        <p:spPr>
          <a:xfrm>
            <a:off x="543240" y="1872000"/>
            <a:ext cx="31716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1" name="TextBox 1650"/>
          <p:cNvSpPr txBox="1"/>
          <p:nvPr/>
        </p:nvSpPr>
        <p:spPr>
          <a:xfrm>
            <a:off x="3494880" y="923040"/>
            <a:ext cx="3290966" cy="2031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What I learned during </a:t>
            </a:r>
            <a:r>
              <a:rPr lang="en-US" sz="1320" dirty="0">
                <a:solidFill>
                  <a:srgbClr val="374151"/>
                </a:solidFill>
                <a:latin typeface="DejaVuSans"/>
                <a:ea typeface="DejaVuSans"/>
              </a:rPr>
              <a:t>machine learning</a:t>
            </a:r>
            <a:r>
              <a:rPr lang="en-US" sz="132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 journey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TextBox 1651"/>
          <p:cNvSpPr txBox="1"/>
          <p:nvPr/>
        </p:nvSpPr>
        <p:spPr>
          <a:xfrm>
            <a:off x="1027800" y="1725120"/>
            <a:ext cx="1846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Programming Skills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TextBox 1652"/>
          <p:cNvSpPr txBox="1"/>
          <p:nvPr/>
        </p:nvSpPr>
        <p:spPr>
          <a:xfrm>
            <a:off x="1027800" y="2023560"/>
            <a:ext cx="4000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Gained experience with JAX framework and complex neural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TextBox 1653"/>
          <p:cNvSpPr txBox="1"/>
          <p:nvPr/>
        </p:nvSpPr>
        <p:spPr>
          <a:xfrm>
            <a:off x="1027800" y="2224080"/>
            <a:ext cx="3367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networks. Learned to handle programming scripts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Freeform 1654"/>
          <p:cNvSpPr/>
          <p:nvPr/>
        </p:nvSpPr>
        <p:spPr>
          <a:xfrm>
            <a:off x="5469120" y="1537560"/>
            <a:ext cx="4893480" cy="1236960"/>
          </a:xfrm>
          <a:custGeom>
            <a:avLst/>
            <a:gdLst/>
            <a:ahLst/>
            <a:cxnLst/>
            <a:rect l="0" t="0" r="r" b="b"/>
            <a:pathLst>
              <a:path w="13593" h="3436">
                <a:moveTo>
                  <a:pt x="0" y="3251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0" y="114"/>
                </a:cubicBezTo>
                <a:cubicBezTo>
                  <a:pt x="13" y="103"/>
                  <a:pt x="17" y="92"/>
                  <a:pt x="22" y="82"/>
                </a:cubicBezTo>
                <a:cubicBezTo>
                  <a:pt x="27" y="72"/>
                  <a:pt x="32" y="63"/>
                  <a:pt x="38" y="54"/>
                </a:cubicBezTo>
                <a:cubicBezTo>
                  <a:pt x="44" y="45"/>
                  <a:pt x="50" y="38"/>
                  <a:pt x="57" y="31"/>
                </a:cubicBezTo>
                <a:cubicBezTo>
                  <a:pt x="64" y="24"/>
                  <a:pt x="72" y="19"/>
                  <a:pt x="79" y="14"/>
                </a:cubicBezTo>
                <a:cubicBezTo>
                  <a:pt x="87" y="9"/>
                  <a:pt x="95" y="6"/>
                  <a:pt x="103" y="3"/>
                </a:cubicBezTo>
                <a:cubicBezTo>
                  <a:pt x="111" y="1"/>
                  <a:pt x="120" y="0"/>
                  <a:pt x="128" y="0"/>
                </a:cubicBezTo>
                <a:lnTo>
                  <a:pt x="13407" y="0"/>
                </a:lnTo>
                <a:cubicBezTo>
                  <a:pt x="13419" y="0"/>
                  <a:pt x="13431" y="1"/>
                  <a:pt x="13443" y="3"/>
                </a:cubicBezTo>
                <a:cubicBezTo>
                  <a:pt x="13455" y="6"/>
                  <a:pt x="13467" y="9"/>
                  <a:pt x="13478" y="14"/>
                </a:cubicBezTo>
                <a:cubicBezTo>
                  <a:pt x="13489" y="19"/>
                  <a:pt x="13500" y="24"/>
                  <a:pt x="13510" y="31"/>
                </a:cubicBezTo>
                <a:cubicBezTo>
                  <a:pt x="13520" y="38"/>
                  <a:pt x="13530" y="45"/>
                  <a:pt x="13538" y="54"/>
                </a:cubicBezTo>
                <a:cubicBezTo>
                  <a:pt x="13547" y="63"/>
                  <a:pt x="13555" y="72"/>
                  <a:pt x="13561" y="82"/>
                </a:cubicBezTo>
                <a:cubicBezTo>
                  <a:pt x="13568" y="92"/>
                  <a:pt x="13574" y="103"/>
                  <a:pt x="13579" y="114"/>
                </a:cubicBezTo>
                <a:cubicBezTo>
                  <a:pt x="13583" y="126"/>
                  <a:pt x="13587" y="137"/>
                  <a:pt x="13589" y="149"/>
                </a:cubicBezTo>
                <a:cubicBezTo>
                  <a:pt x="13591" y="161"/>
                  <a:pt x="13593" y="173"/>
                  <a:pt x="13593" y="185"/>
                </a:cubicBezTo>
                <a:lnTo>
                  <a:pt x="13593" y="3251"/>
                </a:lnTo>
                <a:cubicBezTo>
                  <a:pt x="13593" y="3263"/>
                  <a:pt x="13591" y="3275"/>
                  <a:pt x="13589" y="3287"/>
                </a:cubicBezTo>
                <a:cubicBezTo>
                  <a:pt x="13587" y="3299"/>
                  <a:pt x="13583" y="3310"/>
                  <a:pt x="13579" y="3322"/>
                </a:cubicBezTo>
                <a:cubicBezTo>
                  <a:pt x="13574" y="3333"/>
                  <a:pt x="13568" y="3344"/>
                  <a:pt x="13561" y="3354"/>
                </a:cubicBezTo>
                <a:cubicBezTo>
                  <a:pt x="13555" y="3364"/>
                  <a:pt x="13547" y="3373"/>
                  <a:pt x="13538" y="3382"/>
                </a:cubicBezTo>
                <a:cubicBezTo>
                  <a:pt x="13530" y="3390"/>
                  <a:pt x="13520" y="3398"/>
                  <a:pt x="13510" y="3405"/>
                </a:cubicBezTo>
                <a:cubicBezTo>
                  <a:pt x="13500" y="3412"/>
                  <a:pt x="13489" y="3417"/>
                  <a:pt x="13478" y="3422"/>
                </a:cubicBezTo>
                <a:cubicBezTo>
                  <a:pt x="13467" y="3427"/>
                  <a:pt x="13455" y="3430"/>
                  <a:pt x="13443" y="3433"/>
                </a:cubicBezTo>
                <a:cubicBezTo>
                  <a:pt x="13431" y="3435"/>
                  <a:pt x="13419" y="3436"/>
                  <a:pt x="13407" y="3436"/>
                </a:cubicBezTo>
                <a:lnTo>
                  <a:pt x="128" y="3436"/>
                </a:lnTo>
                <a:cubicBezTo>
                  <a:pt x="120" y="3436"/>
                  <a:pt x="111" y="3435"/>
                  <a:pt x="103" y="3433"/>
                </a:cubicBezTo>
                <a:cubicBezTo>
                  <a:pt x="95" y="3430"/>
                  <a:pt x="87" y="3427"/>
                  <a:pt x="79" y="3422"/>
                </a:cubicBezTo>
                <a:cubicBezTo>
                  <a:pt x="72" y="3417"/>
                  <a:pt x="64" y="3412"/>
                  <a:pt x="57" y="3405"/>
                </a:cubicBezTo>
                <a:cubicBezTo>
                  <a:pt x="50" y="3398"/>
                  <a:pt x="44" y="3390"/>
                  <a:pt x="38" y="3382"/>
                </a:cubicBezTo>
                <a:cubicBezTo>
                  <a:pt x="32" y="3373"/>
                  <a:pt x="27" y="3364"/>
                  <a:pt x="22" y="3354"/>
                </a:cubicBezTo>
                <a:cubicBezTo>
                  <a:pt x="17" y="3344"/>
                  <a:pt x="13" y="3333"/>
                  <a:pt x="10" y="3322"/>
                </a:cubicBezTo>
                <a:cubicBezTo>
                  <a:pt x="7" y="3310"/>
                  <a:pt x="5" y="3299"/>
                  <a:pt x="3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Freeform 1655"/>
          <p:cNvSpPr/>
          <p:nvPr/>
        </p:nvSpPr>
        <p:spPr>
          <a:xfrm>
            <a:off x="5448240" y="1537560"/>
            <a:ext cx="67320" cy="1236960"/>
          </a:xfrm>
          <a:custGeom>
            <a:avLst/>
            <a:gdLst/>
            <a:ahLst/>
            <a:cxnLst/>
            <a:rect l="0" t="0" r="r" b="b"/>
            <a:pathLst>
              <a:path w="187" h="3436">
                <a:moveTo>
                  <a:pt x="0" y="0"/>
                </a:moveTo>
                <a:lnTo>
                  <a:pt x="187" y="0"/>
                </a:lnTo>
                <a:lnTo>
                  <a:pt x="187" y="3436"/>
                </a:lnTo>
                <a:lnTo>
                  <a:pt x="0" y="343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Freeform 1656"/>
          <p:cNvSpPr/>
          <p:nvPr/>
        </p:nvSpPr>
        <p:spPr>
          <a:xfrm>
            <a:off x="5657400" y="1704600"/>
            <a:ext cx="276120" cy="585360"/>
          </a:xfrm>
          <a:custGeom>
            <a:avLst/>
            <a:gdLst/>
            <a:ahLst/>
            <a:cxnLst/>
            <a:rect l="0" t="0" r="r" b="b"/>
            <a:pathLst>
              <a:path w="767" h="1626">
                <a:moveTo>
                  <a:pt x="0" y="815"/>
                </a:moveTo>
                <a:lnTo>
                  <a:pt x="0" y="809"/>
                </a:lnTo>
                <a:cubicBezTo>
                  <a:pt x="0" y="783"/>
                  <a:pt x="0" y="756"/>
                  <a:pt x="2" y="730"/>
                </a:cubicBezTo>
                <a:cubicBezTo>
                  <a:pt x="3" y="704"/>
                  <a:pt x="5" y="677"/>
                  <a:pt x="7" y="651"/>
                </a:cubicBezTo>
                <a:cubicBezTo>
                  <a:pt x="10" y="625"/>
                  <a:pt x="13" y="600"/>
                  <a:pt x="16" y="574"/>
                </a:cubicBezTo>
                <a:cubicBezTo>
                  <a:pt x="20" y="549"/>
                  <a:pt x="24" y="524"/>
                  <a:pt x="29" y="500"/>
                </a:cubicBezTo>
                <a:cubicBezTo>
                  <a:pt x="34" y="475"/>
                  <a:pt x="39" y="451"/>
                  <a:pt x="45" y="428"/>
                </a:cubicBezTo>
                <a:cubicBezTo>
                  <a:pt x="51" y="404"/>
                  <a:pt x="57" y="382"/>
                  <a:pt x="64" y="360"/>
                </a:cubicBezTo>
                <a:cubicBezTo>
                  <a:pt x="71" y="338"/>
                  <a:pt x="79" y="316"/>
                  <a:pt x="87" y="296"/>
                </a:cubicBezTo>
                <a:cubicBezTo>
                  <a:pt x="95" y="275"/>
                  <a:pt x="103" y="256"/>
                  <a:pt x="112" y="237"/>
                </a:cubicBezTo>
                <a:cubicBezTo>
                  <a:pt x="121" y="218"/>
                  <a:pt x="130" y="201"/>
                  <a:pt x="140" y="184"/>
                </a:cubicBezTo>
                <a:cubicBezTo>
                  <a:pt x="149" y="167"/>
                  <a:pt x="160" y="151"/>
                  <a:pt x="170" y="136"/>
                </a:cubicBezTo>
                <a:cubicBezTo>
                  <a:pt x="180" y="122"/>
                  <a:pt x="191" y="108"/>
                  <a:pt x="202" y="96"/>
                </a:cubicBezTo>
                <a:cubicBezTo>
                  <a:pt x="213" y="83"/>
                  <a:pt x="225" y="72"/>
                  <a:pt x="236" y="62"/>
                </a:cubicBezTo>
                <a:cubicBezTo>
                  <a:pt x="248" y="51"/>
                  <a:pt x="260" y="43"/>
                  <a:pt x="272" y="35"/>
                </a:cubicBezTo>
                <a:cubicBezTo>
                  <a:pt x="284" y="27"/>
                  <a:pt x="296" y="21"/>
                  <a:pt x="308" y="16"/>
                </a:cubicBezTo>
                <a:cubicBezTo>
                  <a:pt x="320" y="10"/>
                  <a:pt x="333" y="6"/>
                  <a:pt x="345" y="4"/>
                </a:cubicBezTo>
                <a:cubicBezTo>
                  <a:pt x="358" y="1"/>
                  <a:pt x="370" y="0"/>
                  <a:pt x="383" y="0"/>
                </a:cubicBezTo>
                <a:cubicBezTo>
                  <a:pt x="395" y="0"/>
                  <a:pt x="408" y="1"/>
                  <a:pt x="420" y="4"/>
                </a:cubicBezTo>
                <a:cubicBezTo>
                  <a:pt x="433" y="6"/>
                  <a:pt x="445" y="10"/>
                  <a:pt x="457" y="16"/>
                </a:cubicBezTo>
                <a:cubicBezTo>
                  <a:pt x="470" y="21"/>
                  <a:pt x="482" y="27"/>
                  <a:pt x="494" y="35"/>
                </a:cubicBezTo>
                <a:cubicBezTo>
                  <a:pt x="506" y="43"/>
                  <a:pt x="518" y="51"/>
                  <a:pt x="529" y="62"/>
                </a:cubicBezTo>
                <a:cubicBezTo>
                  <a:pt x="541" y="72"/>
                  <a:pt x="552" y="83"/>
                  <a:pt x="563" y="96"/>
                </a:cubicBezTo>
                <a:cubicBezTo>
                  <a:pt x="574" y="108"/>
                  <a:pt x="585" y="122"/>
                  <a:pt x="596" y="136"/>
                </a:cubicBezTo>
                <a:cubicBezTo>
                  <a:pt x="606" y="151"/>
                  <a:pt x="616" y="167"/>
                  <a:pt x="626" y="184"/>
                </a:cubicBezTo>
                <a:cubicBezTo>
                  <a:pt x="635" y="201"/>
                  <a:pt x="645" y="218"/>
                  <a:pt x="654" y="237"/>
                </a:cubicBezTo>
                <a:cubicBezTo>
                  <a:pt x="662" y="256"/>
                  <a:pt x="671" y="275"/>
                  <a:pt x="679" y="296"/>
                </a:cubicBezTo>
                <a:cubicBezTo>
                  <a:pt x="687" y="316"/>
                  <a:pt x="694" y="338"/>
                  <a:pt x="701" y="360"/>
                </a:cubicBezTo>
                <a:cubicBezTo>
                  <a:pt x="708" y="382"/>
                  <a:pt x="715" y="404"/>
                  <a:pt x="721" y="428"/>
                </a:cubicBezTo>
                <a:cubicBezTo>
                  <a:pt x="726" y="451"/>
                  <a:pt x="732" y="475"/>
                  <a:pt x="737" y="500"/>
                </a:cubicBezTo>
                <a:cubicBezTo>
                  <a:pt x="741" y="524"/>
                  <a:pt x="746" y="549"/>
                  <a:pt x="749" y="574"/>
                </a:cubicBezTo>
                <a:cubicBezTo>
                  <a:pt x="753" y="600"/>
                  <a:pt x="757" y="625"/>
                  <a:pt x="759" y="651"/>
                </a:cubicBezTo>
                <a:cubicBezTo>
                  <a:pt x="762" y="677"/>
                  <a:pt x="764" y="704"/>
                  <a:pt x="765" y="730"/>
                </a:cubicBezTo>
                <a:cubicBezTo>
                  <a:pt x="766" y="756"/>
                  <a:pt x="767" y="783"/>
                  <a:pt x="767" y="809"/>
                </a:cubicBezTo>
                <a:lnTo>
                  <a:pt x="767" y="815"/>
                </a:lnTo>
                <a:cubicBezTo>
                  <a:pt x="767" y="842"/>
                  <a:pt x="766" y="868"/>
                  <a:pt x="765" y="895"/>
                </a:cubicBezTo>
                <a:cubicBezTo>
                  <a:pt x="764" y="921"/>
                  <a:pt x="762" y="947"/>
                  <a:pt x="759" y="974"/>
                </a:cubicBezTo>
                <a:cubicBezTo>
                  <a:pt x="757" y="1000"/>
                  <a:pt x="753" y="1026"/>
                  <a:pt x="749" y="1051"/>
                </a:cubicBezTo>
                <a:cubicBezTo>
                  <a:pt x="746" y="1077"/>
                  <a:pt x="741" y="1102"/>
                  <a:pt x="737" y="1126"/>
                </a:cubicBezTo>
                <a:cubicBezTo>
                  <a:pt x="732" y="1151"/>
                  <a:pt x="726" y="1175"/>
                  <a:pt x="721" y="1198"/>
                </a:cubicBezTo>
                <a:cubicBezTo>
                  <a:pt x="715" y="1221"/>
                  <a:pt x="708" y="1244"/>
                  <a:pt x="701" y="1266"/>
                </a:cubicBezTo>
                <a:cubicBezTo>
                  <a:pt x="694" y="1288"/>
                  <a:pt x="687" y="1309"/>
                  <a:pt x="679" y="1330"/>
                </a:cubicBezTo>
                <a:cubicBezTo>
                  <a:pt x="671" y="1350"/>
                  <a:pt x="662" y="1370"/>
                  <a:pt x="654" y="1389"/>
                </a:cubicBezTo>
                <a:cubicBezTo>
                  <a:pt x="645" y="1408"/>
                  <a:pt x="635" y="1425"/>
                  <a:pt x="626" y="1442"/>
                </a:cubicBezTo>
                <a:cubicBezTo>
                  <a:pt x="616" y="1459"/>
                  <a:pt x="606" y="1475"/>
                  <a:pt x="596" y="1489"/>
                </a:cubicBezTo>
                <a:cubicBezTo>
                  <a:pt x="585" y="1504"/>
                  <a:pt x="574" y="1518"/>
                  <a:pt x="563" y="1530"/>
                </a:cubicBezTo>
                <a:cubicBezTo>
                  <a:pt x="552" y="1543"/>
                  <a:pt x="541" y="1554"/>
                  <a:pt x="529" y="1564"/>
                </a:cubicBezTo>
                <a:cubicBezTo>
                  <a:pt x="518" y="1574"/>
                  <a:pt x="506" y="1583"/>
                  <a:pt x="494" y="1591"/>
                </a:cubicBezTo>
                <a:cubicBezTo>
                  <a:pt x="482" y="1599"/>
                  <a:pt x="470" y="1605"/>
                  <a:pt x="457" y="1610"/>
                </a:cubicBezTo>
                <a:cubicBezTo>
                  <a:pt x="445" y="1615"/>
                  <a:pt x="433" y="1619"/>
                  <a:pt x="420" y="1622"/>
                </a:cubicBezTo>
                <a:cubicBezTo>
                  <a:pt x="408" y="1625"/>
                  <a:pt x="395" y="1626"/>
                  <a:pt x="383" y="1626"/>
                </a:cubicBezTo>
                <a:cubicBezTo>
                  <a:pt x="370" y="1626"/>
                  <a:pt x="358" y="1625"/>
                  <a:pt x="345" y="1622"/>
                </a:cubicBezTo>
                <a:cubicBezTo>
                  <a:pt x="333" y="1619"/>
                  <a:pt x="320" y="1615"/>
                  <a:pt x="308" y="1610"/>
                </a:cubicBezTo>
                <a:cubicBezTo>
                  <a:pt x="296" y="1605"/>
                  <a:pt x="284" y="1599"/>
                  <a:pt x="272" y="1591"/>
                </a:cubicBezTo>
                <a:cubicBezTo>
                  <a:pt x="260" y="1583"/>
                  <a:pt x="248" y="1574"/>
                  <a:pt x="236" y="1564"/>
                </a:cubicBezTo>
                <a:cubicBezTo>
                  <a:pt x="225" y="1554"/>
                  <a:pt x="213" y="1543"/>
                  <a:pt x="202" y="1530"/>
                </a:cubicBezTo>
                <a:cubicBezTo>
                  <a:pt x="191" y="1518"/>
                  <a:pt x="180" y="1504"/>
                  <a:pt x="170" y="1489"/>
                </a:cubicBezTo>
                <a:cubicBezTo>
                  <a:pt x="160" y="1475"/>
                  <a:pt x="149" y="1459"/>
                  <a:pt x="140" y="1442"/>
                </a:cubicBezTo>
                <a:cubicBezTo>
                  <a:pt x="130" y="1425"/>
                  <a:pt x="121" y="1408"/>
                  <a:pt x="112" y="1389"/>
                </a:cubicBezTo>
                <a:cubicBezTo>
                  <a:pt x="103" y="1370"/>
                  <a:pt x="95" y="1350"/>
                  <a:pt x="87" y="1330"/>
                </a:cubicBezTo>
                <a:cubicBezTo>
                  <a:pt x="79" y="1309"/>
                  <a:pt x="71" y="1288"/>
                  <a:pt x="64" y="1266"/>
                </a:cubicBezTo>
                <a:cubicBezTo>
                  <a:pt x="57" y="1244"/>
                  <a:pt x="51" y="1221"/>
                  <a:pt x="45" y="1198"/>
                </a:cubicBezTo>
                <a:cubicBezTo>
                  <a:pt x="39" y="1175"/>
                  <a:pt x="34" y="1151"/>
                  <a:pt x="29" y="1126"/>
                </a:cubicBezTo>
                <a:cubicBezTo>
                  <a:pt x="24" y="1102"/>
                  <a:pt x="20" y="1077"/>
                  <a:pt x="16" y="1051"/>
                </a:cubicBezTo>
                <a:cubicBezTo>
                  <a:pt x="13" y="1026"/>
                  <a:pt x="10" y="1000"/>
                  <a:pt x="7" y="974"/>
                </a:cubicBezTo>
                <a:cubicBezTo>
                  <a:pt x="5" y="947"/>
                  <a:pt x="3" y="921"/>
                  <a:pt x="2" y="895"/>
                </a:cubicBezTo>
                <a:cubicBezTo>
                  <a:pt x="0" y="868"/>
                  <a:pt x="0" y="842"/>
                  <a:pt x="0" y="815"/>
                </a:cubicBezTo>
                <a:close/>
              </a:path>
            </a:pathLst>
          </a:custGeom>
          <a:solidFill>
            <a:srgbClr val="00968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8" name="Picture 1657"/>
          <p:cNvPicPr/>
          <p:nvPr/>
        </p:nvPicPr>
        <p:blipFill>
          <a:blip r:embed="rId6"/>
          <a:stretch/>
        </p:blipFill>
        <p:spPr>
          <a:xfrm>
            <a:off x="5674320" y="187200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9" name="TextBox 1658"/>
          <p:cNvSpPr txBox="1"/>
          <p:nvPr/>
        </p:nvSpPr>
        <p:spPr>
          <a:xfrm>
            <a:off x="1027800" y="2424600"/>
            <a:ext cx="703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eﬃciently.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TextBox 1659"/>
          <p:cNvSpPr txBox="1"/>
          <p:nvPr/>
        </p:nvSpPr>
        <p:spPr>
          <a:xfrm>
            <a:off x="6101280" y="1725120"/>
            <a:ext cx="14745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Work Discipline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TextBox 1660"/>
          <p:cNvSpPr txBox="1"/>
          <p:nvPr/>
        </p:nvSpPr>
        <p:spPr>
          <a:xfrm>
            <a:off x="6101280" y="2023560"/>
            <a:ext cx="287899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Developed better discipline in managing hybrid work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TextBox 1661"/>
          <p:cNvSpPr txBox="1"/>
          <p:nvPr/>
        </p:nvSpPr>
        <p:spPr>
          <a:xfrm>
            <a:off x="6101280" y="2224080"/>
            <a:ext cx="3602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setup. Learned to balance independent research with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Freeform 1662"/>
          <p:cNvSpPr/>
          <p:nvPr/>
        </p:nvSpPr>
        <p:spPr>
          <a:xfrm>
            <a:off x="354960" y="2974680"/>
            <a:ext cx="4893120" cy="1237320"/>
          </a:xfrm>
          <a:custGeom>
            <a:avLst/>
            <a:gdLst/>
            <a:ahLst/>
            <a:cxnLst/>
            <a:rect l="0" t="0" r="r" b="b"/>
            <a:pathLst>
              <a:path w="13592" h="3437">
                <a:moveTo>
                  <a:pt x="0" y="325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3" y="104"/>
                  <a:pt x="17" y="93"/>
                  <a:pt x="22" y="83"/>
                </a:cubicBezTo>
                <a:cubicBezTo>
                  <a:pt x="26" y="73"/>
                  <a:pt x="32" y="63"/>
                  <a:pt x="37" y="55"/>
                </a:cubicBezTo>
                <a:cubicBezTo>
                  <a:pt x="43" y="46"/>
                  <a:pt x="50" y="38"/>
                  <a:pt x="57" y="32"/>
                </a:cubicBezTo>
                <a:cubicBezTo>
                  <a:pt x="64" y="25"/>
                  <a:pt x="71" y="19"/>
                  <a:pt x="79" y="14"/>
                </a:cubicBezTo>
                <a:cubicBezTo>
                  <a:pt x="87" y="10"/>
                  <a:pt x="95" y="6"/>
                  <a:pt x="103" y="4"/>
                </a:cubicBezTo>
                <a:cubicBezTo>
                  <a:pt x="111" y="2"/>
                  <a:pt x="119" y="0"/>
                  <a:pt x="128" y="0"/>
                </a:cubicBezTo>
                <a:lnTo>
                  <a:pt x="13407" y="0"/>
                </a:lnTo>
                <a:cubicBezTo>
                  <a:pt x="13419" y="0"/>
                  <a:pt x="13431" y="2"/>
                  <a:pt x="13443" y="4"/>
                </a:cubicBezTo>
                <a:cubicBezTo>
                  <a:pt x="13455" y="6"/>
                  <a:pt x="13466" y="10"/>
                  <a:pt x="13478" y="14"/>
                </a:cubicBezTo>
                <a:cubicBezTo>
                  <a:pt x="13489" y="19"/>
                  <a:pt x="13500" y="25"/>
                  <a:pt x="13510" y="32"/>
                </a:cubicBezTo>
                <a:cubicBezTo>
                  <a:pt x="13520" y="38"/>
                  <a:pt x="13529" y="46"/>
                  <a:pt x="13538" y="55"/>
                </a:cubicBezTo>
                <a:cubicBezTo>
                  <a:pt x="13547" y="63"/>
                  <a:pt x="13554" y="73"/>
                  <a:pt x="13561" y="83"/>
                </a:cubicBezTo>
                <a:cubicBezTo>
                  <a:pt x="13568" y="93"/>
                  <a:pt x="13573" y="104"/>
                  <a:pt x="13578" y="115"/>
                </a:cubicBezTo>
                <a:cubicBezTo>
                  <a:pt x="13583" y="126"/>
                  <a:pt x="13586" y="138"/>
                  <a:pt x="13589" y="150"/>
                </a:cubicBezTo>
                <a:cubicBezTo>
                  <a:pt x="13591" y="162"/>
                  <a:pt x="13592" y="174"/>
                  <a:pt x="13592" y="186"/>
                </a:cubicBezTo>
                <a:lnTo>
                  <a:pt x="13592" y="3251"/>
                </a:lnTo>
                <a:cubicBezTo>
                  <a:pt x="13592" y="3263"/>
                  <a:pt x="13591" y="3275"/>
                  <a:pt x="13589" y="3287"/>
                </a:cubicBezTo>
                <a:cubicBezTo>
                  <a:pt x="13586" y="3299"/>
                  <a:pt x="13583" y="3311"/>
                  <a:pt x="13578" y="3322"/>
                </a:cubicBezTo>
                <a:cubicBezTo>
                  <a:pt x="13573" y="3334"/>
                  <a:pt x="13568" y="3344"/>
                  <a:pt x="13561" y="3354"/>
                </a:cubicBezTo>
                <a:cubicBezTo>
                  <a:pt x="13554" y="3364"/>
                  <a:pt x="13547" y="3374"/>
                  <a:pt x="13538" y="3382"/>
                </a:cubicBezTo>
                <a:cubicBezTo>
                  <a:pt x="13529" y="3391"/>
                  <a:pt x="13520" y="3399"/>
                  <a:pt x="13510" y="3406"/>
                </a:cubicBezTo>
                <a:cubicBezTo>
                  <a:pt x="13500" y="3412"/>
                  <a:pt x="13489" y="3418"/>
                  <a:pt x="13478" y="3423"/>
                </a:cubicBezTo>
                <a:cubicBezTo>
                  <a:pt x="13466" y="3427"/>
                  <a:pt x="13455" y="3431"/>
                  <a:pt x="13443" y="3433"/>
                </a:cubicBezTo>
                <a:cubicBezTo>
                  <a:pt x="13431" y="3436"/>
                  <a:pt x="13419" y="3437"/>
                  <a:pt x="13407" y="3437"/>
                </a:cubicBezTo>
                <a:lnTo>
                  <a:pt x="128" y="3437"/>
                </a:lnTo>
                <a:cubicBezTo>
                  <a:pt x="119" y="3437"/>
                  <a:pt x="111" y="3436"/>
                  <a:pt x="103" y="3433"/>
                </a:cubicBezTo>
                <a:cubicBezTo>
                  <a:pt x="95" y="3431"/>
                  <a:pt x="87" y="3427"/>
                  <a:pt x="79" y="3423"/>
                </a:cubicBezTo>
                <a:cubicBezTo>
                  <a:pt x="71" y="3418"/>
                  <a:pt x="64" y="3412"/>
                  <a:pt x="57" y="3406"/>
                </a:cubicBezTo>
                <a:cubicBezTo>
                  <a:pt x="50" y="3399"/>
                  <a:pt x="43" y="3391"/>
                  <a:pt x="37" y="3382"/>
                </a:cubicBezTo>
                <a:cubicBezTo>
                  <a:pt x="32" y="3374"/>
                  <a:pt x="26" y="3364"/>
                  <a:pt x="22" y="3354"/>
                </a:cubicBezTo>
                <a:cubicBezTo>
                  <a:pt x="17" y="3344"/>
                  <a:pt x="13" y="3334"/>
                  <a:pt x="10" y="3322"/>
                </a:cubicBezTo>
                <a:cubicBezTo>
                  <a:pt x="7" y="3311"/>
                  <a:pt x="4" y="3299"/>
                  <a:pt x="3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Freeform 1663"/>
          <p:cNvSpPr/>
          <p:nvPr/>
        </p:nvSpPr>
        <p:spPr>
          <a:xfrm>
            <a:off x="334080" y="2974680"/>
            <a:ext cx="67320" cy="1237320"/>
          </a:xfrm>
          <a:custGeom>
            <a:avLst/>
            <a:gdLst/>
            <a:ahLst/>
            <a:cxnLst/>
            <a:rect l="0" t="0" r="r" b="b"/>
            <a:pathLst>
              <a:path w="187" h="3437">
                <a:moveTo>
                  <a:pt x="0" y="0"/>
                </a:moveTo>
                <a:lnTo>
                  <a:pt x="187" y="0"/>
                </a:lnTo>
                <a:lnTo>
                  <a:pt x="187" y="3437"/>
                </a:lnTo>
                <a:lnTo>
                  <a:pt x="0" y="343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Freeform 1664"/>
          <p:cNvSpPr/>
          <p:nvPr/>
        </p:nvSpPr>
        <p:spPr>
          <a:xfrm>
            <a:off x="542880" y="3142080"/>
            <a:ext cx="317880" cy="585360"/>
          </a:xfrm>
          <a:custGeom>
            <a:avLst/>
            <a:gdLst/>
            <a:ahLst/>
            <a:cxnLst/>
            <a:rect l="0" t="0" r="r" b="b"/>
            <a:pathLst>
              <a:path w="883" h="1626">
                <a:moveTo>
                  <a:pt x="0" y="813"/>
                </a:moveTo>
                <a:cubicBezTo>
                  <a:pt x="0" y="786"/>
                  <a:pt x="1" y="760"/>
                  <a:pt x="2" y="733"/>
                </a:cubicBezTo>
                <a:cubicBezTo>
                  <a:pt x="4" y="707"/>
                  <a:pt x="6" y="681"/>
                  <a:pt x="9" y="655"/>
                </a:cubicBezTo>
                <a:cubicBezTo>
                  <a:pt x="12" y="628"/>
                  <a:pt x="15" y="603"/>
                  <a:pt x="19" y="577"/>
                </a:cubicBezTo>
                <a:cubicBezTo>
                  <a:pt x="23" y="552"/>
                  <a:pt x="28" y="527"/>
                  <a:pt x="34" y="502"/>
                </a:cubicBezTo>
                <a:cubicBezTo>
                  <a:pt x="39" y="478"/>
                  <a:pt x="45" y="454"/>
                  <a:pt x="52" y="430"/>
                </a:cubicBezTo>
                <a:cubicBezTo>
                  <a:pt x="59" y="407"/>
                  <a:pt x="66" y="384"/>
                  <a:pt x="74" y="362"/>
                </a:cubicBezTo>
                <a:cubicBezTo>
                  <a:pt x="82" y="340"/>
                  <a:pt x="91" y="318"/>
                  <a:pt x="100" y="298"/>
                </a:cubicBezTo>
                <a:cubicBezTo>
                  <a:pt x="109" y="277"/>
                  <a:pt x="119" y="257"/>
                  <a:pt x="129" y="239"/>
                </a:cubicBezTo>
                <a:cubicBezTo>
                  <a:pt x="139" y="220"/>
                  <a:pt x="150" y="201"/>
                  <a:pt x="161" y="184"/>
                </a:cubicBezTo>
                <a:cubicBezTo>
                  <a:pt x="172" y="167"/>
                  <a:pt x="184" y="151"/>
                  <a:pt x="196" y="137"/>
                </a:cubicBezTo>
                <a:cubicBezTo>
                  <a:pt x="208" y="122"/>
                  <a:pt x="220" y="108"/>
                  <a:pt x="233" y="96"/>
                </a:cubicBezTo>
                <a:cubicBezTo>
                  <a:pt x="245" y="83"/>
                  <a:pt x="258" y="72"/>
                  <a:pt x="272" y="61"/>
                </a:cubicBezTo>
                <a:cubicBezTo>
                  <a:pt x="285" y="51"/>
                  <a:pt x="298" y="42"/>
                  <a:pt x="312" y="35"/>
                </a:cubicBezTo>
                <a:cubicBezTo>
                  <a:pt x="326" y="27"/>
                  <a:pt x="340" y="20"/>
                  <a:pt x="354" y="15"/>
                </a:cubicBezTo>
                <a:cubicBezTo>
                  <a:pt x="368" y="10"/>
                  <a:pt x="382" y="6"/>
                  <a:pt x="397" y="4"/>
                </a:cubicBezTo>
                <a:cubicBezTo>
                  <a:pt x="411" y="1"/>
                  <a:pt x="425" y="0"/>
                  <a:pt x="440" y="0"/>
                </a:cubicBezTo>
                <a:lnTo>
                  <a:pt x="443" y="0"/>
                </a:lnTo>
                <a:cubicBezTo>
                  <a:pt x="457" y="0"/>
                  <a:pt x="472" y="1"/>
                  <a:pt x="486" y="4"/>
                </a:cubicBezTo>
                <a:cubicBezTo>
                  <a:pt x="500" y="6"/>
                  <a:pt x="515" y="10"/>
                  <a:pt x="529" y="15"/>
                </a:cubicBezTo>
                <a:cubicBezTo>
                  <a:pt x="543" y="20"/>
                  <a:pt x="557" y="27"/>
                  <a:pt x="571" y="35"/>
                </a:cubicBezTo>
                <a:cubicBezTo>
                  <a:pt x="584" y="42"/>
                  <a:pt x="598" y="51"/>
                  <a:pt x="611" y="61"/>
                </a:cubicBezTo>
                <a:cubicBezTo>
                  <a:pt x="624" y="72"/>
                  <a:pt x="637" y="83"/>
                  <a:pt x="650" y="96"/>
                </a:cubicBezTo>
                <a:cubicBezTo>
                  <a:pt x="663" y="108"/>
                  <a:pt x="675" y="122"/>
                  <a:pt x="687" y="137"/>
                </a:cubicBezTo>
                <a:cubicBezTo>
                  <a:pt x="700" y="151"/>
                  <a:pt x="712" y="167"/>
                  <a:pt x="723" y="184"/>
                </a:cubicBezTo>
                <a:cubicBezTo>
                  <a:pt x="734" y="201"/>
                  <a:pt x="745" y="220"/>
                  <a:pt x="755" y="239"/>
                </a:cubicBezTo>
                <a:cubicBezTo>
                  <a:pt x="765" y="257"/>
                  <a:pt x="775" y="277"/>
                  <a:pt x="784" y="298"/>
                </a:cubicBezTo>
                <a:cubicBezTo>
                  <a:pt x="793" y="318"/>
                  <a:pt x="801" y="340"/>
                  <a:pt x="809" y="362"/>
                </a:cubicBezTo>
                <a:cubicBezTo>
                  <a:pt x="817" y="384"/>
                  <a:pt x="825" y="407"/>
                  <a:pt x="832" y="430"/>
                </a:cubicBezTo>
                <a:cubicBezTo>
                  <a:pt x="838" y="454"/>
                  <a:pt x="844" y="478"/>
                  <a:pt x="850" y="502"/>
                </a:cubicBezTo>
                <a:cubicBezTo>
                  <a:pt x="856" y="527"/>
                  <a:pt x="860" y="552"/>
                  <a:pt x="865" y="577"/>
                </a:cubicBezTo>
                <a:cubicBezTo>
                  <a:pt x="869" y="603"/>
                  <a:pt x="872" y="628"/>
                  <a:pt x="875" y="655"/>
                </a:cubicBezTo>
                <a:cubicBezTo>
                  <a:pt x="878" y="681"/>
                  <a:pt x="880" y="707"/>
                  <a:pt x="881" y="733"/>
                </a:cubicBezTo>
                <a:cubicBezTo>
                  <a:pt x="883" y="760"/>
                  <a:pt x="883" y="786"/>
                  <a:pt x="883" y="813"/>
                </a:cubicBezTo>
                <a:cubicBezTo>
                  <a:pt x="883" y="840"/>
                  <a:pt x="883" y="866"/>
                  <a:pt x="881" y="893"/>
                </a:cubicBezTo>
                <a:cubicBezTo>
                  <a:pt x="880" y="919"/>
                  <a:pt x="878" y="945"/>
                  <a:pt x="875" y="972"/>
                </a:cubicBezTo>
                <a:cubicBezTo>
                  <a:pt x="872" y="998"/>
                  <a:pt x="869" y="1023"/>
                  <a:pt x="865" y="1049"/>
                </a:cubicBezTo>
                <a:cubicBezTo>
                  <a:pt x="860" y="1074"/>
                  <a:pt x="856" y="1099"/>
                  <a:pt x="850" y="1124"/>
                </a:cubicBezTo>
                <a:cubicBezTo>
                  <a:pt x="844" y="1149"/>
                  <a:pt x="838" y="1173"/>
                  <a:pt x="832" y="1196"/>
                </a:cubicBezTo>
                <a:cubicBezTo>
                  <a:pt x="825" y="1220"/>
                  <a:pt x="817" y="1242"/>
                  <a:pt x="809" y="1264"/>
                </a:cubicBezTo>
                <a:cubicBezTo>
                  <a:pt x="801" y="1287"/>
                  <a:pt x="793" y="1308"/>
                  <a:pt x="784" y="1328"/>
                </a:cubicBezTo>
                <a:cubicBezTo>
                  <a:pt x="775" y="1349"/>
                  <a:pt x="765" y="1369"/>
                  <a:pt x="755" y="1388"/>
                </a:cubicBezTo>
                <a:cubicBezTo>
                  <a:pt x="745" y="1406"/>
                  <a:pt x="734" y="1424"/>
                  <a:pt x="723" y="1441"/>
                </a:cubicBezTo>
                <a:cubicBezTo>
                  <a:pt x="712" y="1458"/>
                  <a:pt x="700" y="1474"/>
                  <a:pt x="687" y="1489"/>
                </a:cubicBezTo>
                <a:cubicBezTo>
                  <a:pt x="675" y="1503"/>
                  <a:pt x="663" y="1517"/>
                  <a:pt x="650" y="1530"/>
                </a:cubicBezTo>
                <a:cubicBezTo>
                  <a:pt x="637" y="1542"/>
                  <a:pt x="624" y="1553"/>
                  <a:pt x="611" y="1564"/>
                </a:cubicBezTo>
                <a:cubicBezTo>
                  <a:pt x="598" y="1574"/>
                  <a:pt x="584" y="1583"/>
                  <a:pt x="571" y="1591"/>
                </a:cubicBezTo>
                <a:cubicBezTo>
                  <a:pt x="557" y="1598"/>
                  <a:pt x="543" y="1605"/>
                  <a:pt x="529" y="1610"/>
                </a:cubicBezTo>
                <a:cubicBezTo>
                  <a:pt x="515" y="1615"/>
                  <a:pt x="500" y="1619"/>
                  <a:pt x="486" y="1622"/>
                </a:cubicBezTo>
                <a:cubicBezTo>
                  <a:pt x="472" y="1624"/>
                  <a:pt x="457" y="1626"/>
                  <a:pt x="443" y="1626"/>
                </a:cubicBezTo>
                <a:lnTo>
                  <a:pt x="440" y="1626"/>
                </a:lnTo>
                <a:cubicBezTo>
                  <a:pt x="425" y="1626"/>
                  <a:pt x="411" y="1624"/>
                  <a:pt x="397" y="1622"/>
                </a:cubicBezTo>
                <a:cubicBezTo>
                  <a:pt x="382" y="1619"/>
                  <a:pt x="368" y="1615"/>
                  <a:pt x="354" y="1610"/>
                </a:cubicBezTo>
                <a:cubicBezTo>
                  <a:pt x="340" y="1605"/>
                  <a:pt x="326" y="1598"/>
                  <a:pt x="312" y="1591"/>
                </a:cubicBezTo>
                <a:cubicBezTo>
                  <a:pt x="298" y="1583"/>
                  <a:pt x="285" y="1574"/>
                  <a:pt x="272" y="1564"/>
                </a:cubicBezTo>
                <a:cubicBezTo>
                  <a:pt x="258" y="1553"/>
                  <a:pt x="245" y="1542"/>
                  <a:pt x="233" y="1530"/>
                </a:cubicBezTo>
                <a:cubicBezTo>
                  <a:pt x="220" y="1517"/>
                  <a:pt x="208" y="1503"/>
                  <a:pt x="196" y="1489"/>
                </a:cubicBezTo>
                <a:cubicBezTo>
                  <a:pt x="184" y="1474"/>
                  <a:pt x="172" y="1458"/>
                  <a:pt x="161" y="1441"/>
                </a:cubicBezTo>
                <a:cubicBezTo>
                  <a:pt x="150" y="1424"/>
                  <a:pt x="139" y="1406"/>
                  <a:pt x="129" y="1388"/>
                </a:cubicBezTo>
                <a:cubicBezTo>
                  <a:pt x="119" y="1369"/>
                  <a:pt x="109" y="1349"/>
                  <a:pt x="100" y="1328"/>
                </a:cubicBezTo>
                <a:cubicBezTo>
                  <a:pt x="91" y="1308"/>
                  <a:pt x="82" y="1287"/>
                  <a:pt x="74" y="1264"/>
                </a:cubicBezTo>
                <a:cubicBezTo>
                  <a:pt x="66" y="1242"/>
                  <a:pt x="59" y="1220"/>
                  <a:pt x="52" y="1196"/>
                </a:cubicBezTo>
                <a:cubicBezTo>
                  <a:pt x="45" y="1173"/>
                  <a:pt x="39" y="1149"/>
                  <a:pt x="34" y="1124"/>
                </a:cubicBezTo>
                <a:cubicBezTo>
                  <a:pt x="28" y="1099"/>
                  <a:pt x="23" y="1074"/>
                  <a:pt x="19" y="1049"/>
                </a:cubicBezTo>
                <a:cubicBezTo>
                  <a:pt x="15" y="1023"/>
                  <a:pt x="12" y="998"/>
                  <a:pt x="9" y="972"/>
                </a:cubicBezTo>
                <a:cubicBezTo>
                  <a:pt x="6" y="945"/>
                  <a:pt x="4" y="919"/>
                  <a:pt x="2" y="893"/>
                </a:cubicBezTo>
                <a:cubicBezTo>
                  <a:pt x="1" y="866"/>
                  <a:pt x="0" y="840"/>
                  <a:pt x="0" y="813"/>
                </a:cubicBezTo>
                <a:close/>
              </a:path>
            </a:pathLst>
          </a:custGeom>
          <a:solidFill>
            <a:srgbClr val="FF69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66" name="Picture 1665"/>
          <p:cNvPicPr/>
          <p:nvPr/>
        </p:nvPicPr>
        <p:blipFill>
          <a:blip r:embed="rId7"/>
          <a:stretch/>
        </p:blipFill>
        <p:spPr>
          <a:xfrm>
            <a:off x="601560" y="3309120"/>
            <a:ext cx="19188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7" name="TextBox 1666"/>
          <p:cNvSpPr txBox="1"/>
          <p:nvPr/>
        </p:nvSpPr>
        <p:spPr>
          <a:xfrm>
            <a:off x="6101280" y="2424600"/>
            <a:ext cx="1121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meeting targets.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TextBox 1667"/>
          <p:cNvSpPr txBox="1"/>
          <p:nvPr/>
        </p:nvSpPr>
        <p:spPr>
          <a:xfrm>
            <a:off x="1026720" y="3162600"/>
            <a:ext cx="2093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Independent Learning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TextBox 1668"/>
          <p:cNvSpPr txBox="1"/>
          <p:nvPr/>
        </p:nvSpPr>
        <p:spPr>
          <a:xfrm>
            <a:off x="1026720" y="3461040"/>
            <a:ext cx="3739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Built conﬁdence in picking up new skills and knowledge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Freeform 1669"/>
          <p:cNvSpPr/>
          <p:nvPr/>
        </p:nvSpPr>
        <p:spPr>
          <a:xfrm>
            <a:off x="5469120" y="2974680"/>
            <a:ext cx="4893480" cy="1237320"/>
          </a:xfrm>
          <a:custGeom>
            <a:avLst/>
            <a:gdLst/>
            <a:ahLst/>
            <a:cxnLst/>
            <a:rect l="0" t="0" r="r" b="b"/>
            <a:pathLst>
              <a:path w="13593" h="3437">
                <a:moveTo>
                  <a:pt x="0" y="325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7" y="126"/>
                  <a:pt x="10" y="115"/>
                </a:cubicBezTo>
                <a:cubicBezTo>
                  <a:pt x="13" y="104"/>
                  <a:pt x="17" y="93"/>
                  <a:pt x="22" y="83"/>
                </a:cubicBezTo>
                <a:cubicBezTo>
                  <a:pt x="27" y="73"/>
                  <a:pt x="32" y="63"/>
                  <a:pt x="38" y="55"/>
                </a:cubicBezTo>
                <a:cubicBezTo>
                  <a:pt x="44" y="46"/>
                  <a:pt x="50" y="38"/>
                  <a:pt x="57" y="32"/>
                </a:cubicBezTo>
                <a:cubicBezTo>
                  <a:pt x="64" y="25"/>
                  <a:pt x="72" y="19"/>
                  <a:pt x="79" y="14"/>
                </a:cubicBezTo>
                <a:cubicBezTo>
                  <a:pt x="87" y="10"/>
                  <a:pt x="95" y="6"/>
                  <a:pt x="103" y="4"/>
                </a:cubicBezTo>
                <a:cubicBezTo>
                  <a:pt x="111" y="2"/>
                  <a:pt x="120" y="0"/>
                  <a:pt x="128" y="0"/>
                </a:cubicBezTo>
                <a:lnTo>
                  <a:pt x="13407" y="0"/>
                </a:lnTo>
                <a:cubicBezTo>
                  <a:pt x="13419" y="0"/>
                  <a:pt x="13431" y="2"/>
                  <a:pt x="13443" y="4"/>
                </a:cubicBezTo>
                <a:cubicBezTo>
                  <a:pt x="13455" y="6"/>
                  <a:pt x="13467" y="10"/>
                  <a:pt x="13478" y="14"/>
                </a:cubicBezTo>
                <a:cubicBezTo>
                  <a:pt x="13489" y="19"/>
                  <a:pt x="13500" y="25"/>
                  <a:pt x="13510" y="32"/>
                </a:cubicBezTo>
                <a:cubicBezTo>
                  <a:pt x="13520" y="38"/>
                  <a:pt x="13530" y="46"/>
                  <a:pt x="13538" y="55"/>
                </a:cubicBezTo>
                <a:cubicBezTo>
                  <a:pt x="13547" y="63"/>
                  <a:pt x="13555" y="73"/>
                  <a:pt x="13561" y="83"/>
                </a:cubicBezTo>
                <a:cubicBezTo>
                  <a:pt x="13568" y="93"/>
                  <a:pt x="13574" y="104"/>
                  <a:pt x="13579" y="115"/>
                </a:cubicBezTo>
                <a:cubicBezTo>
                  <a:pt x="13583" y="126"/>
                  <a:pt x="13587" y="138"/>
                  <a:pt x="13589" y="150"/>
                </a:cubicBezTo>
                <a:cubicBezTo>
                  <a:pt x="13591" y="162"/>
                  <a:pt x="13593" y="174"/>
                  <a:pt x="13593" y="186"/>
                </a:cubicBezTo>
                <a:lnTo>
                  <a:pt x="13593" y="3251"/>
                </a:lnTo>
                <a:cubicBezTo>
                  <a:pt x="13593" y="3263"/>
                  <a:pt x="13591" y="3275"/>
                  <a:pt x="13589" y="3287"/>
                </a:cubicBezTo>
                <a:cubicBezTo>
                  <a:pt x="13587" y="3299"/>
                  <a:pt x="13583" y="3311"/>
                  <a:pt x="13579" y="3322"/>
                </a:cubicBezTo>
                <a:cubicBezTo>
                  <a:pt x="13574" y="3334"/>
                  <a:pt x="13568" y="3344"/>
                  <a:pt x="13561" y="3354"/>
                </a:cubicBezTo>
                <a:cubicBezTo>
                  <a:pt x="13555" y="3364"/>
                  <a:pt x="13547" y="3374"/>
                  <a:pt x="13538" y="3382"/>
                </a:cubicBezTo>
                <a:cubicBezTo>
                  <a:pt x="13530" y="3391"/>
                  <a:pt x="13520" y="3399"/>
                  <a:pt x="13510" y="3406"/>
                </a:cubicBezTo>
                <a:cubicBezTo>
                  <a:pt x="13500" y="3412"/>
                  <a:pt x="13489" y="3418"/>
                  <a:pt x="13478" y="3423"/>
                </a:cubicBezTo>
                <a:cubicBezTo>
                  <a:pt x="13467" y="3427"/>
                  <a:pt x="13455" y="3431"/>
                  <a:pt x="13443" y="3433"/>
                </a:cubicBezTo>
                <a:cubicBezTo>
                  <a:pt x="13431" y="3436"/>
                  <a:pt x="13419" y="3437"/>
                  <a:pt x="13407" y="3437"/>
                </a:cubicBezTo>
                <a:lnTo>
                  <a:pt x="128" y="3437"/>
                </a:lnTo>
                <a:cubicBezTo>
                  <a:pt x="120" y="3437"/>
                  <a:pt x="111" y="3436"/>
                  <a:pt x="103" y="3433"/>
                </a:cubicBezTo>
                <a:cubicBezTo>
                  <a:pt x="95" y="3431"/>
                  <a:pt x="87" y="3427"/>
                  <a:pt x="79" y="3423"/>
                </a:cubicBezTo>
                <a:cubicBezTo>
                  <a:pt x="72" y="3418"/>
                  <a:pt x="64" y="3412"/>
                  <a:pt x="57" y="3406"/>
                </a:cubicBezTo>
                <a:cubicBezTo>
                  <a:pt x="50" y="3399"/>
                  <a:pt x="44" y="3391"/>
                  <a:pt x="38" y="3382"/>
                </a:cubicBezTo>
                <a:cubicBezTo>
                  <a:pt x="32" y="3374"/>
                  <a:pt x="27" y="3364"/>
                  <a:pt x="22" y="3354"/>
                </a:cubicBezTo>
                <a:cubicBezTo>
                  <a:pt x="17" y="3344"/>
                  <a:pt x="13" y="3334"/>
                  <a:pt x="10" y="3322"/>
                </a:cubicBezTo>
                <a:cubicBezTo>
                  <a:pt x="7" y="3311"/>
                  <a:pt x="5" y="3299"/>
                  <a:pt x="3" y="3287"/>
                </a:cubicBezTo>
                <a:cubicBezTo>
                  <a:pt x="1" y="3275"/>
                  <a:pt x="0" y="3263"/>
                  <a:pt x="0" y="3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Freeform 1670"/>
          <p:cNvSpPr/>
          <p:nvPr/>
        </p:nvSpPr>
        <p:spPr>
          <a:xfrm>
            <a:off x="5448240" y="2974680"/>
            <a:ext cx="67320" cy="1237320"/>
          </a:xfrm>
          <a:custGeom>
            <a:avLst/>
            <a:gdLst/>
            <a:ahLst/>
            <a:cxnLst/>
            <a:rect l="0" t="0" r="r" b="b"/>
            <a:pathLst>
              <a:path w="187" h="3437">
                <a:moveTo>
                  <a:pt x="0" y="0"/>
                </a:moveTo>
                <a:lnTo>
                  <a:pt x="187" y="0"/>
                </a:lnTo>
                <a:lnTo>
                  <a:pt x="187" y="3437"/>
                </a:lnTo>
                <a:lnTo>
                  <a:pt x="0" y="343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Freeform 1671"/>
          <p:cNvSpPr/>
          <p:nvPr/>
        </p:nvSpPr>
        <p:spPr>
          <a:xfrm>
            <a:off x="5657400" y="3142080"/>
            <a:ext cx="284400" cy="585360"/>
          </a:xfrm>
          <a:custGeom>
            <a:avLst/>
            <a:gdLst/>
            <a:ahLst/>
            <a:cxnLst/>
            <a:rect l="0" t="0" r="r" b="b"/>
            <a:pathLst>
              <a:path w="790" h="1626">
                <a:moveTo>
                  <a:pt x="0" y="813"/>
                </a:moveTo>
                <a:cubicBezTo>
                  <a:pt x="0" y="786"/>
                  <a:pt x="0" y="760"/>
                  <a:pt x="2" y="733"/>
                </a:cubicBezTo>
                <a:cubicBezTo>
                  <a:pt x="3" y="707"/>
                  <a:pt x="5" y="681"/>
                  <a:pt x="7" y="655"/>
                </a:cubicBezTo>
                <a:cubicBezTo>
                  <a:pt x="10" y="628"/>
                  <a:pt x="13" y="603"/>
                  <a:pt x="17" y="577"/>
                </a:cubicBezTo>
                <a:cubicBezTo>
                  <a:pt x="20" y="552"/>
                  <a:pt x="25" y="527"/>
                  <a:pt x="29" y="502"/>
                </a:cubicBezTo>
                <a:cubicBezTo>
                  <a:pt x="34" y="478"/>
                  <a:pt x="40" y="454"/>
                  <a:pt x="46" y="430"/>
                </a:cubicBezTo>
                <a:cubicBezTo>
                  <a:pt x="52" y="407"/>
                  <a:pt x="58" y="384"/>
                  <a:pt x="66" y="362"/>
                </a:cubicBezTo>
                <a:cubicBezTo>
                  <a:pt x="73" y="340"/>
                  <a:pt x="80" y="318"/>
                  <a:pt x="88" y="298"/>
                </a:cubicBezTo>
                <a:cubicBezTo>
                  <a:pt x="96" y="277"/>
                  <a:pt x="105" y="257"/>
                  <a:pt x="114" y="239"/>
                </a:cubicBezTo>
                <a:cubicBezTo>
                  <a:pt x="123" y="220"/>
                  <a:pt x="133" y="201"/>
                  <a:pt x="142" y="184"/>
                </a:cubicBezTo>
                <a:cubicBezTo>
                  <a:pt x="152" y="167"/>
                  <a:pt x="163" y="151"/>
                  <a:pt x="173" y="137"/>
                </a:cubicBezTo>
                <a:cubicBezTo>
                  <a:pt x="184" y="122"/>
                  <a:pt x="195" y="108"/>
                  <a:pt x="206" y="96"/>
                </a:cubicBezTo>
                <a:cubicBezTo>
                  <a:pt x="217" y="83"/>
                  <a:pt x="229" y="72"/>
                  <a:pt x="241" y="61"/>
                </a:cubicBezTo>
                <a:cubicBezTo>
                  <a:pt x="253" y="51"/>
                  <a:pt x="265" y="42"/>
                  <a:pt x="277" y="35"/>
                </a:cubicBezTo>
                <a:cubicBezTo>
                  <a:pt x="289" y="27"/>
                  <a:pt x="301" y="20"/>
                  <a:pt x="314" y="15"/>
                </a:cubicBezTo>
                <a:cubicBezTo>
                  <a:pt x="327" y="10"/>
                  <a:pt x="339" y="6"/>
                  <a:pt x="352" y="4"/>
                </a:cubicBezTo>
                <a:cubicBezTo>
                  <a:pt x="365" y="1"/>
                  <a:pt x="377" y="0"/>
                  <a:pt x="390" y="0"/>
                </a:cubicBezTo>
                <a:lnTo>
                  <a:pt x="399" y="0"/>
                </a:lnTo>
                <a:cubicBezTo>
                  <a:pt x="411" y="0"/>
                  <a:pt x="424" y="1"/>
                  <a:pt x="437" y="4"/>
                </a:cubicBezTo>
                <a:cubicBezTo>
                  <a:pt x="450" y="6"/>
                  <a:pt x="463" y="10"/>
                  <a:pt x="476" y="15"/>
                </a:cubicBezTo>
                <a:cubicBezTo>
                  <a:pt x="488" y="20"/>
                  <a:pt x="501" y="27"/>
                  <a:pt x="513" y="35"/>
                </a:cubicBezTo>
                <a:cubicBezTo>
                  <a:pt x="525" y="42"/>
                  <a:pt x="537" y="51"/>
                  <a:pt x="549" y="61"/>
                </a:cubicBezTo>
                <a:cubicBezTo>
                  <a:pt x="561" y="72"/>
                  <a:pt x="572" y="83"/>
                  <a:pt x="584" y="96"/>
                </a:cubicBezTo>
                <a:cubicBezTo>
                  <a:pt x="595" y="108"/>
                  <a:pt x="606" y="122"/>
                  <a:pt x="616" y="137"/>
                </a:cubicBezTo>
                <a:cubicBezTo>
                  <a:pt x="627" y="151"/>
                  <a:pt x="637" y="167"/>
                  <a:pt x="647" y="184"/>
                </a:cubicBezTo>
                <a:cubicBezTo>
                  <a:pt x="657" y="201"/>
                  <a:pt x="667" y="220"/>
                  <a:pt x="676" y="239"/>
                </a:cubicBezTo>
                <a:cubicBezTo>
                  <a:pt x="685" y="257"/>
                  <a:pt x="693" y="277"/>
                  <a:pt x="701" y="298"/>
                </a:cubicBezTo>
                <a:cubicBezTo>
                  <a:pt x="709" y="318"/>
                  <a:pt x="717" y="340"/>
                  <a:pt x="724" y="362"/>
                </a:cubicBezTo>
                <a:cubicBezTo>
                  <a:pt x="731" y="384"/>
                  <a:pt x="738" y="407"/>
                  <a:pt x="744" y="430"/>
                </a:cubicBezTo>
                <a:cubicBezTo>
                  <a:pt x="750" y="454"/>
                  <a:pt x="755" y="478"/>
                  <a:pt x="760" y="502"/>
                </a:cubicBezTo>
                <a:cubicBezTo>
                  <a:pt x="765" y="527"/>
                  <a:pt x="769" y="552"/>
                  <a:pt x="773" y="577"/>
                </a:cubicBezTo>
                <a:cubicBezTo>
                  <a:pt x="777" y="603"/>
                  <a:pt x="780" y="628"/>
                  <a:pt x="782" y="655"/>
                </a:cubicBezTo>
                <a:cubicBezTo>
                  <a:pt x="785" y="681"/>
                  <a:pt x="787" y="707"/>
                  <a:pt x="788" y="733"/>
                </a:cubicBezTo>
                <a:cubicBezTo>
                  <a:pt x="789" y="760"/>
                  <a:pt x="790" y="786"/>
                  <a:pt x="790" y="813"/>
                </a:cubicBezTo>
                <a:cubicBezTo>
                  <a:pt x="790" y="840"/>
                  <a:pt x="789" y="866"/>
                  <a:pt x="788" y="893"/>
                </a:cubicBezTo>
                <a:cubicBezTo>
                  <a:pt x="787" y="919"/>
                  <a:pt x="785" y="945"/>
                  <a:pt x="782" y="972"/>
                </a:cubicBezTo>
                <a:cubicBezTo>
                  <a:pt x="780" y="998"/>
                  <a:pt x="777" y="1023"/>
                  <a:pt x="773" y="1049"/>
                </a:cubicBezTo>
                <a:cubicBezTo>
                  <a:pt x="769" y="1074"/>
                  <a:pt x="765" y="1099"/>
                  <a:pt x="760" y="1124"/>
                </a:cubicBezTo>
                <a:cubicBezTo>
                  <a:pt x="755" y="1149"/>
                  <a:pt x="750" y="1173"/>
                  <a:pt x="744" y="1196"/>
                </a:cubicBezTo>
                <a:cubicBezTo>
                  <a:pt x="738" y="1220"/>
                  <a:pt x="731" y="1242"/>
                  <a:pt x="724" y="1264"/>
                </a:cubicBezTo>
                <a:cubicBezTo>
                  <a:pt x="717" y="1287"/>
                  <a:pt x="709" y="1308"/>
                  <a:pt x="701" y="1328"/>
                </a:cubicBezTo>
                <a:cubicBezTo>
                  <a:pt x="693" y="1349"/>
                  <a:pt x="685" y="1369"/>
                  <a:pt x="676" y="1388"/>
                </a:cubicBezTo>
                <a:cubicBezTo>
                  <a:pt x="667" y="1406"/>
                  <a:pt x="657" y="1424"/>
                  <a:pt x="647" y="1441"/>
                </a:cubicBezTo>
                <a:cubicBezTo>
                  <a:pt x="637" y="1458"/>
                  <a:pt x="627" y="1474"/>
                  <a:pt x="616" y="1489"/>
                </a:cubicBezTo>
                <a:cubicBezTo>
                  <a:pt x="606" y="1503"/>
                  <a:pt x="595" y="1517"/>
                  <a:pt x="584" y="1530"/>
                </a:cubicBezTo>
                <a:cubicBezTo>
                  <a:pt x="572" y="1542"/>
                  <a:pt x="561" y="1553"/>
                  <a:pt x="549" y="1564"/>
                </a:cubicBezTo>
                <a:cubicBezTo>
                  <a:pt x="537" y="1574"/>
                  <a:pt x="525" y="1583"/>
                  <a:pt x="513" y="1591"/>
                </a:cubicBezTo>
                <a:cubicBezTo>
                  <a:pt x="501" y="1598"/>
                  <a:pt x="488" y="1605"/>
                  <a:pt x="476" y="1610"/>
                </a:cubicBezTo>
                <a:cubicBezTo>
                  <a:pt x="463" y="1615"/>
                  <a:pt x="450" y="1619"/>
                  <a:pt x="437" y="1622"/>
                </a:cubicBezTo>
                <a:cubicBezTo>
                  <a:pt x="424" y="1624"/>
                  <a:pt x="411" y="1626"/>
                  <a:pt x="399" y="1626"/>
                </a:cubicBezTo>
                <a:lnTo>
                  <a:pt x="390" y="1626"/>
                </a:lnTo>
                <a:cubicBezTo>
                  <a:pt x="377" y="1626"/>
                  <a:pt x="365" y="1624"/>
                  <a:pt x="352" y="1622"/>
                </a:cubicBezTo>
                <a:cubicBezTo>
                  <a:pt x="339" y="1619"/>
                  <a:pt x="327" y="1615"/>
                  <a:pt x="314" y="1610"/>
                </a:cubicBezTo>
                <a:cubicBezTo>
                  <a:pt x="301" y="1605"/>
                  <a:pt x="289" y="1598"/>
                  <a:pt x="277" y="1591"/>
                </a:cubicBezTo>
                <a:cubicBezTo>
                  <a:pt x="265" y="1583"/>
                  <a:pt x="253" y="1574"/>
                  <a:pt x="241" y="1564"/>
                </a:cubicBezTo>
                <a:cubicBezTo>
                  <a:pt x="229" y="1553"/>
                  <a:pt x="217" y="1542"/>
                  <a:pt x="206" y="1530"/>
                </a:cubicBezTo>
                <a:cubicBezTo>
                  <a:pt x="195" y="1517"/>
                  <a:pt x="184" y="1503"/>
                  <a:pt x="173" y="1489"/>
                </a:cubicBezTo>
                <a:cubicBezTo>
                  <a:pt x="163" y="1474"/>
                  <a:pt x="152" y="1458"/>
                  <a:pt x="142" y="1441"/>
                </a:cubicBezTo>
                <a:cubicBezTo>
                  <a:pt x="133" y="1424"/>
                  <a:pt x="123" y="1406"/>
                  <a:pt x="114" y="1388"/>
                </a:cubicBezTo>
                <a:cubicBezTo>
                  <a:pt x="105" y="1369"/>
                  <a:pt x="96" y="1349"/>
                  <a:pt x="88" y="1328"/>
                </a:cubicBezTo>
                <a:cubicBezTo>
                  <a:pt x="80" y="1308"/>
                  <a:pt x="73" y="1287"/>
                  <a:pt x="66" y="1264"/>
                </a:cubicBezTo>
                <a:cubicBezTo>
                  <a:pt x="58" y="1242"/>
                  <a:pt x="52" y="1220"/>
                  <a:pt x="46" y="1196"/>
                </a:cubicBezTo>
                <a:cubicBezTo>
                  <a:pt x="40" y="1173"/>
                  <a:pt x="34" y="1149"/>
                  <a:pt x="29" y="1124"/>
                </a:cubicBezTo>
                <a:cubicBezTo>
                  <a:pt x="25" y="1099"/>
                  <a:pt x="20" y="1074"/>
                  <a:pt x="17" y="1049"/>
                </a:cubicBezTo>
                <a:cubicBezTo>
                  <a:pt x="13" y="1023"/>
                  <a:pt x="10" y="998"/>
                  <a:pt x="7" y="972"/>
                </a:cubicBezTo>
                <a:cubicBezTo>
                  <a:pt x="5" y="945"/>
                  <a:pt x="3" y="919"/>
                  <a:pt x="2" y="893"/>
                </a:cubicBezTo>
                <a:cubicBezTo>
                  <a:pt x="0" y="866"/>
                  <a:pt x="0" y="840"/>
                  <a:pt x="0" y="813"/>
                </a:cubicBezTo>
                <a:close/>
              </a:path>
            </a:pathLst>
          </a:custGeom>
          <a:solidFill>
            <a:srgbClr val="7C3A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73" name="Picture 1672"/>
          <p:cNvPicPr/>
          <p:nvPr/>
        </p:nvPicPr>
        <p:blipFill>
          <a:blip r:embed="rId8"/>
          <a:stretch/>
        </p:blipFill>
        <p:spPr>
          <a:xfrm>
            <a:off x="5674320" y="330912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4" name="TextBox 1673"/>
          <p:cNvSpPr txBox="1"/>
          <p:nvPr/>
        </p:nvSpPr>
        <p:spPr>
          <a:xfrm>
            <a:off x="1026720" y="3661560"/>
            <a:ext cx="3761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independently. Developed intuition for problem-solving.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TextBox 1674"/>
          <p:cNvSpPr txBox="1"/>
          <p:nvPr/>
        </p:nvSpPr>
        <p:spPr>
          <a:xfrm>
            <a:off x="6105600" y="3162600"/>
            <a:ext cx="15559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Resourcefulness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TextBox 1675"/>
          <p:cNvSpPr txBox="1"/>
          <p:nvPr/>
        </p:nvSpPr>
        <p:spPr>
          <a:xfrm>
            <a:off x="6105600" y="3461040"/>
            <a:ext cx="3810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Learned to adapt and ﬁnd creative solutions with limited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TextBox 1676"/>
          <p:cNvSpPr txBox="1"/>
          <p:nvPr/>
        </p:nvSpPr>
        <p:spPr>
          <a:xfrm>
            <a:off x="6105600" y="3661560"/>
            <a:ext cx="3894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guidance. Collaborated eﬀectively with more experienced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TextBox 1677"/>
          <p:cNvSpPr txBox="1"/>
          <p:nvPr/>
        </p:nvSpPr>
        <p:spPr>
          <a:xfrm>
            <a:off x="6105600" y="3862080"/>
            <a:ext cx="134171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dirty="0">
                <a:solidFill>
                  <a:srgbClr val="374151"/>
                </a:solidFill>
                <a:latin typeface="DejaVuSans"/>
                <a:ea typeface="DejaVuSans"/>
              </a:rPr>
              <a:t>scientists and engineers</a:t>
            </a:r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TextBox 1678"/>
          <p:cNvSpPr txBox="1"/>
          <p:nvPr/>
        </p:nvSpPr>
        <p:spPr>
          <a:xfrm>
            <a:off x="4635000" y="4700160"/>
            <a:ext cx="14731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1F2937"/>
                </a:solidFill>
                <a:effectLst/>
                <a:uFillTx/>
                <a:latin typeface="DejaVuSans"/>
                <a:ea typeface="DejaVuSans"/>
              </a:rPr>
              <a:t>Final Reﬂection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TextBox 1679"/>
          <p:cNvSpPr txBox="1"/>
          <p:nvPr/>
        </p:nvSpPr>
        <p:spPr>
          <a:xfrm>
            <a:off x="677520" y="4998600"/>
            <a:ext cx="725038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This journey has transformed my approach to research and problem-solving. I'm grateful for the opportunity to bridge theoretical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TextBox 1680"/>
          <p:cNvSpPr txBox="1"/>
          <p:nvPr/>
        </p:nvSpPr>
        <p:spPr>
          <a:xfrm>
            <a:off x="3495960" y="5199120"/>
            <a:ext cx="3760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DejaVuSans"/>
                <a:ea typeface="DejaVuSans"/>
              </a:rPr>
              <a:t>physics with cutting-edge machine learning techniques.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TextBox 1681"/>
          <p:cNvSpPr txBox="1"/>
          <p:nvPr/>
        </p:nvSpPr>
        <p:spPr>
          <a:xfrm>
            <a:off x="8451542" y="5642282"/>
            <a:ext cx="1168574" cy="24622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600" b="1" u="none" strike="noStrike" dirty="0">
                <a:solidFill>
                  <a:srgbClr val="4B5563"/>
                </a:solidFill>
                <a:effectLst/>
                <a:uFillTx/>
                <a:latin typeface="DejaVuSans"/>
                <a:ea typeface="DejaVuSans"/>
              </a:rPr>
              <a:t>Thank you!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TextBox 1682"/>
          <p:cNvSpPr txBox="1"/>
          <p:nvPr/>
        </p:nvSpPr>
        <p:spPr>
          <a:xfrm>
            <a:off x="200520" y="57006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DejaVuSans"/>
                <a:ea typeface="DejaVuSans"/>
              </a:rPr>
              <a:t>21 /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2083</Words>
  <Application>Microsoft Macintosh PowerPoint</Application>
  <PresentationFormat>Custom</PresentationFormat>
  <Paragraphs>426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DejaVu Sans</vt:lpstr>
      <vt:lpstr>DejaVuSans</vt:lpstr>
      <vt:lpstr>DejaVuSerif</vt:lpstr>
      <vt:lpstr>Aptos</vt:lpstr>
      <vt:lpstr>Arial</vt:lpstr>
      <vt:lpstr>Cambria Math</vt:lpstr>
      <vt:lpstr>Courier New</vt:lpstr>
      <vt:lpstr>Symbol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#PRISCILLA TAY TZE YEE#</cp:lastModifiedBy>
  <cp:revision>8</cp:revision>
  <dcterms:modified xsi:type="dcterms:W3CDTF">2026-09-03T06:24:08Z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